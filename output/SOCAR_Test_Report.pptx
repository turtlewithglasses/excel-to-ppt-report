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DC2626"/>
                </a:solidFill>
                <a:latin typeface="Calibri"/>
              </a:rPr>
              <a:t>SOCAR TÜRKİYE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 i="0">
                <a:solidFill>
                  <a:srgbClr val="1F2937"/>
                </a:solidFill>
                <a:latin typeface="Calibri"/>
              </a:rPr>
              <a:t>Aylık Medya Yansıma Raporu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i="0">
                <a:solidFill>
                  <a:srgbClr val="DC2626"/>
                </a:solidFill>
                <a:latin typeface="Calibri"/>
              </a:rPr>
              <a:t>November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6B7280"/>
                </a:solidFill>
                <a:latin typeface="Calibri"/>
              </a:rPr>
              <a:t>Enerji Sektörü - Medya İzleme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1F2937"/>
                </a:solidFill>
                <a:latin typeface="Calibri"/>
              </a:rPr>
              <a:t>Yönetici Özeti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45720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Total Toplam Haber: 1,369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8229600" cy="45720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Average Toplam Haber: 62.2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8229600" cy="45720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Total Erişim: 3,322,540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399"/>
            <a:ext cx="8229600" cy="45720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Average Erişim: 195,443.5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8229600" cy="45720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⭐ Highest Toplam Haber: nan (104)</a:t>
            </a:r>
          </a:p>
        </p:txBody>
      </p:sp>
      <p:pic>
        <p:nvPicPr>
          <p:cNvPr id="9" name="Picture 8" descr="tmpvhhwur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0"/>
            <a:ext cx="8229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Medya Kapsam Analizi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1926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Toplam Haber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 Etki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6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1928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114800"/>
            <a:ext cx="4114800" cy="2103120"/>
          </a:xfrm>
          <a:prstGeom prst="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[PIE Chart]</a:t>
            </a:r>
            <a:br/>
            <a:r>
              <a:t>No data available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4114800"/>
            <a:ext cx="3931920" cy="2103120"/>
          </a:xfrm>
          <a:prstGeom prst="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[PIE Chart]</a:t>
            </a:r>
            <a:br/>
            <a:r>
              <a:t>No data 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Algı Analizi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[STACKED_BAR Chart]</a:t>
            </a:r>
            <a:br/>
            <a:r>
              <a:t>No 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🔄 nan leads nan by 3 (3.0%) in Toplam Haber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⭐ Highest Toplam Haber: nan (104)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Bölgesel Dağılım</a:t>
            </a:r>
          </a:p>
        </p:txBody>
      </p:sp>
      <p:pic>
        <p:nvPicPr>
          <p:cNvPr id="4" name="Picture 3" descr="tmp29rjl5r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2976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213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Bölge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Toplam Haber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13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Medya Türü Analizi</a:t>
            </a:r>
          </a:p>
        </p:txBody>
      </p:sp>
      <p:pic>
        <p:nvPicPr>
          <p:cNvPr id="4" name="Picture 3" descr="tmpihnm738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743200"/>
          </a:xfrm>
          <a:prstGeom prst="rect">
            <a:avLst/>
          </a:prstGeom>
        </p:spPr>
      </p:pic>
      <p:pic>
        <p:nvPicPr>
          <p:cNvPr id="5" name="Picture 4" descr="tmpi4j434y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411480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114800"/>
            <a:ext cx="39319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00">
                <a:latin typeface="Calibri"/>
              </a:defRPr>
            </a:pPr>
            <a:r>
              <a:t>1. Highest Toplam Haber: Radyo (104)</a:t>
            </a:r>
          </a:p>
          <a:p>
            <a:pPr>
              <a:spcAft>
                <a:spcPts val="800"/>
              </a:spcAft>
              <a:defRPr sz="1200">
                <a:latin typeface="Calibri"/>
              </a:defRPr>
            </a:pPr>
            <a:r>
              <a:t>2. Top 3 in Toplam Haber: Radyo, Basın, Sosyal Medya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Etki Özeti</a:t>
            </a:r>
          </a:p>
        </p:txBody>
      </p:sp>
      <p:pic>
        <p:nvPicPr>
          <p:cNvPr id="4" name="Picture 3" descr="tmp6x7__2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560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9319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93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Toplam Haber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 Etki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Kurumsal Haberler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211,645.00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43,304.00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Ortaklıklar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88,455.00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37,853.00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Finansal Sonuçlar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77,712.00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37,300.00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Sosyal Sorumluluk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426,550.00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30,664.00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İnsan Kaynakları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354,631.00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29,011.00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Yatırımlar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153,442.00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27,152.00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Ürün ve Hizmetler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449,560.00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16,334.00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Çevre ve Enerji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176,419.00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5,975.00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939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
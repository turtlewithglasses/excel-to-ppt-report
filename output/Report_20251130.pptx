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 i="0">
                <a:solidFill>
                  <a:srgbClr val="1F2937"/>
                </a:solidFill>
                <a:latin typeface="Calibri"/>
              </a:rPr>
              <a:t>BSH ve Rakipleri Medya Analizi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 i="0">
                <a:solidFill>
                  <a:srgbClr val="2563EB"/>
                </a:solidFill>
                <a:latin typeface="Calibri"/>
              </a:rPr>
              <a:t>November 2025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 i="0">
                <a:solidFill>
                  <a:srgbClr val="6B7280"/>
                </a:solidFill>
                <a:latin typeface="Calibri"/>
              </a:rPr>
              <a:t>Beyaz Eşya Sektörü - Medya Takip Raporu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 i="0">
                <a:solidFill>
                  <a:srgbClr val="9CA3AF"/>
                </a:solidFill>
                <a:latin typeface="Calibri"/>
              </a:rPr>
              <a:t>Rapor Tarihi: 2025-11-30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200" b="1" i="0">
                <a:solidFill>
                  <a:srgbClr val="1F2937"/>
                </a:solidFill>
                <a:latin typeface="Calibri"/>
              </a:rPr>
              <a:t>Yönetici Özeti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8229600" cy="4572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latin typeface="Calibri"/>
              </a:defRPr>
            </a:pPr>
            <a:r>
              <a:t>📊 Total Net Etki: 13,488,948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8229600" cy="4572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latin typeface="Calibri"/>
              </a:defRPr>
            </a:pPr>
            <a:r>
              <a:t>📊 Average Net Etki: 5,722.9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651760"/>
            <a:ext cx="8229600" cy="4572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latin typeface="Calibri"/>
              </a:defRPr>
            </a:pPr>
            <a:r>
              <a:t>📊 Total Erişim: 46,788,592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91839"/>
            <a:ext cx="8229600" cy="4572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latin typeface="Calibri"/>
              </a:defRPr>
            </a:pPr>
            <a:r>
              <a:t>📊 Average Erişim: 19,910.0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931920"/>
            <a:ext cx="8229600" cy="457200"/>
          </a:xfrm>
          <a:prstGeom prst="roundRect">
            <a:avLst/>
          </a:prstGeom>
          <a:solidFill>
            <a:srgbClr val="EFF6FF"/>
          </a:solidFill>
          <a:ln w="25400">
            <a:solidFill>
              <a:srgbClr val="EFF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1300" b="1">
                <a:latin typeface="Calibri"/>
              </a:defRPr>
            </a:pPr>
            <a:r>
              <a:t>⭐ Highest Net Etki: BEKO (428,863)</a:t>
            </a:r>
          </a:p>
        </p:txBody>
      </p:sp>
      <p:pic>
        <p:nvPicPr>
          <p:cNvPr id="9" name="Picture 8" descr="tmpa2sj1hf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74720"/>
            <a:ext cx="8229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Medya Kapsam Analizi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9728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108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Firma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Net Etki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Erişim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Reklam Eşdeğeri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428,863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556,965.00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395,445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556,965.00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6,160.00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317,778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365,262.00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2,825.51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317,778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365,262.00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15,290.91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317,778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365,262.00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2,956.89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274,058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315,009.00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19,991.04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247,583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321,537.00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8,416.00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242,557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315,009.00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13,152.00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236,257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315,009.00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21,680.00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235,273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461,319.00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8,544.00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235,273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461,319.00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6,408.00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228,655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296,955.00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13,872.00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210,838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296,955.00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12,138.00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210,838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296,955.00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1,734.00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207,906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315,009.00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1,094.69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186,284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365,262.00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8,492.00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8,381.71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FAKİR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167,040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23,876.18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166,787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538,023.00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49,645.13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161,688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164,988.00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14,520.00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150,846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150,846.00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12,800.00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8,280.00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8,460.00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29,880.00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MIELE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5,554.15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149,545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226,584.00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847.99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147,829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150,846.00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17,120.00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147,591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32,220.00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9,752.00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147,000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10,494.00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145,621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148,593.00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4,140.00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124,353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38,016.00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117,141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164,988.00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5,016.00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107,857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18,660.11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90,093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90,093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12,672.00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90,093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15,552.00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89,114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556,965.00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17,814.20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89,114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556,965.00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347.43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89,114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556,965.00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7,085.67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87,651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461,319.00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3,229.63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TEFAL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20,570.00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157,842.00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14,456.00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79,380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5,060.00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LG TÜRKİYE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3,425.40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MIELE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69,600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5,220.69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69,600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9,946.42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69,600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13,179.97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MIELE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66,320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66,320.00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64,994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66,320.00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1,992.00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3,999.00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59,297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116,268.00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7,308.00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58,442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365,262.00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3,690.71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MIELE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57,698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66,320.00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2,142.50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DELONGHI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57,698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66,320.00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1,366.00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DELONGHI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57,698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66,320.00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MIELE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56,000.00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69,969.00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54,710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55,827.00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6,210.00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53,049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68,895.00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8,640.00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50,962.20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7,679.23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1,677.66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648.88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5,873.09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1,457.24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538.90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50,745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461,319.00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2,232.12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50,293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68,895.00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518.75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15,997.00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8,440.00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5,267.47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5,267.47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8,440.00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5,267.47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6,756.76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5,167.52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ALTUS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8,440.00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5,367.42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9,058.55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LG TÜRKİYE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5,367.42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9,500.00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MIELE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8,440.00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48,915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68,895.00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7,560.00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47,040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3,038.00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45,240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7,841.21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43,818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75,548.00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8,792.58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43,120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44,000.00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41,870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55,827.00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2,794.50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DELONGHI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41,760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36,964.78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8,656.00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431.00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39,898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45,860.00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4,896.98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38,280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44,000.00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263.93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36,253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226,584.00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1,216.37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36,253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226,584.00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1,223.98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34,000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34,000.00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1,181.00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34,000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34,000.00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5,999.00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33,320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34,000.00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2,004.00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33,280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128,000.00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3,364.46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32,992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12,587.07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32,992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16,693.04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23,996.00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3,608.00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DELONGHI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30,720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389.94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FAKİR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30,720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2,679.36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28,400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691.00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827.00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26,647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181.29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26,100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9,658.45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41,913.86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24,686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64,962.00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67.59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25,764.00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12,188.87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24,293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151,830.00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2,336.66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189.01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24,096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892.62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1,734.09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24,096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1,814.96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1,734.09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23,828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91,648.00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7,225.20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23,775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148,593.00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401.12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23,520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27,900.00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23,098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164,988.00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1,033.30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22,500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518.90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22,279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556,965.00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538.61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DELONGHI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20,880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849.83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12,192.12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20,400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3,132.04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20,303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850.52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3,100.04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19,996.00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39,993.00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23,996.00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19,642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75,548.00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21,498.04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19,642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75,548.00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16,494.66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19,642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75,548.00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28,476.40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19,642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75,548.00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20,235.40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19,642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75,548.00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16,826.18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4,599.00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4,631.83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DELONGHI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197.97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17,400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2,006.67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1,489.76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LG TÜRKİYE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17,243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66,320.00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17,243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66,320.00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16,616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151,056.00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66.69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16,566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313.56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16,296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16,236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16,236.00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3,024.00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15,400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1,566.00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1,785.00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14,560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56,000.00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2,930.95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13,520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4,534.54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43.99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12,989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2,848.00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12,960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878.90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1,039.84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844.87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2,567.76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3,282.70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315,009.00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1,094.14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12,548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12,236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19,422.00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1,125.60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4,497.00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1,474.00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11,760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11,550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11,390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71,188.00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591.53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11,317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102,885.00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45.20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11,317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102,885.00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78.10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11,250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76.58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10,880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68,000.00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1,004.25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10,880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68,000.00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864.77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10,650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10,440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4,407.13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10,440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4,407.13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10,440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4,256.03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10,440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4,256.03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12,456.67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9,900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9,819.00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5,264.00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9,819.00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3,360.00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9,600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117.99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317.95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9,600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317.95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317.95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9,600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317.95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976.38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9,240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2,850.00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1,860.00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4,365.00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8,820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1,485.00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3,195.00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8,820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3,945.00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8,669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11,559.00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61.37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8,320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80.48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8,320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2,819.45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8,094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11,400.00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13,997.00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7,875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10,500.00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44.09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11,831.79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7,680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3,699.44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7,680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116.97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7,650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330.00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2,259.22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7,168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9,819.00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473.15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6,884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9,696.00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6,784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42,400.00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136.30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6,640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165,992.00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364.26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6,400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1,472.33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6,400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378.31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253.66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6,400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378.31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6,042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151,056.00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25.96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150,846.00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158.13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6,034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150,846.00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158.08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150,846.00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158.13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6,024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177.13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179.46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6,024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179.46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177.13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6,024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150,603.00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179.09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149.84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5,944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148,593.00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45.56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5,944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148,593.00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45.56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5,440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34,000.00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89.98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5,434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33,963.00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3,189.49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37.94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5,076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574.66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5,076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575.89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5,076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575.34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5,076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126,891.00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946.92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93.22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152.76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119.30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4,613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461,319.00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530.52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4,608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28,800.00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35.99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4,122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25,764.00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320.37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4,122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25,764.00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378.00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4,120.20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1,486.09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6,811.20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659.35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3,822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3,900.00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3,744.00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3,784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3,861.00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3,784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3,861.00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MIELE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91,648.00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3,239.23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MIELE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3,666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91,648.00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86.38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4,500.00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3,520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71.98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3,443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31,296.00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46.08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3,360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4,200.00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1,900.00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217.49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MIELE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81,000.00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232.76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227.97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159.97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159.97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169.97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MIELE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385.15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59.49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91.19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37.79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FAKİR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230.96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3,422.82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GAGGENAU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513.60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3,134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3,198.00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3,420.00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3,159.00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19,056.00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262.20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75,548.00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98.97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3,960.00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2,970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4,500.00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7.92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3,180.00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2,880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215.96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2,756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68,895.00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359.62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2,563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16,020.00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1,249.63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2,550.00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770.00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MIELE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13.62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299.95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259.44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376.74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299.95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2,232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13,950.00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57.49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2,232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13,950.00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41.56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GAGGENAU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67.97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135.93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271.87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89.95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89.97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149.93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475.73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2,550.00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5,490.00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1,999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1,920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48.68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1,920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2,700.00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748.00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11,400.00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1,824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11,400.00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11.35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87.44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1,793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87.44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309.96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1,677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3,900.00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5,580.00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5.40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1,571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9,819.00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160.37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9,819.00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1,571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9,819.00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318.13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9,819.00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62.24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1,571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9,819.00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556.31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518.63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376.00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1,377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2,700.00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682.00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TEFAL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153.97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29.67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19.24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1,210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1,833.00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5.98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858.00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251.99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28,800.00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27,000.00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27,000.00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1,029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102,885.00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45.20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102,885.00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49.30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960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785.63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960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1,132.57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SAMSUNG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16.50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63.99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41.99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MIELE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5.50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41.99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4,200.00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1,404.80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652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652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15.95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16,236.00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16,236.00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15.96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16,068.00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37.89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16,068.00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37.89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127.08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624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7.52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231.34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42.49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TEFAL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89.38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21.64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TEFAL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145.41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42.34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441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47.12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2,700.00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432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2,700.00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84.24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9,819.00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27.99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9,819.00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27.88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144.84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2,250.00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14.94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2,250.00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0.72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34.65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24.49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14.94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27.20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2,904.00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19.20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2,700.00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76.91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LG TÜRKİYE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2,700.00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76.75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1,650.00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15.15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40.90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1,569.00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48.59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149.06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4,722.00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329.97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PHILIPS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4.95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16,296.00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33.15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3,900.00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29.86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3,900.00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51.51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3,861.00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5.91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3,861.00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13.10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VESTEL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58.52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TEFAL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170.17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29.92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141.83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7.53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11,400.00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2,250.00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13.25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2,175.00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1,905.00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10.53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1,905.00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1,860.00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21.90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29.82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ARZUM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15.95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49.81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4,300.00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38.07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DYSON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5.99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BEKO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4,722.00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324.94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ARÇELİK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112,585.00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1,524.00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6,165.00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18,285.00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18,285.00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166,594.00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13,328.00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1,374.00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1,374.00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1,548.00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43,119.00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3,450.00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43,119.00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3,450.00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33,521.00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2,682.00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33,521.00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2,682.00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2,355.00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6,165.00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2,355.00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1,524.00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65,416.00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5,233.00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65,416.00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5,233.00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8,646.00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692.00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8,646.00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692.00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3,452.00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276.00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3,452.00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276.00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5,551.00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444.00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5,551.00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444.00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96,535.00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7,723.00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96,535.00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7,723.00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22,723.00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1,818.00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22,723.00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1,818.00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1,460.00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1,460.00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9,204.00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736.00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3,569.00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3,569.00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11,145.00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11,145.00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49,572.00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3,966.00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49,572.00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3,966.00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12,937.00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1,035.00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12,937.00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1,035.00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1,759.00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1,759.00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9,204.00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2,558.00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2,558.00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1,649.00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1,649.00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135,192.00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10,815.00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135,192.00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10,815.00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2,434.00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13,946.00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1,116.00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59,201.00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4,736.00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13,946.00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1,116.00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2,434.00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1,677.00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5,556.00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444.00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5,556.00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444.00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11,560.00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39,171.00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3,134.00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1,677.00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166,594.00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13,328.00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21,939.00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21,939.00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106,787.00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8,543.00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42,278.00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3,382.00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31,708.00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2,537.00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9,260.00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741.00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23,372.00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1,870.00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86,171.00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6,894.00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54,968.00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4,397.00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6,875.00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6,569.00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8,237.00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659.00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4,419.00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354.00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1,705.00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3,670.00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3,806.00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1,501.00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1,477.00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48,839.00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3,907.00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21,940.00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3,758.00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8,132.00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651.00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6,097.00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488.00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261,270.00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20,902.00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4,963.00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275,279.00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22,022.00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21,200.00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2,783.00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12,169.00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974.00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4,426.00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354.00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15,632.00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1,251.00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15,949.00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1,276.00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822,531.00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65,802.00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2,325.00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2,903.00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1,444.00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6,965.00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3,081.00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3,081.00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1,368.00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59,201.00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4,736.00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1,377.00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8,243.00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659.00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8,243.00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659.00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5,439.00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435.00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3,149.00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6,186.00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2,914.00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20,091.00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2,996.00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1,538.00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6,887.00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1,344.00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14,737.00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1,179.00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68,402.00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5,472.00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2,006.00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3,641.00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2,309.00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1,485.00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1,376.00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11,936.00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11,768.00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941.00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166,247.00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13,300.00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1,551.00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33,591.00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2,687.00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5,898.00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3,652.00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3,008.00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1,376.00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1,378.00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10,526.00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842.00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4,801.00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11,763.00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941.00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3,722.00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1,379.00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3,457.00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277.00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30,317.00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2,425.00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52,822.00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4,226.00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1,690.00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4,998.00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2,564.00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3,542.00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39,642.00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3,171.00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8,126.00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650.00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1,535.00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1,892.00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4,042.00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25,739.00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2,059.00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122,440.00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9,795.00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1,366.00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2,623.00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3,920.00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64,652.00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2,194.00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54,438.00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4,355.00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1,505.00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28,416.00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2,273.00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1,346.00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29,113.00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2,329.00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92,588.00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7,407.00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3,675.00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3,940.00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7,263.00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581.00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2,138.00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2,811.00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1,492.00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2,972.00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1,566.00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2,742.00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47,366.00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3,789.00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6,206.00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43,556.00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3,484.00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25,346.00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2,028.00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1,448.00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2,569.00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23,528.00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1,882.00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1,346.00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1,684.00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21,303.00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1,704.00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20,636.00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1,651.00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3,674.00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1,376.00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2,132.00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1,497.00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10,481.00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838.00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4,426.00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354.00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1,491.00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47,748.00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11,094.00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888.00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34,812.00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2,785.00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17,768.00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20,496.00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39,364.00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2,526.00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6,207.00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497.00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6,386.00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2,255.00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16,999.00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1,360.00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1,341.00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32,874.00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2,630.00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4,467.00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1,525.00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19,141.00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1,531.00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23,508.00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1,881.00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3,669.00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1,476.00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14,189.00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1,135.00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1,347.00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3,367.00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1,454.00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15,613.00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1,249.00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23,647.00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1,892.00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5,097.00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408.00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1,364.00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31,856.00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2,548.00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2,145.00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1,470.00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1,644.00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32,216.00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2,577.00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1,345.00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2,485.00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114,536.00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9,163.00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115,673.00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9,254.00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10,271.00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1,998.00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1,545.00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1,803.00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71,211.00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5,697.00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71,622.00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5,730.00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5,710.00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14,317.00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1,145.00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3,864.00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13,593.00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1,087.00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1,347.00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1,347.00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21,015.00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1,681.00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19,710.00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1,577.00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3,536.00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283.00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1,378.00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1,798.00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1,398.00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1,345,142.00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107,611.00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19,056.00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5,388.00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431.00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87,272.00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6,982.00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110,647.00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8,852.00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100,745.00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8,060.00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5,153.00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7,807.00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5,495.00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440.00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1,431.00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3,636.00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38,697.00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38,697.00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38,697.00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57,852.00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4,628.00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57,852.00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4,628.00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57,852.00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4,628.00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1,525.00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8,385.00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8,385.00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671.00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8,385.00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16,990.00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16,990.00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16,990.00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1,359.00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33,265.00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2,661.00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50,586.00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4,047.00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50,586.00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4,047.00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50,586.00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4,047.00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3,702.00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92,779.00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7,422.00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25,900.00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25,900.00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3,359.00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3,359.00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3,359.00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725.00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9,063.00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725.00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13,026.00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1,042.00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13,026.00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1,042.00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13,026.00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1,042.00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3,334.00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3,334.00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3,334.00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30,773.00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30,773.00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30,773.00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2,462.00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25,900.00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2,072.00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92,779.00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7,422.00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92,779.00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7,422.00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3,060.00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3,060.00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3,060.00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246,851.00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19,748.00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246,851.00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19,748.00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246,851.00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19,748.00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6,565.00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6,565.00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6,565.00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525.00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29,948.00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2,396.00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29,948.00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2,396.00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29,948.00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2,396.00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63,438.00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5,075.00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63,438.00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5,075.00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63,438.00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5,075.00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71,959.00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5,757.00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1,424.00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127,038.00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10,163.00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172,964.00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13,837.00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172,964.00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13,837.00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172,964.00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13,837.00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4,922.00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4,922.00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4,922.00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394.00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20,341.00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1,627.00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20,341.00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1,627.00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20,341.00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1,627.00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PROFİLO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5,975.00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5,975.00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478.00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15,929.00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1,274.00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154,238.00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11,402.00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21,512.00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1,721.00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11,200.00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11,200.00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896.00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158.00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127,038.00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10,163.00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172.00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SIEMENS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63,769.00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5,102.00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63,769.00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5,102.00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23,349.00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23,349.00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1,868.00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1,386.00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1,333.00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107.00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4,034.00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4,034.00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323.00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1,409.00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1,409.00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1,403.00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4,601.00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4,601.00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368.00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58.00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58.00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5.00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1,556.00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124.00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1,556.00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124.00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162.00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BOSCH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8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9FAFB"/>
                    </a:solidFill>
                  </a:tcPr>
                </a:tc>
              </a:tr>
              <a:tr h="2975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BSH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143.00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1F2937"/>
                          </a:solidFill>
                          <a:latin typeface="Calibri"/>
                        </a:rPr>
                        <a:t>11.00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tmpl88fw0j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40480"/>
            <a:ext cx="4114800" cy="2560320"/>
          </a:xfrm>
          <a:prstGeom prst="rect">
            <a:avLst/>
          </a:prstGeom>
        </p:spPr>
      </p:pic>
      <p:pic>
        <p:nvPicPr>
          <p:cNvPr id="6" name="Picture 5" descr="tmpso2dl0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840480"/>
            <a:ext cx="393192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Algı Analizi</a:t>
            </a:r>
          </a:p>
        </p:txBody>
      </p:sp>
      <p:pic>
        <p:nvPicPr>
          <p:cNvPr id="4" name="Picture 3" descr="tmpnio3z4j_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2926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9768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  <a:latin typeface="Calibri"/>
              </a:defRPr>
            </a:pPr>
            <a:r>
              <a:t>🔄 BEKO leads PHILIPS by 33,418 (8.5%) in Net Etki</a:t>
            </a:r>
          </a:p>
          <a:p>
            <a:pPr>
              <a:spcAft>
                <a:spcPts val="800"/>
              </a:spcAft>
              <a:defRPr sz="1300">
                <a:solidFill>
                  <a:srgbClr val="1F2937"/>
                </a:solidFill>
                <a:latin typeface="Calibri"/>
              </a:defRPr>
            </a:pPr>
            <a:r>
              <a:t>🏆 Top 3 in Net Etki: BEKO, PHILIPS, VESTEL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Medya Türü Dağılımı</a:t>
            </a:r>
          </a:p>
        </p:txBody>
      </p:sp>
      <p:pic>
        <p:nvPicPr>
          <p:cNvPr id="4" name="Picture 3" descr="tmpmlaohb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27432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114800"/>
          <a:ext cx="8229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5052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Medya Tür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Net Etki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Erişim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GAZETE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428,863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556,965.00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GAZETE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395,445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556,965.00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GAZETE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317,778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365,262.00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GAZETE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317,778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365,262.00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GAZETE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317,778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000000"/>
                          </a:solidFill>
                          <a:latin typeface="Calibri"/>
                        </a:rPr>
                        <a:t>365,262.00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 i="0">
                <a:solidFill>
                  <a:srgbClr val="1F2937"/>
                </a:solidFill>
                <a:latin typeface="Calibri"/>
              </a:rPr>
              <a:t>Coğrafi Dağılım</a:t>
            </a:r>
          </a:p>
        </p:txBody>
      </p:sp>
      <p:pic>
        <p:nvPicPr>
          <p:cNvPr id="4" name="Picture 3" descr="tmpho0ty_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8229600" cy="2743200"/>
          </a:xfrm>
          <a:prstGeom prst="rect">
            <a:avLst/>
          </a:prstGeom>
        </p:spPr>
      </p:pic>
      <p:pic>
        <p:nvPicPr>
          <p:cNvPr id="5" name="Picture 4" descr="tmpv9t3riz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411480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754880" y="4114800"/>
            <a:ext cx="39319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200">
                <a:latin typeface="Calibri"/>
              </a:defRPr>
            </a:pPr>
            <a:r>
              <a:t>1. Highest Net Etki: İSTANBUL (428,863)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
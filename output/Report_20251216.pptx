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homepage 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14400"/>
            <a:ext cx="1828800" cy="1828800"/>
          </a:xfrm>
          <a:prstGeom prst="rect">
            <a:avLst/>
          </a:prstGeom>
        </p:spPr>
      </p:pic>
      <p:pic>
        <p:nvPicPr>
          <p:cNvPr id="4" name="Picture 3" descr="homepage 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00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 i="0">
                <a:solidFill>
                  <a:srgbClr val="000000"/>
                </a:solidFill>
                <a:latin typeface="Calibri"/>
              </a:rPr>
              <a:t>Örnek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 i="0">
                <a:solidFill>
                  <a:srgbClr val="000000"/>
                </a:solidFill>
                <a:latin typeface="Calibri"/>
              </a:rPr>
              <a:t>Örnek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i="0">
                <a:solidFill>
                  <a:srgbClr val="000000"/>
                </a:solidFill>
                <a:latin typeface="Calibri"/>
              </a:rPr>
              <a:t>Örnek Örnek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Calibri"/>
              </a:rPr>
              <a:t>Örnek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144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FF00"/>
                          </a:solidFill>
                          <a:latin typeface="Calibri"/>
                        </a:rPr>
                        <a:t>Erişim</a:t>
                      </a:r>
                    </a:p>
                  </a:txBody>
                  <a:tcPr>
                    <a:solidFill>
                      <a:srgbClr val="55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FF00"/>
                          </a:solidFill>
                          <a:latin typeface="Calibri"/>
                        </a:rPr>
                        <a:t>StxCm</a:t>
                      </a:r>
                    </a:p>
                  </a:txBody>
                  <a:tcPr>
                    <a:solidFill>
                      <a:srgbClr val="55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FF00"/>
                          </a:solidFill>
                          <a:latin typeface="Calibri"/>
                        </a:rPr>
                        <a:t>Reklam Eşdeğeri</a:t>
                      </a:r>
                    </a:p>
                  </a:txBody>
                  <a:tcPr>
                    <a:solidFill>
                      <a:srgbClr val="55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FF00"/>
                          </a:solidFill>
                          <a:latin typeface="Calibri"/>
                        </a:rPr>
                        <a:t>Net Etki</a:t>
                      </a:r>
                    </a:p>
                  </a:txBody>
                  <a:tcPr>
                    <a:solidFill>
                      <a:srgbClr val="550000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192,000.00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12.70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9,000.00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49,920.00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2,033,924.00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2,045.54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85,936.53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805,571.00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7,034,682.00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7,455.87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394,576.19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2,444,844.00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6,458,668.00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10,210.34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244,763.72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3,234,329.00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10,567,211.00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1,904.61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703,721.62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937,459.00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4,100,843.00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293.57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233,082.31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502,957.00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416,640.00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302.13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41,323.52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226,156.00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2,066,244.00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1,713.62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133,884.20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706,486.00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404,000.00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63.77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26,786.51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200,960.00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132,000.00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2.02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747.60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5,280.00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361,020.00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47.91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13,364.15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142,460.00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1,084,936.00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350.15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96,761.21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466,510.00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2,260,762.00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2,140.57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137,351.87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1,213,355.00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792,502.00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617.73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48,613.75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133,587.00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965,000.00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3,125.44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57,256.47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506,720.00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2,820,017.00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463.20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121,854.21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213,372.00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89,250.00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305.97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21,286.96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83,427.00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24064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5,008,893.00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2,186.30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234,762.99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1,615,555.00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Calibri"/>
              </a:rPr>
              <a:t>Yansıma Sayısı</a:t>
            </a:r>
          </a:p>
        </p:txBody>
      </p:sp>
      <p:pic>
        <p:nvPicPr>
          <p:cNvPr id="4" name="Picture 3" descr="tmp0id_5r3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Calibri"/>
              </a:rPr>
              <a:t>Yansıma Sayısı</a:t>
            </a:r>
          </a:p>
        </p:txBody>
      </p:sp>
      <p:pic>
        <p:nvPicPr>
          <p:cNvPr id="4" name="Picture 3" descr="tmpzygvb0t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Calibri"/>
              </a:rPr>
              <a:t>Yansıma Sayısı Yüzdelik Dağılım</a:t>
            </a:r>
          </a:p>
        </p:txBody>
      </p:sp>
      <p:pic>
        <p:nvPicPr>
          <p:cNvPr id="4" name="Picture 3" descr="tmpsuidqh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mp2jtt_j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Calibri"/>
              </a:rPr>
              <a:t>Yansıma Sayısı Medya Türüne Göre Dağılım</a:t>
            </a:r>
          </a:p>
        </p:txBody>
      </p:sp>
      <p:pic>
        <p:nvPicPr>
          <p:cNvPr id="4" name="Picture 3" descr="tmpe4x0cz0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
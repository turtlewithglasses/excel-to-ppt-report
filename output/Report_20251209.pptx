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homepage 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14400"/>
            <a:ext cx="1828800" cy="1828800"/>
          </a:xfrm>
          <a:prstGeom prst="rect">
            <a:avLst/>
          </a:prstGeom>
        </p:spPr>
      </p:pic>
      <p:pic>
        <p:nvPicPr>
          <p:cNvPr id="4" name="Picture 3" descr="homepage 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00"/>
            <a:ext cx="137160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 i="0">
                <a:solidFill>
                  <a:srgbClr val="000000"/>
                </a:solidFill>
                <a:latin typeface="Calibri"/>
              </a:rPr>
              <a:t>Örnek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 i="0">
                <a:solidFill>
                  <a:srgbClr val="000000"/>
                </a:solidFill>
                <a:latin typeface="Calibri"/>
              </a:rPr>
              <a:t>Örnek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 i="0">
                <a:solidFill>
                  <a:srgbClr val="000000"/>
                </a:solidFill>
                <a:latin typeface="Calibri"/>
              </a:rPr>
              <a:t>Örnek Örnek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Calibri"/>
              </a:rPr>
              <a:t>Örnek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8229600" cy="4572000"/>
          </a:xfrm>
          <a:prstGeom prst="rect">
            <a:avLst/>
          </a:prstGeom>
          <a:solidFill>
            <a:srgbClr val="55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144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240631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Firma</a:t>
                      </a:r>
                    </a:p>
                  </a:txBody>
                  <a:tcPr>
                    <a:solidFill>
                      <a:srgbClr val="AA007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StxCm</a:t>
                      </a:r>
                    </a:p>
                  </a:txBody>
                  <a:tcPr>
                    <a:solidFill>
                      <a:srgbClr val="AA007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Erişim</a:t>
                      </a:r>
                    </a:p>
                  </a:txBody>
                  <a:tcPr>
                    <a:solidFill>
                      <a:srgbClr val="AA007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Reklam Eşdeğeri</a:t>
                      </a:r>
                    </a:p>
                  </a:txBody>
                  <a:tcPr>
                    <a:solidFill>
                      <a:srgbClr val="AA007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Net Etki</a:t>
                      </a:r>
                    </a:p>
                  </a:txBody>
                  <a:tcPr>
                    <a:solidFill>
                      <a:srgbClr val="AA007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GAGGENAU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2.02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132,000.00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747.60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5,280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ALTUS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12.70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192,000.00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9,000.00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49,920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TEFAL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305.97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89,250.00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21,286.96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83,427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617.73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792,502.00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48,613.75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133,587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LG TÜRKİYE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47.91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361,020.00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13,364.15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142,460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FAKİR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63.77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404,000.00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26,786.51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200,960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463.20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2,820,017.00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121,854.21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213,372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DELONGHI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302.13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416,640.00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41,323.52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226,156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MIELE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350.15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1,084,936.00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96,761.21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466,510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293.57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4,100,843.00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233,082.31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502,957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SAMSUNG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3,125.44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965,000.00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57,256.47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506,720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DYSON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1,713.62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2,066,244.00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133,884.20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706,486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ARZUM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2,045.54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2,033,924.00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85,936.53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805,571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1,904.61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10,567,211.00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703,721.62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937,459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PHILIPS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2,140.57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2,260,762.00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137,351.87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1,213,355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2,186.30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5,008,893.00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234,762.99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1,615,555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7,455.87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7,034,682.00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394,576.19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2,444,844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0642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10,210.34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6,458,668.00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244,763.72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3,234,329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mpgp0prb2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mpo29fddh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mpj18wmp9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mp1d2_tyz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mpyguap5y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
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6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9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10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11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12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3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4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handoutMasterIdLst>
    <p:handoutMasterId r:id="rId59"/>
  </p:handoutMasterIdLst>
  <p:sldIdLst>
    <p:sldId id="256" r:id="rId2"/>
    <p:sldId id="2100" r:id="rId3"/>
    <p:sldId id="2064" r:id="rId4"/>
    <p:sldId id="2063" r:id="rId5"/>
    <p:sldId id="1440" r:id="rId6"/>
    <p:sldId id="1441" r:id="rId7"/>
    <p:sldId id="1442" r:id="rId8"/>
    <p:sldId id="1863" r:id="rId9"/>
    <p:sldId id="1830" r:id="rId10"/>
    <p:sldId id="2025" r:id="rId11"/>
    <p:sldId id="2043" r:id="rId12"/>
    <p:sldId id="1446" r:id="rId13"/>
    <p:sldId id="1447" r:id="rId14"/>
    <p:sldId id="1461" r:id="rId15"/>
    <p:sldId id="1448" r:id="rId16"/>
    <p:sldId id="1449" r:id="rId17"/>
    <p:sldId id="1462" r:id="rId18"/>
    <p:sldId id="1463" r:id="rId19"/>
    <p:sldId id="1478" r:id="rId20"/>
    <p:sldId id="2096" r:id="rId21"/>
    <p:sldId id="2028" r:id="rId22"/>
    <p:sldId id="2029" r:id="rId23"/>
    <p:sldId id="2081" r:id="rId24"/>
    <p:sldId id="2030" r:id="rId25"/>
    <p:sldId id="2031" r:id="rId26"/>
    <p:sldId id="2047" r:id="rId27"/>
    <p:sldId id="2048" r:id="rId28"/>
    <p:sldId id="2049" r:id="rId29"/>
    <p:sldId id="2065" r:id="rId30"/>
    <p:sldId id="2067" r:id="rId31"/>
    <p:sldId id="2068" r:id="rId32"/>
    <p:sldId id="2069" r:id="rId33"/>
    <p:sldId id="2071" r:id="rId34"/>
    <p:sldId id="2088" r:id="rId35"/>
    <p:sldId id="2094" r:id="rId36"/>
    <p:sldId id="2101" r:id="rId37"/>
    <p:sldId id="2102" r:id="rId38"/>
    <p:sldId id="1497" r:id="rId39"/>
    <p:sldId id="2050" r:id="rId40"/>
    <p:sldId id="2051" r:id="rId41"/>
    <p:sldId id="2052" r:id="rId42"/>
    <p:sldId id="2054" r:id="rId43"/>
    <p:sldId id="2056" r:id="rId44"/>
    <p:sldId id="2059" r:id="rId45"/>
    <p:sldId id="2060" r:id="rId46"/>
    <p:sldId id="2061" r:id="rId47"/>
    <p:sldId id="2073" r:id="rId48"/>
    <p:sldId id="2075" r:id="rId49"/>
    <p:sldId id="2076" r:id="rId50"/>
    <p:sldId id="2077" r:id="rId51"/>
    <p:sldId id="2079" r:id="rId52"/>
    <p:sldId id="2087" r:id="rId53"/>
    <p:sldId id="2095" r:id="rId54"/>
    <p:sldId id="2103" r:id="rId55"/>
    <p:sldId id="2104" r:id="rId56"/>
    <p:sldId id="302" r:id="rId5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66"/>
    <a:srgbClr val="595959"/>
    <a:srgbClr val="D0CECE"/>
    <a:srgbClr val="6D6D6D"/>
    <a:srgbClr val="008080"/>
    <a:srgbClr val="B90000"/>
    <a:srgbClr val="B109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Orta Stil 2 - Vurgu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Orta Stil 2 - Vurgu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426" autoAdjust="0"/>
    <p:restoredTop sz="94434" autoAdjust="0"/>
  </p:normalViewPr>
  <p:slideViewPr>
    <p:cSldViewPr snapToGrid="0">
      <p:cViewPr varScale="1">
        <p:scale>
          <a:sx n="71" d="100"/>
          <a:sy n="71" d="100"/>
        </p:scale>
        <p:origin x="1008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3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3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4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4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_rels/chart4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4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_rels/chart4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_rels/chart5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9.xlsx"/></Relationships>
</file>

<file path=ppt/charts/_rels/chart5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3740365111946262E-3"/>
          <c:y val="2.5577142639531827E-2"/>
          <c:w val="0.99149743720555472"/>
          <c:h val="0.776125105260253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Sütun3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597-4DDF-AEAD-B333E6EC1024}"/>
              </c:ext>
            </c:extLst>
          </c:dPt>
          <c:dPt>
            <c:idx val="1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597-4DDF-AEAD-B333E6EC1024}"/>
              </c:ext>
            </c:extLst>
          </c:dPt>
          <c:dPt>
            <c:idx val="2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597-4DDF-AEAD-B333E6EC1024}"/>
              </c:ext>
            </c:extLst>
          </c:dPt>
          <c:dPt>
            <c:idx val="3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597-4DDF-AEAD-B333E6EC1024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070580531470424E-2"/>
                      <c:h val="5.201578739046060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7597-4DDF-AEAD-B333E6EC1024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8479820925690508E-2"/>
                      <c:h val="5.905943787232209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597-4DDF-AEAD-B333E6EC1024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3032206138073075E-2"/>
                      <c:h val="5.671155437836826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7597-4DDF-AEAD-B333E6EC1024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3032206138073075E-2"/>
                      <c:h val="5.201578739046060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7597-4DDF-AEAD-B333E6EC1024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371182721593676E-2"/>
                      <c:h val="5.201578739046060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E5FD-4776-A861-F2E7B213778B}"/>
                </c:ext>
              </c:extLst>
            </c:dLbl>
            <c:dLbl>
              <c:idx val="5"/>
              <c:layout>
                <c:manualLayout>
                  <c:x val="4.381859025712892E-8"/>
                  <c:y val="3.521917677288861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7484174916100545E-2"/>
                      <c:h val="4.73200204025529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E5FD-4776-A861-F2E7B213778B}"/>
                </c:ext>
              </c:extLst>
            </c:dLbl>
            <c:dLbl>
              <c:idx val="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919213943566206E-2"/>
                      <c:h val="5.201578739046060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E5FD-4776-A861-F2E7B213778B}"/>
                </c:ext>
              </c:extLst>
            </c:dLbl>
            <c:dLbl>
              <c:idx val="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806221749059341E-2"/>
                      <c:h val="4.966790389650676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E5FD-4776-A861-F2E7B213778B}"/>
                </c:ext>
              </c:extLst>
            </c:dLbl>
            <c:dLbl>
              <c:idx val="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580237360045613E-2"/>
                      <c:h val="4.966790389650676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E5FD-4776-A861-F2E7B213778B}"/>
                </c:ext>
              </c:extLst>
            </c:dLbl>
            <c:dLbl>
              <c:idx val="9"/>
              <c:layout>
                <c:manualLayout>
                  <c:x val="1.1129921945067026E-3"/>
                  <c:y val="1.173941746976743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554671140603161E-2"/>
                      <c:h val="4.854997858249584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E5FD-4776-A861-F2E7B213778B}"/>
                </c:ext>
              </c:extLst>
            </c:dLbl>
            <c:dLbl>
              <c:idx val="1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763725779055099E-2"/>
                      <c:h val="5.089786207644967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E-E5FD-4776-A861-F2E7B213778B}"/>
                </c:ext>
              </c:extLst>
            </c:dLbl>
            <c:dLbl>
              <c:idx val="1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763725779055099E-2"/>
                      <c:h val="4.854997858249584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F-E5FD-4776-A861-F2E7B213778B}"/>
                </c:ext>
              </c:extLst>
            </c:dLbl>
            <c:dLbl>
              <c:idx val="1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102702362575699E-2"/>
                      <c:h val="4.854997858249584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A0DA-4BE9-BA77-16BE1EFCBF0A}"/>
                </c:ext>
              </c:extLst>
            </c:dLbl>
            <c:dLbl>
              <c:idx val="1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554671140603161E-2"/>
                      <c:h val="4.385421159458818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A0DA-4BE9-BA77-16BE1EFCBF0A}"/>
                </c:ext>
              </c:extLst>
            </c:dLbl>
            <c:dLbl>
              <c:idx val="1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215694557082564E-2"/>
                      <c:h val="4.854997858249584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A0DA-4BE9-BA77-16BE1EFCBF0A}"/>
                </c:ext>
              </c:extLst>
            </c:dLbl>
            <c:dLbl>
              <c:idx val="1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989710168068833E-2"/>
                      <c:h val="4.385421159458818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A0DA-4BE9-BA77-16BE1EFCBF0A}"/>
                </c:ext>
              </c:extLst>
            </c:dLbl>
            <c:dLbl>
              <c:idx val="1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763725779055099E-2"/>
                      <c:h val="4.854997858249584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B96D-4D3F-B2E5-72CF1233A93D}"/>
                </c:ext>
              </c:extLst>
            </c:dLbl>
            <c:dLbl>
              <c:idx val="1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2537741390041367E-2"/>
                      <c:h val="4.620209508854201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4FBA-4BB3-95C7-15834F18EF9D}"/>
                </c:ext>
              </c:extLst>
            </c:dLbl>
            <c:dLbl>
              <c:idx val="1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102702362575699E-2"/>
                      <c:h val="5.089786207644967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4FBA-4BB3-95C7-15834F18EF9D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10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ound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Tefal</c:v>
                </c:pt>
                <c:pt idx="16">
                  <c:v>Indesit</c:v>
                </c:pt>
                <c:pt idx="17">
                  <c:v>Siemens</c:v>
                </c:pt>
                <c:pt idx="18">
                  <c:v>Delonghi</c:v>
                </c:pt>
              </c:strCache>
            </c:strRef>
          </c:cat>
          <c:val>
            <c:numRef>
              <c:f>Sayfa1!$B$2:$B$20</c:f>
              <c:numCache>
                <c:formatCode>#,##0</c:formatCode>
                <c:ptCount val="19"/>
                <c:pt idx="0">
                  <c:v>112</c:v>
                </c:pt>
                <c:pt idx="1">
                  <c:v>85</c:v>
                </c:pt>
                <c:pt idx="2">
                  <c:v>81</c:v>
                </c:pt>
                <c:pt idx="3">
                  <c:v>45</c:v>
                </c:pt>
                <c:pt idx="4">
                  <c:v>41</c:v>
                </c:pt>
                <c:pt idx="5">
                  <c:v>33</c:v>
                </c:pt>
                <c:pt idx="6">
                  <c:v>25</c:v>
                </c:pt>
                <c:pt idx="7">
                  <c:v>17</c:v>
                </c:pt>
                <c:pt idx="8">
                  <c:v>17</c:v>
                </c:pt>
                <c:pt idx="9">
                  <c:v>15</c:v>
                </c:pt>
                <c:pt idx="10">
                  <c:v>9</c:v>
                </c:pt>
                <c:pt idx="11">
                  <c:v>6</c:v>
                </c:pt>
                <c:pt idx="12">
                  <c:v>6</c:v>
                </c:pt>
                <c:pt idx="13">
                  <c:v>5</c:v>
                </c:pt>
                <c:pt idx="14" formatCode="General">
                  <c:v>5</c:v>
                </c:pt>
                <c:pt idx="15" formatCode="General">
                  <c:v>4</c:v>
                </c:pt>
                <c:pt idx="16" formatCode="General">
                  <c:v>4</c:v>
                </c:pt>
                <c:pt idx="17" formatCode="General">
                  <c:v>4</c:v>
                </c:pt>
                <c:pt idx="18" formatCode="General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597-4DDF-AEAD-B333E6EC10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71491656"/>
        <c:axId val="371492048"/>
      </c:barChart>
      <c:catAx>
        <c:axId val="371491656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71492048"/>
        <c:crosses val="autoZero"/>
        <c:auto val="1"/>
        <c:lblAlgn val="ctr"/>
        <c:lblOffset val="100"/>
        <c:noMultiLvlLbl val="0"/>
      </c:catAx>
      <c:valAx>
        <c:axId val="371492048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37149165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3740365111946262E-3"/>
          <c:y val="2.5577142639531827E-2"/>
          <c:w val="0.99149743720555472"/>
          <c:h val="0.776125105260253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Sütun3</c:v>
                </c:pt>
              </c:strCache>
            </c:strRef>
          </c:tx>
          <c:spPr>
            <a:solidFill>
              <a:srgbClr val="C016A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16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074-4FA8-AD3A-91FDCC933D88}"/>
              </c:ext>
            </c:extLst>
          </c:dPt>
          <c:dPt>
            <c:idx val="1"/>
            <c:invertIfNegative val="0"/>
            <c:bubble3D val="0"/>
            <c:spPr>
              <a:solidFill>
                <a:srgbClr val="C016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074-4FA8-AD3A-91FDCC933D88}"/>
              </c:ext>
            </c:extLst>
          </c:dPt>
          <c:dPt>
            <c:idx val="2"/>
            <c:invertIfNegative val="0"/>
            <c:bubble3D val="0"/>
            <c:spPr>
              <a:solidFill>
                <a:srgbClr val="C016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074-4FA8-AD3A-91FDCC933D88}"/>
              </c:ext>
            </c:extLst>
          </c:dPt>
          <c:dPt>
            <c:idx val="3"/>
            <c:invertIfNegative val="0"/>
            <c:bubble3D val="0"/>
            <c:spPr>
              <a:solidFill>
                <a:srgbClr val="C016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074-4FA8-AD3A-91FDCC933D88}"/>
              </c:ext>
            </c:extLst>
          </c:dPt>
          <c:dLbls>
            <c:dLbl>
              <c:idx val="0"/>
              <c:layout>
                <c:manualLayout>
                  <c:x val="5.6789634559148774E-4"/>
                  <c:y val="-3.4255950698825551E-3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%</a:t>
                    </a:r>
                    <a:fld id="{86351D84-2A91-474B-9BDC-2536E9E755F2}" type="VALUE">
                      <a:rPr lang="en-US" smtClean="0"/>
                      <a:pPr/>
                      <a:t>[DEĞER]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5958286180050149E-2"/>
                      <c:h val="5.6046689864808014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4074-4FA8-AD3A-91FDCC933D88}"/>
                </c:ext>
              </c:extLst>
            </c:dLbl>
            <c:dLbl>
              <c:idx val="1"/>
              <c:layout>
                <c:manualLayout>
                  <c:x val="5.6789634559147734E-4"/>
                  <c:y val="5.9267911549194374E-3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%</a:t>
                    </a:r>
                    <a:fld id="{440FB2D2-1122-4EBB-BF73-32C305F7963A}" type="VALUE">
                      <a:rPr lang="en-US" smtClean="0"/>
                      <a:pPr/>
                      <a:t>[DEĞER]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0501456944782051E-2"/>
                      <c:h val="6.0680733692615486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4074-4FA8-AD3A-91FDCC933D88}"/>
                </c:ext>
              </c:extLst>
            </c:dLbl>
            <c:dLbl>
              <c:idx val="2"/>
              <c:layout>
                <c:manualLayout>
                  <c:x val="-5.6780691309611924E-4"/>
                  <c:y val="9.4049925402913282E-3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%</a:t>
                    </a:r>
                    <a:fld id="{40DB21A0-F073-4E9D-9C91-A94676930FF0}" type="VALUE">
                      <a:rPr lang="en-US" smtClean="0"/>
                      <a:pPr/>
                      <a:t>[DEĞER]</a:t>
                    </a:fld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3676505493212163E-2"/>
                      <c:h val="6.7679389928525874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4074-4FA8-AD3A-91FDCC933D88}"/>
                </c:ext>
              </c:extLst>
            </c:dLbl>
            <c:dLbl>
              <c:idx val="3"/>
              <c:layout>
                <c:manualLayout>
                  <c:x val="-1.1357926911829755E-3"/>
                  <c:y val="3.5386762453028103E-3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%9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5948090875578114E-2"/>
                      <c:h val="6.303989193384292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7-4074-4FA8-AD3A-91FDCC933D88}"/>
                </c:ext>
              </c:extLst>
            </c:dLbl>
            <c:dLbl>
              <c:idx val="4"/>
              <c:layout>
                <c:manualLayout>
                  <c:x val="1.7036890367744216E-3"/>
                  <c:y val="3.6835669262129337E-3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%8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3676505493212163E-2"/>
                      <c:h val="6.0680774436974318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8-4074-4FA8-AD3A-91FDCC933D88}"/>
                </c:ext>
              </c:extLst>
            </c:dLbl>
            <c:dLbl>
              <c:idx val="5"/>
              <c:layout>
                <c:manualLayout>
                  <c:x val="1.703733753022151E-3"/>
                  <c:y val="1.7710747818875175E-7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%6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3676505493212163E-2"/>
                      <c:h val="5.8263886425024926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8-C9BC-42B0-AE41-70AC2DDE9460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%</a:t>
                    </a:r>
                    <a:fld id="{78B81A7B-FA42-428E-9D7F-06C6A674BDC0}" type="VALUE">
                      <a:rPr lang="en-US" smtClean="0"/>
                      <a:pPr/>
                      <a:t>[DEĞER]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3676505493212163E-2"/>
                      <c:h val="5.2264669206216405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C9BC-42B0-AE41-70AC2DDE9460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dirty="0"/>
                      <a:t>%</a:t>
                    </a:r>
                    <a:fld id="{31035AB8-47BE-4FDE-98BB-0B1B1CA28CEA}" type="VALUE">
                      <a:rPr lang="en-US" smtClean="0"/>
                      <a:pPr/>
                      <a:t>[DEĞER]</a:t>
                    </a:fld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2540712802029194E-2"/>
                      <c:h val="5.2264669206216405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4074-4FA8-AD3A-91FDCC933D88}"/>
                </c:ext>
              </c:extLst>
            </c:dLbl>
            <c:dLbl>
              <c:idx val="8"/>
              <c:layout>
                <c:manualLayout>
                  <c:x val="-1.1357926911830622E-3"/>
                  <c:y val="1.179558748434385E-3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%</a:t>
                    </a:r>
                    <a:fld id="{046F41C4-E8C1-491D-BCD6-408285F4D2A3}" type="VALUE">
                      <a:rPr lang="en-US" smtClean="0"/>
                      <a:pPr/>
                      <a:t>[DEĞER]</a:t>
                    </a:fld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5948090875578114E-2"/>
                      <c:h val="5.1302260721863946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C-4074-4FA8-AD3A-91FDCC933D88}"/>
                </c:ext>
              </c:extLst>
            </c:dLbl>
            <c:dLbl>
              <c:idx val="9"/>
              <c:layout>
                <c:manualLayout>
                  <c:x val="-1.7035996042790945E-3"/>
                  <c:y val="3.6335388346716464E-3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%</a:t>
                    </a:r>
                    <a:fld id="{92B5C3D0-E426-42AC-A4BC-E56992EC1409}" type="VALUE">
                      <a:rPr lang="en-US" smtClean="0"/>
                      <a:pPr/>
                      <a:t>[DEĞER]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86174934611431E-2"/>
                      <c:h val="5.1113111282408252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D-4074-4FA8-AD3A-91FDCC933D88}"/>
                </c:ext>
              </c:extLst>
            </c:dLbl>
            <c:dLbl>
              <c:idx val="10"/>
              <c:layout>
                <c:manualLayout>
                  <c:x val="-1.7036890367745465E-3"/>
                  <c:y val="2.3276078071973903E-3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%</a:t>
                    </a:r>
                    <a:fld id="{4DEC1DD4-A338-4EC5-B120-E0D36CFC4A73}" type="VALUE">
                      <a:rPr lang="en-US" smtClean="0"/>
                      <a:pPr/>
                      <a:t>[DEĞER]</a:t>
                    </a:fld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9133334728480261E-2"/>
                      <c:h val="4.7483346548823892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A-C9BC-42B0-AE41-70AC2DDE9460}"/>
                </c:ext>
              </c:extLst>
            </c:dLbl>
            <c:dLbl>
              <c:idx val="11"/>
              <c:layout>
                <c:manualLayout>
                  <c:x val="-2.839481727957522E-3"/>
                  <c:y val="1.0430708968031058E-5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%2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4590163963748359E-2"/>
                      <c:h val="4.7567481387698306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B-C9BC-42B0-AE41-70AC2DDE9460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/>
                      <a:t>%</a:t>
                    </a:r>
                    <a:fld id="{C9555A2B-6F61-49B0-A0C7-059253024A3F}" type="VALUE">
                      <a:rPr lang="en-US" smtClean="0"/>
                      <a:pPr/>
                      <a:t>[DEĞER]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8-1036-4706-AF68-7E9968A5DEBA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r>
                      <a:rPr lang="en-US"/>
                      <a:t>%</a:t>
                    </a:r>
                    <a:fld id="{177241F7-8351-4DBD-A322-BA00645538F3}" type="VALUE">
                      <a:rPr lang="en-US" smtClean="0"/>
                      <a:pPr/>
                      <a:t>[DEĞER]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1036-4706-AF68-7E9968A5DEBA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/>
                      <a:t>%</a:t>
                    </a:r>
                    <a:fld id="{689BB703-B84C-4ABE-A218-E7DF49FF7AE9}" type="VALUE">
                      <a:rPr lang="en-US" smtClean="0"/>
                      <a:pPr/>
                      <a:t>[DEĞER]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A-1036-4706-AF68-7E9968A5DEBA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/>
                      <a:t>%</a:t>
                    </a:r>
                    <a:fld id="{7B9A2E3A-8EAA-4762-8123-52B1E48B7AE7}" type="VALUE">
                      <a:rPr lang="en-US" smtClean="0"/>
                      <a:pPr/>
                      <a:t>[DEĞER]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1036-4706-AF68-7E9968A5DEBA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r>
                      <a:rPr lang="en-US"/>
                      <a:t>%</a:t>
                    </a:r>
                    <a:fld id="{F37427A7-D8FD-43C7-A5A7-A9E125CD0B1A}" type="VALUE">
                      <a:rPr lang="en-US" smtClean="0"/>
                      <a:pPr/>
                      <a:t>[DEĞER]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8-A8E3-44DA-9257-42D248AEA574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r>
                      <a:rPr lang="en-US"/>
                      <a:t>%</a:t>
                    </a:r>
                    <a:fld id="{A9A98800-6F47-4E5F-8665-B59B019BA5A7}" type="VALUE">
                      <a:rPr lang="en-US" smtClean="0"/>
                      <a:pPr/>
                      <a:t>[DEĞER]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8-47A1-433E-9228-CAD52D92E03E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r>
                      <a:rPr lang="en-US"/>
                      <a:t>%</a:t>
                    </a:r>
                    <a:fld id="{C408589D-B323-4EF1-87F6-064A2DE2896A}" type="VALUE">
                      <a:rPr lang="en-US" smtClean="0"/>
                      <a:pPr/>
                      <a:t>[DEĞER]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47A1-433E-9228-CAD52D92E03E}"/>
                </c:ext>
              </c:extLst>
            </c:dLbl>
            <c:spPr>
              <a:solidFill>
                <a:prstClr val="black">
                  <a:lumMod val="65000"/>
                  <a:lumOff val="35000"/>
                </a:prstClr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100" b="1" i="1" u="none" strike="noStrike" kern="1200" baseline="0">
                    <a:solidFill>
                      <a:schemeClr val="bg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ound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Tefal</c:v>
                </c:pt>
                <c:pt idx="16">
                  <c:v>Indesit</c:v>
                </c:pt>
                <c:pt idx="17">
                  <c:v>Siemens</c:v>
                </c:pt>
                <c:pt idx="18">
                  <c:v>Delonghi</c:v>
                </c:pt>
              </c:strCache>
            </c:strRef>
          </c:cat>
          <c:val>
            <c:numRef>
              <c:f>Sayfa1!$B$2:$B$20</c:f>
              <c:numCache>
                <c:formatCode>General</c:formatCode>
                <c:ptCount val="19"/>
                <c:pt idx="0">
                  <c:v>21</c:v>
                </c:pt>
                <c:pt idx="1">
                  <c:v>16</c:v>
                </c:pt>
                <c:pt idx="2">
                  <c:v>16</c:v>
                </c:pt>
                <c:pt idx="3">
                  <c:v>9</c:v>
                </c:pt>
                <c:pt idx="4">
                  <c:v>8</c:v>
                </c:pt>
                <c:pt idx="5">
                  <c:v>6</c:v>
                </c:pt>
                <c:pt idx="6">
                  <c:v>5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2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074-4FA8-AD3A-91FDCC933D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72425376"/>
        <c:axId val="372426552"/>
      </c:barChart>
      <c:catAx>
        <c:axId val="372425376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72426552"/>
        <c:crosses val="autoZero"/>
        <c:auto val="1"/>
        <c:lblAlgn val="ctr"/>
        <c:lblOffset val="100"/>
        <c:noMultiLvlLbl val="0"/>
      </c:catAx>
      <c:valAx>
        <c:axId val="37242655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7242537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169790989877582"/>
          <c:y val="2.7838199190675501E-2"/>
          <c:w val="0.81446911400181643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27A1-4038-B651-99A46634822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7A1-4038-B651-99A46634822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27A1-4038-B651-99A466348228}"/>
              </c:ext>
            </c:extLst>
          </c:dPt>
          <c:dLbls>
            <c:dLbl>
              <c:idx val="0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7792491718858542E-2"/>
                      <c:h val="5.249993865396277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27A1-4038-B651-99A466348228}"/>
                </c:ext>
              </c:extLst>
            </c:dLbl>
            <c:dLbl>
              <c:idx val="1"/>
              <c:tx>
                <c:rich>
                  <a:bodyPr wrap="square" lIns="38100" tIns="19050" rIns="38100" bIns="19050" anchor="ctr">
                    <a:noAutofit/>
                  </a:bodyPr>
                  <a:lstStyle/>
                  <a:p>
                    <a:pPr>
                      <a:defRPr sz="1200" i="1"/>
                    </a:pPr>
                    <a:r>
                      <a:rPr lang="en-US" sz="1200" dirty="0"/>
                      <a:t>8.241.037</a:t>
                    </a:r>
                  </a:p>
                </c:rich>
              </c:tx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9300273010758213E-2"/>
                      <c:h val="5.2499938653962776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27A1-4038-B651-99A466348228}"/>
                </c:ext>
              </c:extLst>
            </c:dLbl>
            <c:dLbl>
              <c:idx val="2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0495710722293015E-2"/>
                      <c:h val="5.027395387479098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27A1-4038-B651-99A466348228}"/>
                </c:ext>
              </c:extLst>
            </c:dLbl>
            <c:dLbl>
              <c:idx val="3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9300273010758213E-2"/>
                      <c:h val="4.143695005043622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27A1-4038-B651-99A466348228}"/>
                </c:ext>
              </c:extLst>
            </c:dLbl>
            <c:dLbl>
              <c:idx val="4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4897991866525607E-2"/>
                      <c:h val="4.582198431644739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27A1-4038-B651-99A466348228}"/>
                </c:ext>
              </c:extLst>
            </c:dLbl>
            <c:dLbl>
              <c:idx val="5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8294570150176712E-2"/>
                      <c:h val="4.804796909561918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27A1-4038-B651-99A466348228}"/>
                </c:ext>
              </c:extLst>
            </c:dLbl>
            <c:dLbl>
              <c:idx val="6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9434564433432497E-2"/>
                      <c:h val="4.58889422340721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27A1-4038-B651-99A466348228}"/>
                </c:ext>
              </c:extLst>
            </c:dLbl>
            <c:dLbl>
              <c:idx val="7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1601845420371175E-2"/>
                      <c:h val="4.143695005043622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27A1-4038-B651-99A466348228}"/>
                </c:ext>
              </c:extLst>
            </c:dLbl>
            <c:dLbl>
              <c:idx val="8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940068661720398E-2"/>
                      <c:h val="4.808144652801407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272B-4B25-A65C-E222BCEAF7B3}"/>
                </c:ext>
              </c:extLst>
            </c:dLbl>
            <c:dLbl>
              <c:idx val="9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9.1940863677271903E-2"/>
                      <c:h val="5.020696722620412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272B-4B25-A65C-E222BCEAF7B3}"/>
                </c:ext>
              </c:extLst>
            </c:dLbl>
            <c:dLbl>
              <c:idx val="10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9242534217887484E-2"/>
                      <c:h val="4.185266267561829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272B-4B25-A65C-E222BCEAF7B3}"/>
                </c:ext>
              </c:extLst>
            </c:dLbl>
            <c:dLbl>
              <c:idx val="11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7802953202711522E-2"/>
                      <c:h val="4.846366735532017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272B-4B25-A65C-E222BCEAF7B3}"/>
                </c:ext>
              </c:extLst>
            </c:dLbl>
            <c:dLbl>
              <c:idx val="12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4011222034454255E-2"/>
                      <c:h val="4.550931097876671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509D-4388-9572-24693567FC22}"/>
                </c:ext>
              </c:extLst>
            </c:dLbl>
            <c:dLbl>
              <c:idx val="13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8571273150113816E-2"/>
                      <c:h val="3.893179809694079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509D-4388-9572-24693567FC22}"/>
                </c:ext>
              </c:extLst>
            </c:dLbl>
            <c:dLbl>
              <c:idx val="14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6.9191055908560561E-2"/>
                      <c:h val="4.550931097876671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509D-4388-9572-24693567FC22}"/>
                </c:ext>
              </c:extLst>
            </c:dLbl>
            <c:dLbl>
              <c:idx val="15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6031132582049951E-2"/>
                      <c:h val="4.550931097876671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509D-4388-9572-24693567FC22}"/>
                </c:ext>
              </c:extLst>
            </c:dLbl>
            <c:dLbl>
              <c:idx val="16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7171145360964852E-2"/>
                      <c:h val="4.112430239088277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8D6-4180-98A0-55B878C2F55E}"/>
                </c:ext>
              </c:extLst>
            </c:dLbl>
            <c:dLbl>
              <c:idx val="17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8648135145552703E-2"/>
                      <c:h val="4.331680668482475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1303-4D1C-A44A-0D86575A4253}"/>
                </c:ext>
              </c:extLst>
            </c:dLbl>
            <c:dLbl>
              <c:idx val="18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5564894284909478E-2"/>
                      <c:h val="4.550931097876671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1303-4D1C-A44A-0D86575A4253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Beko</c:v>
                </c:pt>
                <c:pt idx="1">
                  <c:v>Arçelik</c:v>
                </c:pt>
                <c:pt idx="2">
                  <c:v>Vestel</c:v>
                </c:pt>
                <c:pt idx="3">
                  <c:v>Dyson</c:v>
                </c:pt>
                <c:pt idx="4">
                  <c:v>Philips</c:v>
                </c:pt>
                <c:pt idx="5">
                  <c:v>Arzum</c:v>
                </c:pt>
                <c:pt idx="6">
                  <c:v>Miele</c:v>
                </c:pt>
                <c:pt idx="7">
                  <c:v>Samsung</c:v>
                </c:pt>
                <c:pt idx="8">
                  <c:v>BSH</c:v>
                </c:pt>
                <c:pt idx="9">
                  <c:v>Fakir</c:v>
                </c:pt>
                <c:pt idx="10">
                  <c:v>Bosch</c:v>
                </c:pt>
                <c:pt idx="11">
                  <c:v>Tefal</c:v>
                </c:pt>
                <c:pt idx="12">
                  <c:v>Altus</c:v>
                </c:pt>
                <c:pt idx="13">
                  <c:v>Gaggenau</c:v>
                </c:pt>
                <c:pt idx="14">
                  <c:v>LG</c:v>
                </c:pt>
                <c:pt idx="15">
                  <c:v>Indesit</c:v>
                </c:pt>
                <c:pt idx="16">
                  <c:v>Siemens</c:v>
                </c:pt>
                <c:pt idx="17">
                  <c:v>Delonghi</c:v>
                </c:pt>
                <c:pt idx="18">
                  <c:v>Profilo</c:v>
                </c:pt>
              </c:strCache>
            </c:strRef>
          </c:cat>
          <c:val>
            <c:numRef>
              <c:f>Sayfa1!$B$2:$B$20</c:f>
              <c:numCache>
                <c:formatCode>#,##0</c:formatCode>
                <c:ptCount val="19"/>
                <c:pt idx="0">
                  <c:v>8276764</c:v>
                </c:pt>
                <c:pt idx="1">
                  <c:v>8241037</c:v>
                </c:pt>
                <c:pt idx="2">
                  <c:v>5810061</c:v>
                </c:pt>
                <c:pt idx="3">
                  <c:v>3966710</c:v>
                </c:pt>
                <c:pt idx="4">
                  <c:v>3486802</c:v>
                </c:pt>
                <c:pt idx="5">
                  <c:v>2931962</c:v>
                </c:pt>
                <c:pt idx="6">
                  <c:v>2250367</c:v>
                </c:pt>
                <c:pt idx="7">
                  <c:v>1428653</c:v>
                </c:pt>
                <c:pt idx="8">
                  <c:v>1182395</c:v>
                </c:pt>
                <c:pt idx="9">
                  <c:v>983299</c:v>
                </c:pt>
                <c:pt idx="10">
                  <c:v>607548</c:v>
                </c:pt>
                <c:pt idx="11">
                  <c:v>562000</c:v>
                </c:pt>
                <c:pt idx="12">
                  <c:v>427615</c:v>
                </c:pt>
                <c:pt idx="13">
                  <c:v>232000</c:v>
                </c:pt>
                <c:pt idx="14">
                  <c:v>220720</c:v>
                </c:pt>
                <c:pt idx="15">
                  <c:v>140000</c:v>
                </c:pt>
                <c:pt idx="16">
                  <c:v>131900</c:v>
                </c:pt>
                <c:pt idx="17">
                  <c:v>120000</c:v>
                </c:pt>
                <c:pt idx="18">
                  <c:v>114096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7A1-4038-B651-99A4663482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74343432"/>
        <c:axId val="374338336"/>
      </c:barChart>
      <c:catAx>
        <c:axId val="37434343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74338336"/>
        <c:crosses val="autoZero"/>
        <c:auto val="1"/>
        <c:lblAlgn val="ctr"/>
        <c:lblOffset val="100"/>
        <c:noMultiLvlLbl val="0"/>
      </c:catAx>
      <c:valAx>
        <c:axId val="374338336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74343432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5359516837751206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27A1-4038-B651-99A46634822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7A1-4038-B651-99A46634822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27A1-4038-B651-99A466348228}"/>
              </c:ext>
            </c:extLst>
          </c:dPt>
          <c:dLbls>
            <c:dLbl>
              <c:idx val="0"/>
              <c:layout>
                <c:manualLayout>
                  <c:x val="3.6053762192095519E-4"/>
                  <c:y val="1.1131676639779626E-3"/>
                </c:manualLayout>
              </c:layout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2696851294409304E-2"/>
                      <c:h val="5.027395387479098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27A1-4038-B651-99A466348228}"/>
                </c:ext>
              </c:extLst>
            </c:dLbl>
            <c:dLbl>
              <c:idx val="1"/>
              <c:tx>
                <c:rich>
                  <a:bodyPr wrap="square" lIns="38100" tIns="19050" rIns="38100" bIns="19050" anchor="ctr">
                    <a:noAutofit/>
                  </a:bodyPr>
                  <a:lstStyle/>
                  <a:p>
                    <a:pPr>
                      <a:defRPr sz="1200" i="1"/>
                    </a:pPr>
                    <a:r>
                      <a:rPr lang="en-US" sz="1200" dirty="0"/>
                      <a:t>2.112.327</a:t>
                    </a:r>
                  </a:p>
                </c:rich>
              </c:tx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9300273010758213E-2"/>
                      <c:h val="4.8047969095619189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27A1-4038-B651-99A466348228}"/>
                </c:ext>
              </c:extLst>
            </c:dLbl>
            <c:dLbl>
              <c:idx val="2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9265252168642122E-2"/>
                      <c:h val="5.249993865396277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27A1-4038-B651-99A466348228}"/>
                </c:ext>
              </c:extLst>
            </c:dLbl>
            <c:dLbl>
              <c:idx val="3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143252908588014E-2"/>
                      <c:h val="5.249993865396277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27A1-4038-B651-99A466348228}"/>
                </c:ext>
              </c:extLst>
            </c:dLbl>
            <c:dLbl>
              <c:idx val="4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1534066862711363E-2"/>
                      <c:h val="5.249993865396277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27A1-4038-B651-99A466348228}"/>
                </c:ext>
              </c:extLst>
            </c:dLbl>
            <c:dLbl>
              <c:idx val="5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4705005088860114E-2"/>
                      <c:h val="5.027395387479098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27A1-4038-B651-99A466348228}"/>
                </c:ext>
              </c:extLst>
            </c:dLbl>
            <c:dLbl>
              <c:idx val="6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041663936239056E-2"/>
                      <c:h val="5.249993865396277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27A1-4038-B651-99A466348228}"/>
                </c:ext>
              </c:extLst>
            </c:dLbl>
            <c:dLbl>
              <c:idx val="7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9413494231230702E-2"/>
                      <c:h val="5.472592343313457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27A1-4038-B651-99A466348228}"/>
                </c:ext>
              </c:extLst>
            </c:dLbl>
            <c:dLbl>
              <c:idx val="8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0378637296642214E-2"/>
                      <c:h val="4.582198431644739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115A-4F20-BF0C-C6B4ED21C72D}"/>
                </c:ext>
              </c:extLst>
            </c:dLbl>
            <c:dLbl>
              <c:idx val="9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7597837142420134E-2"/>
                      <c:h val="4.359599953727560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115A-4F20-BF0C-C6B4ED21C72D}"/>
                </c:ext>
              </c:extLst>
            </c:dLbl>
            <c:dLbl>
              <c:idx val="10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0193768208539143E-2"/>
                      <c:h val="5.065622732387552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115A-4F20-BF0C-C6B4ED21C72D}"/>
                </c:ext>
              </c:extLst>
            </c:dLbl>
            <c:dLbl>
              <c:idx val="11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0172723375187716E-2"/>
                      <c:h val="5.065622732387552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115A-4F20-BF0C-C6B4ED21C72D}"/>
                </c:ext>
              </c:extLst>
            </c:dLbl>
            <c:dLbl>
              <c:idx val="12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7245248249689827E-2"/>
                      <c:h val="5.288221210304731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1529-442A-9D8B-378EF1F02119}"/>
                </c:ext>
              </c:extLst>
            </c:dLbl>
            <c:dLbl>
              <c:idx val="13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6496728972431802E-2"/>
                      <c:h val="4.397827298636015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1529-442A-9D8B-378EF1F02119}"/>
                </c:ext>
              </c:extLst>
            </c:dLbl>
            <c:dLbl>
              <c:idx val="14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6496728972431802E-2"/>
                      <c:h val="5.065622732387552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1529-442A-9D8B-378EF1F02119}"/>
                </c:ext>
              </c:extLst>
            </c:dLbl>
            <c:dLbl>
              <c:idx val="15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968458773204852E-2"/>
                      <c:h val="4.397827298636015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1529-442A-9D8B-378EF1F02119}"/>
                </c:ext>
              </c:extLst>
            </c:dLbl>
            <c:dLbl>
              <c:idx val="16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0747207318587408E-2"/>
                      <c:h val="5.065622732387552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2EB4-4DB3-8F4E-F7C30D374E7A}"/>
                </c:ext>
              </c:extLst>
            </c:dLbl>
            <c:dLbl>
              <c:idx val="17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9.0310783597437508E-2"/>
                      <c:h val="4.620425776553194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E594-4681-A863-944BF6628BD9}"/>
                </c:ext>
              </c:extLst>
            </c:dLbl>
            <c:dLbl>
              <c:idx val="18"/>
              <c:layout>
                <c:manualLayout>
                  <c:x val="1.5939712152251465E-3"/>
                  <c:y val="4.4521448327356477E-3"/>
                </c:manualLayout>
              </c:layout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5628895086480491E-2"/>
                      <c:h val="4.397827298636015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E594-4681-A863-944BF6628BD9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Beko</c:v>
                </c:pt>
                <c:pt idx="1">
                  <c:v>Arçelik</c:v>
                </c:pt>
                <c:pt idx="2">
                  <c:v>Philips</c:v>
                </c:pt>
                <c:pt idx="3">
                  <c:v>Arzum</c:v>
                </c:pt>
                <c:pt idx="4">
                  <c:v>Dyson</c:v>
                </c:pt>
                <c:pt idx="5">
                  <c:v>Vestel</c:v>
                </c:pt>
                <c:pt idx="6">
                  <c:v>Fakir</c:v>
                </c:pt>
                <c:pt idx="7">
                  <c:v>Samsung</c:v>
                </c:pt>
                <c:pt idx="8">
                  <c:v>BSH</c:v>
                </c:pt>
                <c:pt idx="9">
                  <c:v>Miele</c:v>
                </c:pt>
                <c:pt idx="10">
                  <c:v>Bosch</c:v>
                </c:pt>
                <c:pt idx="11">
                  <c:v>Gaggenau</c:v>
                </c:pt>
                <c:pt idx="12">
                  <c:v>Tefal</c:v>
                </c:pt>
                <c:pt idx="13">
                  <c:v>LG</c:v>
                </c:pt>
                <c:pt idx="14">
                  <c:v>Profilo</c:v>
                </c:pt>
                <c:pt idx="15">
                  <c:v>Altus</c:v>
                </c:pt>
                <c:pt idx="16">
                  <c:v>Siemens</c:v>
                </c:pt>
                <c:pt idx="17">
                  <c:v>Indesit</c:v>
                </c:pt>
                <c:pt idx="18">
                  <c:v>Delonghi</c:v>
                </c:pt>
              </c:strCache>
            </c:strRef>
          </c:cat>
          <c:val>
            <c:numRef>
              <c:f>Sayfa1!$B$2:$B$20</c:f>
              <c:numCache>
                <c:formatCode>#,##0</c:formatCode>
                <c:ptCount val="19"/>
                <c:pt idx="0">
                  <c:v>4860792</c:v>
                </c:pt>
                <c:pt idx="1">
                  <c:v>2112327</c:v>
                </c:pt>
                <c:pt idx="2">
                  <c:v>1489595</c:v>
                </c:pt>
                <c:pt idx="3">
                  <c:v>1485918</c:v>
                </c:pt>
                <c:pt idx="4">
                  <c:v>1332264</c:v>
                </c:pt>
                <c:pt idx="5">
                  <c:v>1312313</c:v>
                </c:pt>
                <c:pt idx="6">
                  <c:v>822539</c:v>
                </c:pt>
                <c:pt idx="7">
                  <c:v>649925</c:v>
                </c:pt>
                <c:pt idx="8">
                  <c:v>378043</c:v>
                </c:pt>
                <c:pt idx="9">
                  <c:v>279253</c:v>
                </c:pt>
                <c:pt idx="10">
                  <c:v>225581</c:v>
                </c:pt>
                <c:pt idx="11">
                  <c:v>169200</c:v>
                </c:pt>
                <c:pt idx="12">
                  <c:v>98360</c:v>
                </c:pt>
                <c:pt idx="13">
                  <c:v>93995</c:v>
                </c:pt>
                <c:pt idx="14">
                  <c:v>56418</c:v>
                </c:pt>
                <c:pt idx="15">
                  <c:v>46008</c:v>
                </c:pt>
                <c:pt idx="16">
                  <c:v>13319</c:v>
                </c:pt>
                <c:pt idx="17">
                  <c:v>5600</c:v>
                </c:pt>
                <c:pt idx="18">
                  <c:v>4800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7A1-4038-B651-99A4663482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71493616"/>
        <c:axId val="371489304"/>
      </c:barChart>
      <c:catAx>
        <c:axId val="37149361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71489304"/>
        <c:crosses val="autoZero"/>
        <c:auto val="1"/>
        <c:lblAlgn val="ctr"/>
        <c:lblOffset val="100"/>
        <c:noMultiLvlLbl val="0"/>
      </c:catAx>
      <c:valAx>
        <c:axId val="371489304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7149361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586072709739417E-4"/>
          <c:y val="3.4960462371371098E-2"/>
          <c:w val="0.99149743720555472"/>
          <c:h val="0.776125105260253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Sütun3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868-4600-A73D-BD3D8463522D}"/>
              </c:ext>
            </c:extLst>
          </c:dPt>
          <c:dPt>
            <c:idx val="1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868-4600-A73D-BD3D8463522D}"/>
              </c:ext>
            </c:extLst>
          </c:dPt>
          <c:dPt>
            <c:idx val="2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868-4600-A73D-BD3D8463522D}"/>
              </c:ext>
            </c:extLst>
          </c:dPt>
          <c:dPt>
            <c:idx val="3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868-4600-A73D-BD3D8463522D}"/>
              </c:ext>
            </c:extLst>
          </c:dPt>
          <c:dLbls>
            <c:dLbl>
              <c:idx val="0"/>
              <c:layout>
                <c:manualLayout>
                  <c:x val="-1.0655768108904654E-3"/>
                  <c:y val="-2.071557208549497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7385322265106779E-2"/>
                      <c:h val="4.563370642261416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B868-4600-A73D-BD3D8463522D}"/>
                </c:ext>
              </c:extLst>
            </c:dLbl>
            <c:dLbl>
              <c:idx val="1"/>
              <c:layout>
                <c:manualLayout>
                  <c:x val="-1.7363542187453134E-3"/>
                  <c:y val="6.553356572464805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6258338129671327E-2"/>
                      <c:h val="5.01624110557271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B868-4600-A73D-BD3D8463522D}"/>
                </c:ext>
              </c:extLst>
            </c:dLbl>
            <c:dLbl>
              <c:idx val="2"/>
              <c:layout>
                <c:manualLayout>
                  <c:x val="-4.020937412980409E-3"/>
                  <c:y val="8.8708691854397486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4004369858800423E-2"/>
                      <c:h val="5.242827989867462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B868-4600-A73D-BD3D8463522D}"/>
                </c:ext>
              </c:extLst>
            </c:dLbl>
            <c:dLbl>
              <c:idx val="3"/>
              <c:layout>
                <c:manualLayout>
                  <c:x val="6.2782777623667831E-4"/>
                  <c:y val="-4.776166221221485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7005963432115711E-2"/>
                      <c:h val="4.563067336983225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B868-4600-A73D-BD3D8463522D}"/>
                </c:ext>
              </c:extLst>
            </c:dLbl>
            <c:dLbl>
              <c:idx val="4"/>
              <c:layout>
                <c:manualLayout>
                  <c:x val="1.7824097121540545E-3"/>
                  <c:y val="-2.301690917571472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7005963432115711E-2"/>
                      <c:h val="5.01624110557271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B868-4600-A73D-BD3D8463522D}"/>
                </c:ext>
              </c:extLst>
            </c:dLbl>
            <c:dLbl>
              <c:idx val="5"/>
              <c:layout>
                <c:manualLayout>
                  <c:x val="2.9391213818706764E-3"/>
                  <c:y val="-4.638518985304681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5736122077761197E-2"/>
                      <c:h val="4.563067336983225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B868-4600-A73D-BD3D8463522D}"/>
                </c:ext>
              </c:extLst>
            </c:dLbl>
            <c:dLbl>
              <c:idx val="6"/>
              <c:layout>
                <c:manualLayout>
                  <c:x val="-1.7058280342894243E-3"/>
                  <c:y val="8.8780057802197773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0244058619502999E-2"/>
                      <c:h val="5.242970721763080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B868-4600-A73D-BD3D8463522D}"/>
                </c:ext>
              </c:extLst>
            </c:dLbl>
            <c:dLbl>
              <c:idx val="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2487289482469363E-2"/>
                      <c:h val="5.923034679925508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06EB-46A1-8757-ACB0797F1768}"/>
                </c:ext>
              </c:extLst>
            </c:dLbl>
            <c:dLbl>
              <c:idx val="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3614273617904801E-2"/>
                      <c:h val="5.922731374647318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06EB-46A1-8757-ACB0797F1768}"/>
                </c:ext>
              </c:extLst>
            </c:dLbl>
            <c:dLbl>
              <c:idx val="9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6852368805292102E-2"/>
                      <c:h val="5.242970721763080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06EB-46A1-8757-ACB0797F1768}"/>
                </c:ext>
              </c:extLst>
            </c:dLbl>
            <c:dLbl>
              <c:idx val="1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9106337076163006E-2"/>
                      <c:h val="4.563370642261416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06EB-46A1-8757-ACB0797F1768}"/>
                </c:ext>
              </c:extLst>
            </c:dLbl>
            <c:dLbl>
              <c:idx val="1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5725384669856643E-2"/>
                      <c:h val="5.01624110557271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06EB-46A1-8757-ACB0797F1768}"/>
                </c:ext>
              </c:extLst>
            </c:dLbl>
            <c:dLbl>
              <c:idx val="1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8963479857243938E-2"/>
                      <c:h val="4.34012011602675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6948-49DB-88D8-C7BF4759587C}"/>
                </c:ext>
              </c:extLst>
            </c:dLbl>
            <c:dLbl>
              <c:idx val="1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582527450937582E-2"/>
                      <c:h val="4.113533231732012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6948-49DB-88D8-C7BF4759587C}"/>
                </c:ext>
              </c:extLst>
            </c:dLbl>
            <c:dLbl>
              <c:idx val="14"/>
              <c:layout>
                <c:manualLayout>
                  <c:x val="5.6349206771772594E-3"/>
                  <c:y val="3.398803264421185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828421723497727E-2"/>
                      <c:h val="5.019880768910994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1223-4EF6-A533-B4E8DA556A24}"/>
                </c:ext>
              </c:extLst>
            </c:dLbl>
            <c:dLbl>
              <c:idx val="1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939532775449566E-2"/>
                      <c:h val="4.56670700032150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1223-4EF6-A533-B4E8DA556A24}"/>
                </c:ext>
              </c:extLst>
            </c:dLbl>
            <c:dLbl>
              <c:idx val="1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939532775449566E-2"/>
                      <c:h val="4.793293884616248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1223-4EF6-A533-B4E8DA556A24}"/>
                </c:ext>
              </c:extLst>
            </c:dLbl>
            <c:dLbl>
              <c:idx val="1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066516910885015E-2"/>
                      <c:h val="4.793293884616248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6948-49DB-88D8-C7BF4759587C}"/>
                </c:ext>
              </c:extLst>
            </c:dLbl>
            <c:dLbl>
              <c:idx val="1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964019744762055E-2"/>
                      <c:h val="4.458819528720690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6948-49DB-88D8-C7BF4759587C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10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ound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Beko</c:v>
                </c:pt>
                <c:pt idx="1">
                  <c:v>Dyson</c:v>
                </c:pt>
                <c:pt idx="2">
                  <c:v>Vestel</c:v>
                </c:pt>
                <c:pt idx="3">
                  <c:v>Philips</c:v>
                </c:pt>
                <c:pt idx="4">
                  <c:v>Arzum</c:v>
                </c:pt>
                <c:pt idx="5">
                  <c:v>Arçelik</c:v>
                </c:pt>
                <c:pt idx="6">
                  <c:v>Gaggenau</c:v>
                </c:pt>
                <c:pt idx="7">
                  <c:v>Fakir</c:v>
                </c:pt>
                <c:pt idx="8">
                  <c:v>BSH</c:v>
                </c:pt>
                <c:pt idx="9">
                  <c:v>LG</c:v>
                </c:pt>
                <c:pt idx="10">
                  <c:v>Miele</c:v>
                </c:pt>
                <c:pt idx="11">
                  <c:v>Samsung</c:v>
                </c:pt>
                <c:pt idx="12">
                  <c:v>Altus</c:v>
                </c:pt>
                <c:pt idx="13">
                  <c:v>Bosch</c:v>
                </c:pt>
                <c:pt idx="14">
                  <c:v>Profilo</c:v>
                </c:pt>
                <c:pt idx="15">
                  <c:v>Tefal</c:v>
                </c:pt>
                <c:pt idx="16">
                  <c:v>Siemens</c:v>
                </c:pt>
                <c:pt idx="17">
                  <c:v>Delonghi</c:v>
                </c:pt>
                <c:pt idx="18">
                  <c:v>Indesit</c:v>
                </c:pt>
              </c:strCache>
            </c:strRef>
          </c:cat>
          <c:val>
            <c:numRef>
              <c:f>Sayfa1!$B$2:$B$20</c:f>
              <c:numCache>
                <c:formatCode>#,##0</c:formatCode>
                <c:ptCount val="19"/>
                <c:pt idx="0">
                  <c:v>11922</c:v>
                </c:pt>
                <c:pt idx="1">
                  <c:v>9442</c:v>
                </c:pt>
                <c:pt idx="2">
                  <c:v>4345</c:v>
                </c:pt>
                <c:pt idx="3">
                  <c:v>2748</c:v>
                </c:pt>
                <c:pt idx="4">
                  <c:v>2557</c:v>
                </c:pt>
                <c:pt idx="5">
                  <c:v>1959</c:v>
                </c:pt>
                <c:pt idx="6">
                  <c:v>1607</c:v>
                </c:pt>
                <c:pt idx="7">
                  <c:v>1450</c:v>
                </c:pt>
                <c:pt idx="8">
                  <c:v>1205</c:v>
                </c:pt>
                <c:pt idx="9">
                  <c:v>748</c:v>
                </c:pt>
                <c:pt idx="10">
                  <c:v>745</c:v>
                </c:pt>
                <c:pt idx="11">
                  <c:v>509</c:v>
                </c:pt>
                <c:pt idx="12">
                  <c:v>502</c:v>
                </c:pt>
                <c:pt idx="13">
                  <c:v>412</c:v>
                </c:pt>
                <c:pt idx="14" formatCode="General">
                  <c:v>388</c:v>
                </c:pt>
                <c:pt idx="15" formatCode="General">
                  <c:v>98</c:v>
                </c:pt>
                <c:pt idx="16" formatCode="General">
                  <c:v>85</c:v>
                </c:pt>
                <c:pt idx="17" formatCode="General">
                  <c:v>8</c:v>
                </c:pt>
                <c:pt idx="18" formatCode="General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B868-4600-A73D-BD3D846352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72424592"/>
        <c:axId val="372425768"/>
      </c:barChart>
      <c:catAx>
        <c:axId val="372424592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72425768"/>
        <c:crosses val="autoZero"/>
        <c:auto val="1"/>
        <c:lblAlgn val="ctr"/>
        <c:lblOffset val="100"/>
        <c:noMultiLvlLbl val="0"/>
      </c:catAx>
      <c:valAx>
        <c:axId val="372425768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372424592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222253084443533E-4"/>
          <c:y val="3.9515418018723325E-2"/>
          <c:w val="0.99149743720555472"/>
          <c:h val="0.776125105260253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Sütun3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F9E-4865-BBFE-613A17150343}"/>
              </c:ext>
            </c:extLst>
          </c:dPt>
          <c:dPt>
            <c:idx val="1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F9E-4865-BBFE-613A17150343}"/>
              </c:ext>
            </c:extLst>
          </c:dPt>
          <c:dPt>
            <c:idx val="2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F9E-4865-BBFE-613A17150343}"/>
              </c:ext>
            </c:extLst>
          </c:dPt>
          <c:dPt>
            <c:idx val="4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FF9E-4865-BBFE-613A17150343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28194803543424E-2"/>
                      <c:h val="5.378838042209775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FF9E-4865-BBFE-613A17150343}"/>
                </c:ext>
              </c:extLst>
            </c:dLbl>
            <c:dLbl>
              <c:idx val="1"/>
              <c:layout>
                <c:manualLayout>
                  <c:x val="1.7299577678557524E-3"/>
                  <c:y val="3.015193031618920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2008493323389282E-2"/>
                      <c:h val="5.403202499368938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F9E-4865-BBFE-613A17150343}"/>
                </c:ext>
              </c:extLst>
            </c:dLbl>
            <c:dLbl>
              <c:idx val="2"/>
              <c:layout>
                <c:manualLayout>
                  <c:x val="1.1740770567540799E-3"/>
                  <c:y val="-3.669210423305091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0863184265798276E-2"/>
                      <c:h val="5.399910005158239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F9E-4865-BBFE-613A17150343}"/>
                </c:ext>
              </c:extLst>
            </c:dLbl>
            <c:dLbl>
              <c:idx val="3"/>
              <c:layout>
                <c:manualLayout>
                  <c:x val="-1.1333599670296096E-3"/>
                  <c:y val="-3.047203392000702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8572566150616258E-2"/>
                      <c:h val="5.401007503228473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FF9E-4865-BBFE-613A17150343}"/>
                </c:ext>
              </c:extLst>
            </c:dLbl>
            <c:dLbl>
              <c:idx val="4"/>
              <c:layout>
                <c:manualLayout>
                  <c:x val="2.30575698281856E-3"/>
                  <c:y val="1.334620006505455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0863184265798276E-2"/>
                      <c:h val="4.935302488759790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FF9E-4865-BBFE-613A17150343}"/>
                </c:ext>
              </c:extLst>
            </c:dLbl>
            <c:dLbl>
              <c:idx val="5"/>
              <c:layout>
                <c:manualLayout>
                  <c:x val="1.1680799660194079E-3"/>
                  <c:y val="2.311148019564732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9226564677045384E-2"/>
                      <c:h val="5.057563773783697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FF9E-4865-BBFE-613A17150343}"/>
                </c:ext>
              </c:extLst>
            </c:dLbl>
            <c:dLbl>
              <c:idx val="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4645328446681355E-2"/>
                      <c:h val="4.803621011966387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FF9E-4865-BBFE-613A17150343}"/>
                </c:ext>
              </c:extLst>
            </c:dLbl>
            <c:dLbl>
              <c:idx val="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79063750427236E-2"/>
                      <c:h val="5.035924770165612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8715-4BC3-A427-3B7839D52668}"/>
                </c:ext>
              </c:extLst>
            </c:dLbl>
            <c:dLbl>
              <c:idx val="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4645328446681355E-2"/>
                      <c:h val="5.268228528364837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8715-4BC3-A427-3B7839D52668}"/>
                </c:ext>
              </c:extLst>
            </c:dLbl>
            <c:dLbl>
              <c:idx val="9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209401273908328E-2"/>
                      <c:h val="5.035924770165612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8715-4BC3-A427-3B7839D52668}"/>
                </c:ext>
              </c:extLst>
            </c:dLbl>
            <c:dLbl>
              <c:idx val="1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548285598595328E-2"/>
                      <c:h val="4.803621011966387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8715-4BC3-A427-3B7839D52668}"/>
                </c:ext>
              </c:extLst>
            </c:dLbl>
            <c:dLbl>
              <c:idx val="11"/>
              <c:layout>
                <c:manualLayout>
                  <c:x val="1.7664363122491256E-3"/>
                  <c:y val="-3.45629579767997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209401273908321E-2"/>
                      <c:h val="4.359555001115789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8715-4BC3-A427-3B7839D52668}"/>
                </c:ext>
              </c:extLst>
            </c:dLbl>
            <c:dLbl>
              <c:idx val="1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337546928362271E-2"/>
                      <c:h val="3.874405979169486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03A3-487B-B223-82247B113E4D}"/>
                </c:ext>
              </c:extLst>
            </c:dLbl>
            <c:dLbl>
              <c:idx val="1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7773474101135297E-2"/>
                      <c:h val="4.339013495567936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03A3-487B-B223-82247B113E4D}"/>
                </c:ext>
              </c:extLst>
            </c:dLbl>
            <c:dLbl>
              <c:idx val="1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337546928362271E-2"/>
                      <c:h val="4.803621011966387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03A3-487B-B223-82247B113E4D}"/>
                </c:ext>
              </c:extLst>
            </c:dLbl>
            <c:dLbl>
              <c:idx val="1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628165043544288E-2"/>
                      <c:h val="4.339013495567936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03A3-487B-B223-82247B113E4D}"/>
                </c:ext>
              </c:extLst>
            </c:dLbl>
            <c:dLbl>
              <c:idx val="1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337546928362271E-2"/>
                      <c:h val="4.571317253767161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03A3-487B-B223-82247B113E4D}"/>
                </c:ext>
              </c:extLst>
            </c:dLbl>
            <c:dLbl>
              <c:idx val="1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0901619755589247E-2"/>
                      <c:h val="5.035924770165612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F890-4452-A55A-CD35E6B90EB0}"/>
                </c:ext>
              </c:extLst>
            </c:dLbl>
            <c:dLbl>
              <c:idx val="1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0901619755589247E-2"/>
                      <c:h val="4.571317253767161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F890-4452-A55A-CD35E6B90EB0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10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ound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Beko</c:v>
                </c:pt>
                <c:pt idx="1">
                  <c:v>Dyson</c:v>
                </c:pt>
                <c:pt idx="2">
                  <c:v>Vestel</c:v>
                </c:pt>
                <c:pt idx="3">
                  <c:v>Philips</c:v>
                </c:pt>
                <c:pt idx="4">
                  <c:v>Arzum</c:v>
                </c:pt>
                <c:pt idx="5">
                  <c:v>Arçelik</c:v>
                </c:pt>
                <c:pt idx="6">
                  <c:v>Gaggenau</c:v>
                </c:pt>
                <c:pt idx="7">
                  <c:v>Fakir</c:v>
                </c:pt>
                <c:pt idx="8">
                  <c:v>BSH</c:v>
                </c:pt>
                <c:pt idx="9">
                  <c:v>LG</c:v>
                </c:pt>
                <c:pt idx="10">
                  <c:v>Miele</c:v>
                </c:pt>
                <c:pt idx="11">
                  <c:v>Samsung</c:v>
                </c:pt>
                <c:pt idx="12">
                  <c:v>Altus</c:v>
                </c:pt>
                <c:pt idx="13">
                  <c:v>Bosch</c:v>
                </c:pt>
                <c:pt idx="14">
                  <c:v>Profilo</c:v>
                </c:pt>
                <c:pt idx="15">
                  <c:v>Tefal</c:v>
                </c:pt>
                <c:pt idx="16">
                  <c:v>Siemens</c:v>
                </c:pt>
                <c:pt idx="17">
                  <c:v>Delonghi</c:v>
                </c:pt>
                <c:pt idx="18">
                  <c:v>Indesit</c:v>
                </c:pt>
              </c:strCache>
            </c:strRef>
          </c:cat>
          <c:val>
            <c:numRef>
              <c:f>Sayfa1!$B$2:$B$20</c:f>
              <c:numCache>
                <c:formatCode>#,##0</c:formatCode>
                <c:ptCount val="19"/>
                <c:pt idx="0">
                  <c:v>25</c:v>
                </c:pt>
                <c:pt idx="1">
                  <c:v>20</c:v>
                </c:pt>
                <c:pt idx="2">
                  <c:v>9</c:v>
                </c:pt>
                <c:pt idx="3">
                  <c:v>6</c:v>
                </c:pt>
                <c:pt idx="4">
                  <c:v>5</c:v>
                </c:pt>
                <c:pt idx="5">
                  <c:v>4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2</c:v>
                </c:pt>
                <c:pt idx="10">
                  <c:v>2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 formatCode="General">
                  <c:v>1</c:v>
                </c:pt>
                <c:pt idx="15" formatCode="General">
                  <c:v>1</c:v>
                </c:pt>
                <c:pt idx="16" formatCode="General">
                  <c:v>1</c:v>
                </c:pt>
                <c:pt idx="17" formatCode="General">
                  <c:v>1</c:v>
                </c:pt>
                <c:pt idx="18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FF9E-4865-BBFE-613A171503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12607376"/>
        <c:axId val="373032600"/>
      </c:barChart>
      <c:catAx>
        <c:axId val="312607376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73032600"/>
        <c:crosses val="autoZero"/>
        <c:auto val="1"/>
        <c:lblAlgn val="ctr"/>
        <c:lblOffset val="100"/>
        <c:noMultiLvlLbl val="0"/>
      </c:catAx>
      <c:valAx>
        <c:axId val="373032600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31260737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773047718443573"/>
          <c:y val="2.7838130593444036E-2"/>
          <c:w val="0.80715750431022593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27A1-4038-B651-99A46634822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7A1-4038-B651-99A466348228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7A1-4038-B651-99A466348228}"/>
              </c:ext>
            </c:extLst>
          </c:dPt>
          <c:dLbls>
            <c:dLbl>
              <c:idx val="0"/>
              <c:layout>
                <c:manualLayout>
                  <c:x val="-5.5625642135289266E-4"/>
                  <c:y val="2.2263353279559149E-3"/>
                </c:manualLayout>
              </c:layout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9.666140170108517E-2"/>
                      <c:h val="5.249993865396277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27A1-4038-B651-99A466348228}"/>
                </c:ext>
              </c:extLst>
            </c:dLbl>
            <c:dLbl>
              <c:idx val="1"/>
              <c:tx>
                <c:rich>
                  <a:bodyPr wrap="square" lIns="38100" tIns="19050" rIns="38100" bIns="19050" anchor="ctr">
                    <a:noAutofit/>
                  </a:bodyPr>
                  <a:lstStyle/>
                  <a:p>
                    <a:pPr>
                      <a:defRPr sz="1200" i="1"/>
                    </a:pPr>
                    <a:r>
                      <a:rPr lang="en-US" sz="1200" dirty="0"/>
                      <a:t>556.603</a:t>
                    </a:r>
                  </a:p>
                </c:rich>
              </c:tx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9300273010758213E-2"/>
                      <c:h val="4.8047969095619189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27A1-4038-B651-99A466348228}"/>
                </c:ext>
              </c:extLst>
            </c:dLbl>
            <c:dLbl>
              <c:idx val="2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4560636451278981E-2"/>
                      <c:h val="4.582198431644739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27A1-4038-B651-99A466348228}"/>
                </c:ext>
              </c:extLst>
            </c:dLbl>
            <c:dLbl>
              <c:idx val="3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4560636451278981E-2"/>
                      <c:h val="5.027395387479098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27A1-4038-B651-99A466348228}"/>
                </c:ext>
              </c:extLst>
            </c:dLbl>
            <c:dLbl>
              <c:idx val="4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3644694838095113E-2"/>
                      <c:h val="5.027395387479098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27A1-4038-B651-99A466348228}"/>
                </c:ext>
              </c:extLst>
            </c:dLbl>
            <c:dLbl>
              <c:idx val="5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9295638614684666E-2"/>
                      <c:h val="5.249993865396277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27A1-4038-B651-99A466348228}"/>
                </c:ext>
              </c:extLst>
            </c:dLbl>
            <c:dLbl>
              <c:idx val="6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945314309408838E-2"/>
                      <c:h val="4.582198431644739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27A1-4038-B651-99A466348228}"/>
                </c:ext>
              </c:extLst>
            </c:dLbl>
            <c:dLbl>
              <c:idx val="7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5714495978052904E-2"/>
                      <c:h val="4.804796909561918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27A1-4038-B651-99A466348228}"/>
                </c:ext>
              </c:extLst>
            </c:dLbl>
            <c:dLbl>
              <c:idx val="8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3972704956843586E-2"/>
                      <c:h val="4.582198431644739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BDC-43BA-B829-0BD1E87BC997}"/>
                </c:ext>
              </c:extLst>
            </c:dLbl>
            <c:dLbl>
              <c:idx val="9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2267076505390085E-2"/>
                      <c:h val="5.510819688221911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7BDC-43BA-B829-0BD1E87BC997}"/>
                </c:ext>
              </c:extLst>
            </c:dLbl>
            <c:dLbl>
              <c:idx val="10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4747230056891725E-2"/>
                      <c:h val="4.397827298636015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7BDC-43BA-B829-0BD1E87BC997}"/>
                </c:ext>
              </c:extLst>
            </c:dLbl>
            <c:dLbl>
              <c:idx val="11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609826384724061E-2"/>
                      <c:h val="5.027395387479098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7BDC-43BA-B829-0BD1E87BC997}"/>
                </c:ext>
              </c:extLst>
            </c:dLbl>
            <c:dLbl>
              <c:idx val="12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7335968220299214E-2"/>
                      <c:h val="4.620425776553194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E89D-4DBD-973F-41A044AF10DC}"/>
                </c:ext>
              </c:extLst>
            </c:dLbl>
            <c:dLbl>
              <c:idx val="13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7653514845262422E-2"/>
                      <c:h val="4.175228820718835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E89D-4DBD-973F-41A044AF10DC}"/>
                </c:ext>
              </c:extLst>
            </c:dLbl>
            <c:dLbl>
              <c:idx val="14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443067882738845E-2"/>
                      <c:h val="4.843024254470373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E89D-4DBD-973F-41A044AF10DC}"/>
                </c:ext>
              </c:extLst>
            </c:dLbl>
            <c:dLbl>
              <c:idx val="15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753297570286162E-2"/>
                      <c:h val="4.397827298636015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E89D-4DBD-973F-41A044AF10DC}"/>
                </c:ext>
              </c:extLst>
            </c:dLbl>
            <c:dLbl>
              <c:idx val="16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443067882738845E-2"/>
                      <c:h val="4.620425776553194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A80E-44C9-8819-99BBFF976B10}"/>
                </c:ext>
              </c:extLst>
            </c:dLbl>
            <c:dLbl>
              <c:idx val="17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1207842809514477E-2"/>
                      <c:h val="5.065622732387552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BFDB-44B2-8D04-6817730355F3}"/>
                </c:ext>
              </c:extLst>
            </c:dLbl>
            <c:dLbl>
              <c:idx val="18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4.8844913578087276E-2"/>
                      <c:h val="4.397827298636015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BFDB-44B2-8D04-6817730355F3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Dyson</c:v>
                </c:pt>
                <c:pt idx="1">
                  <c:v>Beko</c:v>
                </c:pt>
                <c:pt idx="2">
                  <c:v>Vestel</c:v>
                </c:pt>
                <c:pt idx="3">
                  <c:v>Philips</c:v>
                </c:pt>
                <c:pt idx="4">
                  <c:v>Arzum</c:v>
                </c:pt>
                <c:pt idx="5">
                  <c:v>Arçelik</c:v>
                </c:pt>
                <c:pt idx="6">
                  <c:v>Fakir</c:v>
                </c:pt>
                <c:pt idx="7">
                  <c:v>BSH</c:v>
                </c:pt>
                <c:pt idx="8">
                  <c:v>Samsung</c:v>
                </c:pt>
                <c:pt idx="9">
                  <c:v>Gaggenau</c:v>
                </c:pt>
                <c:pt idx="10">
                  <c:v>Miele</c:v>
                </c:pt>
                <c:pt idx="11">
                  <c:v>LG</c:v>
                </c:pt>
                <c:pt idx="12">
                  <c:v>Bosch</c:v>
                </c:pt>
                <c:pt idx="13">
                  <c:v>Profilo</c:v>
                </c:pt>
                <c:pt idx="14">
                  <c:v>Altus</c:v>
                </c:pt>
                <c:pt idx="15">
                  <c:v>Tefal</c:v>
                </c:pt>
                <c:pt idx="16">
                  <c:v>Siemens</c:v>
                </c:pt>
                <c:pt idx="17">
                  <c:v>Delonghi</c:v>
                </c:pt>
                <c:pt idx="18">
                  <c:v>Indesit</c:v>
                </c:pt>
              </c:strCache>
            </c:strRef>
          </c:cat>
          <c:val>
            <c:numRef>
              <c:f>Sayfa1!$B$2:$B$20</c:f>
              <c:numCache>
                <c:formatCode>#,##0</c:formatCode>
                <c:ptCount val="19"/>
                <c:pt idx="0">
                  <c:v>3058279</c:v>
                </c:pt>
                <c:pt idx="1">
                  <c:v>556603</c:v>
                </c:pt>
                <c:pt idx="2">
                  <c:v>339232</c:v>
                </c:pt>
                <c:pt idx="3">
                  <c:v>292669</c:v>
                </c:pt>
                <c:pt idx="4">
                  <c:v>200006</c:v>
                </c:pt>
                <c:pt idx="5">
                  <c:v>195611</c:v>
                </c:pt>
                <c:pt idx="6">
                  <c:v>67949</c:v>
                </c:pt>
                <c:pt idx="7">
                  <c:v>53859</c:v>
                </c:pt>
                <c:pt idx="8">
                  <c:v>42268</c:v>
                </c:pt>
                <c:pt idx="9">
                  <c:v>21311</c:v>
                </c:pt>
                <c:pt idx="10">
                  <c:v>20572</c:v>
                </c:pt>
                <c:pt idx="11">
                  <c:v>14518</c:v>
                </c:pt>
                <c:pt idx="12">
                  <c:v>11683</c:v>
                </c:pt>
                <c:pt idx="13">
                  <c:v>7156</c:v>
                </c:pt>
                <c:pt idx="14">
                  <c:v>1817</c:v>
                </c:pt>
                <c:pt idx="15">
                  <c:v>1537</c:v>
                </c:pt>
                <c:pt idx="16">
                  <c:v>1525</c:v>
                </c:pt>
                <c:pt idx="17">
                  <c:v>141</c:v>
                </c:pt>
                <c:pt idx="18" formatCode="General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7A1-4038-B651-99A4663482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72428904"/>
        <c:axId val="372430080"/>
      </c:barChart>
      <c:catAx>
        <c:axId val="37242890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72430080"/>
        <c:crosses val="autoZero"/>
        <c:auto val="1"/>
        <c:lblAlgn val="ctr"/>
        <c:lblOffset val="100"/>
        <c:noMultiLvlLbl val="0"/>
      </c:catAx>
      <c:valAx>
        <c:axId val="372430080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7242890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3740365111946262E-3"/>
          <c:y val="2.5577142639531827E-2"/>
          <c:w val="0.99149743720555472"/>
          <c:h val="0.776125105260253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Pozitif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2F1-408D-A2F7-DB3E496BAE17}"/>
              </c:ext>
            </c:extLst>
          </c:dPt>
          <c:dPt>
            <c:idx val="1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2F1-408D-A2F7-DB3E496BAE17}"/>
              </c:ext>
            </c:extLst>
          </c:dPt>
          <c:dPt>
            <c:idx val="2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2F1-408D-A2F7-DB3E496BAE17}"/>
              </c:ext>
            </c:extLst>
          </c:dPt>
          <c:dPt>
            <c:idx val="9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7261-44CC-A633-453494C06DAE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9074556117564302E-2"/>
                      <c:h val="5.279248513702135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D2F1-408D-A2F7-DB3E496BAE17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9602717068194009E-2"/>
                      <c:h val="5.512371681298968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D2F1-408D-A2F7-DB3E496BAE17}"/>
                </c:ext>
              </c:extLst>
            </c:dLbl>
            <c:dLbl>
              <c:idx val="2"/>
              <c:spPr>
                <a:solidFill>
                  <a:prstClr val="white"/>
                </a:solidFill>
                <a:ln>
                  <a:solidFill>
                    <a:prstClr val="black">
                      <a:lumMod val="25000"/>
                      <a:lumOff val="75000"/>
                    </a:prst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0" i="1" u="none" strike="noStrike" kern="1200" baseline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defRPr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oundRectCallou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3.6833071047222707E-2"/>
                      <c:h val="5.512371681298968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D2F1-408D-A2F7-DB3E496BAE17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87826185716921E-2"/>
                      <c:h val="5.279248513702135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D2F1-408D-A2F7-DB3E496BAE17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19746927510812E-2"/>
                      <c:h val="5.046125346105301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7261-44CC-A633-453494C06DAE}"/>
                </c:ext>
              </c:extLst>
            </c:dLbl>
            <c:dLbl>
              <c:idx val="5"/>
              <c:layout>
                <c:manualLayout>
                  <c:x val="1.1489319551350281E-3"/>
                  <c:y val="5.82807918992076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87826185716921E-2"/>
                      <c:h val="5.745494848895802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7261-44CC-A633-453494C06DAE}"/>
                </c:ext>
              </c:extLst>
            </c:dLbl>
            <c:dLbl>
              <c:idx val="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36776786827618E-2"/>
                      <c:h val="5.279248513702135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D2F1-408D-A2F7-DB3E496BAE17}"/>
                </c:ext>
              </c:extLst>
            </c:dLbl>
            <c:dLbl>
              <c:idx val="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757519321998412E-2"/>
                      <c:h val="4.813002178508467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7261-44CC-A633-453494C06DAE}"/>
                </c:ext>
              </c:extLst>
            </c:dLbl>
            <c:dLbl>
              <c:idx val="8"/>
              <c:layout>
                <c:manualLayout>
                  <c:x val="5.6037126758540017E-4"/>
                  <c:y val="-2.331231675968340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635473107341633E-2"/>
                      <c:h val="4.692916212963704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7261-44CC-A633-453494C06DAE}"/>
                </c:ext>
              </c:extLst>
            </c:dLbl>
            <c:dLbl>
              <c:idx val="9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516034251656817E-2"/>
                      <c:h val="5.046125346105301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7261-44CC-A633-453494C06DAE}"/>
                </c:ext>
              </c:extLst>
            </c:dLbl>
            <c:dLbl>
              <c:idx val="1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4997700712854025E-2"/>
                      <c:h val="5.392285715754206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7261-44CC-A633-453494C06DAE}"/>
                </c:ext>
              </c:extLst>
            </c:dLbl>
            <c:dLbl>
              <c:idx val="1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393988037000034E-2"/>
                      <c:h val="4.926039380560538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E-7261-44CC-A633-453494C06DAE}"/>
                </c:ext>
              </c:extLst>
            </c:dLbl>
            <c:dLbl>
              <c:idx val="1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514730572170832E-2"/>
                      <c:h val="5.159162548157372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D778-4FF7-8BBE-E9E537E63F55}"/>
                </c:ext>
              </c:extLst>
            </c:dLbl>
            <c:dLbl>
              <c:idx val="1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273245501829237E-2"/>
                      <c:h val="4.459793045366870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D778-4FF7-8BBE-E9E537E63F55}"/>
                </c:ext>
              </c:extLst>
            </c:dLbl>
            <c:dLbl>
              <c:idx val="1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7152502966658439E-2"/>
                      <c:h val="4.459793045366870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D778-4FF7-8BBE-E9E537E63F55}"/>
                </c:ext>
              </c:extLst>
            </c:dLbl>
            <c:dLbl>
              <c:idx val="1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031760431487642E-2"/>
                      <c:h val="4.459793045366870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D778-4FF7-8BBE-E9E537E63F55}"/>
                </c:ext>
              </c:extLst>
            </c:dLbl>
            <c:dLbl>
              <c:idx val="1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393988037000034E-2"/>
                      <c:h val="4.926039380560538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C350-4321-B800-1F00D640266A}"/>
                </c:ext>
              </c:extLst>
            </c:dLbl>
            <c:dLbl>
              <c:idx val="1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911017896316844E-2"/>
                      <c:h val="5.392285715754206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5A95-4356-80F4-612E5EB9BB48}"/>
                </c:ext>
              </c:extLst>
            </c:dLbl>
            <c:dLbl>
              <c:idx val="1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7152502966658439E-2"/>
                      <c:h val="5.858532050947875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5A95-4356-80F4-612E5EB9BB48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ound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Tefal</c:v>
                </c:pt>
                <c:pt idx="16">
                  <c:v>Indesit</c:v>
                </c:pt>
                <c:pt idx="17">
                  <c:v>Siemens</c:v>
                </c:pt>
                <c:pt idx="18">
                  <c:v>Delonghi</c:v>
                </c:pt>
              </c:strCache>
            </c:strRef>
          </c:cat>
          <c:val>
            <c:numRef>
              <c:f>Sayfa1!$B$2:$B$20</c:f>
              <c:numCache>
                <c:formatCode>General</c:formatCode>
                <c:ptCount val="19"/>
                <c:pt idx="0">
                  <c:v>103</c:v>
                </c:pt>
                <c:pt idx="1">
                  <c:v>83</c:v>
                </c:pt>
                <c:pt idx="2">
                  <c:v>80</c:v>
                </c:pt>
                <c:pt idx="3">
                  <c:v>45</c:v>
                </c:pt>
                <c:pt idx="4">
                  <c:v>40</c:v>
                </c:pt>
                <c:pt idx="5">
                  <c:v>33</c:v>
                </c:pt>
                <c:pt idx="6">
                  <c:v>22</c:v>
                </c:pt>
                <c:pt idx="7">
                  <c:v>17</c:v>
                </c:pt>
                <c:pt idx="8">
                  <c:v>17</c:v>
                </c:pt>
                <c:pt idx="9">
                  <c:v>15</c:v>
                </c:pt>
                <c:pt idx="10">
                  <c:v>9</c:v>
                </c:pt>
                <c:pt idx="11">
                  <c:v>6</c:v>
                </c:pt>
                <c:pt idx="12">
                  <c:v>6</c:v>
                </c:pt>
                <c:pt idx="13">
                  <c:v>5</c:v>
                </c:pt>
                <c:pt idx="14">
                  <c:v>5</c:v>
                </c:pt>
                <c:pt idx="15">
                  <c:v>4</c:v>
                </c:pt>
                <c:pt idx="16">
                  <c:v>4</c:v>
                </c:pt>
                <c:pt idx="17">
                  <c:v>4</c:v>
                </c:pt>
                <c:pt idx="18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D2F1-408D-A2F7-DB3E496BAE17}"/>
            </c:ext>
          </c:extLst>
        </c:ser>
        <c:ser>
          <c:idx val="1"/>
          <c:order val="1"/>
          <c:tx>
            <c:strRef>
              <c:f>Sayfa1!$C$1</c:f>
              <c:strCache>
                <c:ptCount val="1"/>
                <c:pt idx="0">
                  <c:v>Negatif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dLbl>
              <c:idx val="5"/>
              <c:layout>
                <c:manualLayout>
                  <c:x val="-1.1192423286277382E-3"/>
                  <c:y val="1.869207256408231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DC9-41D5-B1E0-B1C6895EE6D1}"/>
                </c:ext>
              </c:extLst>
            </c:dLbl>
            <c:dLbl>
              <c:idx val="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56279471888467E-2"/>
                      <c:h val="5.587815478056685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3DC9-41D5-B1E0-B1C6895EE6D1}"/>
                </c:ext>
              </c:extLst>
            </c:dLbl>
            <c:dLbl>
              <c:idx val="16"/>
              <c:layout>
                <c:manualLayout>
                  <c:x val="5.6037126758539902E-3"/>
                  <c:y val="-2.331231675968342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A95-4356-80F4-612E5EB9BB48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Tefal</c:v>
                </c:pt>
                <c:pt idx="16">
                  <c:v>Indesit</c:v>
                </c:pt>
                <c:pt idx="17">
                  <c:v>Siemens</c:v>
                </c:pt>
                <c:pt idx="18">
                  <c:v>Delonghi</c:v>
                </c:pt>
              </c:strCache>
            </c:strRef>
          </c:cat>
          <c:val>
            <c:numRef>
              <c:f>Sayfa1!$C$2:$C$20</c:f>
              <c:numCache>
                <c:formatCode>General</c:formatCode>
                <c:ptCount val="19"/>
                <c:pt idx="0">
                  <c:v>9</c:v>
                </c:pt>
                <c:pt idx="1">
                  <c:v>2</c:v>
                </c:pt>
                <c:pt idx="2">
                  <c:v>1</c:v>
                </c:pt>
                <c:pt idx="4">
                  <c:v>1</c:v>
                </c:pt>
                <c:pt idx="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D2F1-408D-A2F7-DB3E496BAE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72803760"/>
        <c:axId val="372807288"/>
      </c:barChart>
      <c:catAx>
        <c:axId val="372803760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72807288"/>
        <c:crosses val="autoZero"/>
        <c:auto val="1"/>
        <c:lblAlgn val="ctr"/>
        <c:lblOffset val="100"/>
        <c:noMultiLvlLbl val="0"/>
      </c:catAx>
      <c:valAx>
        <c:axId val="37280728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72803760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37659720151471443"/>
          <c:y val="0.9039266385254574"/>
          <c:w val="0.31666756826138326"/>
          <c:h val="5.165167357126453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1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defRPr>
          </a:pPr>
          <a:endParaRPr lang="tr-T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826486789618517E-4"/>
          <c:y val="1.8539555176280007E-2"/>
          <c:w val="0.99149743720555472"/>
          <c:h val="0.776125105260253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Yalnızca Firma Adı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770-4B3B-B961-57CDA56E0D09}"/>
              </c:ext>
            </c:extLst>
          </c:dPt>
          <c:dPt>
            <c:idx val="2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770-4B3B-B961-57CDA56E0D09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301-4617-BFD7-2380D289FED4}"/>
              </c:ext>
            </c:extLst>
          </c:dPt>
          <c:dLbls>
            <c:dLbl>
              <c:idx val="0"/>
              <c:layout>
                <c:manualLayout>
                  <c:x val="-5.5775515058335071E-3"/>
                  <c:y val="1.5034067196258505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246761067531055E-2"/>
                      <c:h val="5.410743096798521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3770-4B3B-B961-57CDA56E0D09}"/>
                </c:ext>
              </c:extLst>
            </c:dLbl>
            <c:dLbl>
              <c:idx val="1"/>
              <c:layout>
                <c:manualLayout>
                  <c:x val="-1.2018525551861442E-3"/>
                  <c:y val="4.39295443474914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474768562354918E-2"/>
                      <c:h val="5.306424357594308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3770-4B3B-B961-57CDA56E0D09}"/>
                </c:ext>
              </c:extLst>
            </c:dLbl>
            <c:dLbl>
              <c:idx val="2"/>
              <c:layout>
                <c:manualLayout>
                  <c:x val="3.9042421363550406E-3"/>
                  <c:y val="-3.03245094560746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705789164688317E-2"/>
                      <c:h val="4.632544404443998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3770-4B3B-B961-57CDA56E0D09}"/>
                </c:ext>
              </c:extLst>
            </c:dLbl>
            <c:dLbl>
              <c:idx val="3"/>
              <c:layout>
                <c:manualLayout>
                  <c:x val="1.0603672013972162E-2"/>
                  <c:y val="-7.26053472462718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052320068188425E-2"/>
                      <c:h val="4.183291102343793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3770-4B3B-B961-57CDA56E0D09}"/>
                </c:ext>
              </c:extLst>
            </c:dLbl>
            <c:dLbl>
              <c:idx val="4"/>
              <c:layout>
                <c:manualLayout>
                  <c:x val="-3.9616865250923063E-3"/>
                  <c:y val="-5.615666276252663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7068098126961584E-2"/>
                      <c:h val="4.632544404443998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3770-4B3B-B961-57CDA56E0D09}"/>
                </c:ext>
              </c:extLst>
            </c:dLbl>
            <c:dLbl>
              <c:idx val="5"/>
              <c:layout>
                <c:manualLayout>
                  <c:x val="4.968280859845884E-3"/>
                  <c:y val="-2.94131796769125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454221740961997E-2"/>
                      <c:h val="3.958664451293689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3770-4B3B-B961-57CDA56E0D09}"/>
                </c:ext>
              </c:extLst>
            </c:dLbl>
            <c:dLbl>
              <c:idx val="6"/>
              <c:layout>
                <c:manualLayout>
                  <c:x val="3.9044617249970222E-3"/>
                  <c:y val="-6.717132787602589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4916262945628801E-2"/>
                      <c:h val="4.632544404443998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8301-4617-BFD7-2380D289FED4}"/>
                </c:ext>
              </c:extLst>
            </c:dLbl>
            <c:dLbl>
              <c:idx val="7"/>
              <c:layout>
                <c:manualLayout>
                  <c:x val="6.138424815132674E-3"/>
                  <c:y val="-1.262596337418321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685242343295395E-2"/>
                      <c:h val="4.632544404443998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1E10-415E-A2D1-E4E29ED90A4E}"/>
                </c:ext>
              </c:extLst>
            </c:dLbl>
            <c:dLbl>
              <c:idx val="8"/>
              <c:layout>
                <c:manualLayout>
                  <c:x val="5.0199720261637232E-3"/>
                  <c:y val="-8.984889170625424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454221740961997E-2"/>
                      <c:h val="4.857171055494102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3770-4B3B-B961-57CDA56E0D09}"/>
                </c:ext>
              </c:extLst>
            </c:dLbl>
            <c:dLbl>
              <c:idx val="9"/>
              <c:layout>
                <c:manualLayout>
                  <c:x val="-2.7887318351883595E-3"/>
                  <c:y val="-5.503352950727524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4973134647187804E-2"/>
                      <c:h val="3.734037800243587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8301-4617-BFD7-2380D289FED4}"/>
                </c:ext>
              </c:extLst>
            </c:dLbl>
            <c:dLbl>
              <c:idx val="10"/>
              <c:layout>
                <c:manualLayout>
                  <c:x val="1.0639508880339534E-3"/>
                  <c:y val="-1.936016424983735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818360842812829E-2"/>
                      <c:h val="3.734037800243587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3770-4B3B-B961-57CDA56E0D09}"/>
                </c:ext>
              </c:extLst>
            </c:dLbl>
            <c:dLbl>
              <c:idx val="11"/>
              <c:layout>
                <c:manualLayout>
                  <c:x val="-1.6380873513078288E-3"/>
                  <c:y val="-3.51850233806275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9768335739439275E-2"/>
                      <c:h val="3.95931887539517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3770-4B3B-B961-57CDA56E0D09}"/>
                </c:ext>
              </c:extLst>
            </c:dLbl>
            <c:dLbl>
              <c:idx val="12"/>
              <c:layout>
                <c:manualLayout>
                  <c:x val="0"/>
                  <c:y val="-1.68469988287577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8183608428128287E-2"/>
                      <c:h val="4.183291102343793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37FE-4ABD-99DF-3CB66582C711}"/>
                </c:ext>
              </c:extLst>
            </c:dLbl>
            <c:dLbl>
              <c:idx val="13"/>
              <c:layout>
                <c:manualLayout>
                  <c:x val="6.1353505741452482E-3"/>
                  <c:y val="-1.909326533925876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5992180536295192E-2"/>
                      <c:h val="4.183291102343793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37FE-4ABD-99DF-3CB66582C711}"/>
                </c:ext>
              </c:extLst>
            </c:dLbl>
            <c:dLbl>
              <c:idx val="14"/>
              <c:layout>
                <c:manualLayout>
                  <c:x val="4.4620412046668034E-3"/>
                  <c:y val="-8.2362153930407352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EA5-41B7-90A5-CEE3E919FDE4}"/>
                </c:ext>
              </c:extLst>
            </c:dLbl>
            <c:dLbl>
              <c:idx val="16"/>
              <c:layout>
                <c:manualLayout>
                  <c:x val="4.4620412046668034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F1F-42D9-BC89-FA5E46B90E78}"/>
                </c:ext>
              </c:extLst>
            </c:dLbl>
            <c:dLbl>
              <c:idx val="17"/>
              <c:layout>
                <c:manualLayout>
                  <c:x val="-1.6360628751065506E-16"/>
                  <c:y val="-1.123133255250515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435-45C3-AD79-DF89F77227EA}"/>
                </c:ext>
              </c:extLst>
            </c:dLbl>
            <c:dLbl>
              <c:idx val="18"/>
              <c:layout>
                <c:manualLayout>
                  <c:x val="4.3917728228783509E-8"/>
                  <c:y val="-1.123133255250515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4837077524628182E-2"/>
                      <c:h val="3.509411149193484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2C84-4BC9-8577-BBC70C41B523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90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Sayfa1!$B$2:$B$20</c:f>
              <c:numCache>
                <c:formatCode>#,##0</c:formatCode>
                <c:ptCount val="19"/>
                <c:pt idx="0">
                  <c:v>43</c:v>
                </c:pt>
                <c:pt idx="1">
                  <c:v>16</c:v>
                </c:pt>
                <c:pt idx="2">
                  <c:v>31</c:v>
                </c:pt>
                <c:pt idx="3">
                  <c:v>14</c:v>
                </c:pt>
                <c:pt idx="4">
                  <c:v>6</c:v>
                </c:pt>
                <c:pt idx="5">
                  <c:v>19</c:v>
                </c:pt>
                <c:pt idx="6">
                  <c:v>13</c:v>
                </c:pt>
                <c:pt idx="7">
                  <c:v>10</c:v>
                </c:pt>
                <c:pt idx="8">
                  <c:v>12</c:v>
                </c:pt>
                <c:pt idx="9">
                  <c:v>6</c:v>
                </c:pt>
                <c:pt idx="10">
                  <c:v>1</c:v>
                </c:pt>
                <c:pt idx="11">
                  <c:v>4</c:v>
                </c:pt>
                <c:pt idx="12">
                  <c:v>1</c:v>
                </c:pt>
                <c:pt idx="14" formatCode="General">
                  <c:v>1</c:v>
                </c:pt>
                <c:pt idx="15" formatCode="General">
                  <c:v>4</c:v>
                </c:pt>
                <c:pt idx="16" formatCode="General">
                  <c:v>2</c:v>
                </c:pt>
                <c:pt idx="17" formatCode="General">
                  <c:v>2</c:v>
                </c:pt>
                <c:pt idx="18" formatCode="General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770-4B3B-B961-57CDA56E0D09}"/>
            </c:ext>
          </c:extLst>
        </c:ser>
        <c:ser>
          <c:idx val="1"/>
          <c:order val="1"/>
          <c:tx>
            <c:strRef>
              <c:f>Sayfa1!$C$1</c:f>
              <c:strCache>
                <c:ptCount val="1"/>
                <c:pt idx="0">
                  <c:v>Kısa Bahis</c:v>
                </c:pt>
              </c:strCache>
            </c:strRef>
          </c:tx>
          <c:spPr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3445763889157275E-2"/>
                  <c:y val="6.193947249172507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010213506914935E-2"/>
                      <c:h val="4.988126624342523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3770-4B3B-B961-57CDA56E0D09}"/>
                </c:ext>
              </c:extLst>
            </c:dLbl>
            <c:dLbl>
              <c:idx val="1"/>
              <c:layout>
                <c:manualLayout>
                  <c:x val="1.50060729434821E-2"/>
                  <c:y val="3.193943358002174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229092789727889E-2"/>
                      <c:h val="4.34620732933769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E-3770-4B3B-B961-57CDA56E0D09}"/>
                </c:ext>
              </c:extLst>
            </c:dLbl>
            <c:dLbl>
              <c:idx val="2"/>
              <c:layout>
                <c:manualLayout>
                  <c:x val="1.6711925349699303E-2"/>
                  <c:y val="1.73682387820212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3770-4B3B-B961-57CDA56E0D09}"/>
                </c:ext>
              </c:extLst>
            </c:dLbl>
            <c:dLbl>
              <c:idx val="3"/>
              <c:layout>
                <c:manualLayout>
                  <c:x val="1.7164321869869291E-2"/>
                  <c:y val="-5.13333802632058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369113399439469E-2"/>
                      <c:h val="5.020087282487999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0-3770-4B3B-B961-57CDA56E0D09}"/>
                </c:ext>
              </c:extLst>
            </c:dLbl>
            <c:dLbl>
              <c:idx val="4"/>
              <c:layout>
                <c:manualLayout>
                  <c:x val="8.7233783905804E-4"/>
                  <c:y val="-2.49169323569561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9243518885150218E-2"/>
                      <c:h val="4.308533725657633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1-3770-4B3B-B961-57CDA56E0D09}"/>
                </c:ext>
              </c:extLst>
            </c:dLbl>
            <c:dLbl>
              <c:idx val="5"/>
              <c:layout>
                <c:manualLayout>
                  <c:x val="2.9672134833750316E-3"/>
                  <c:y val="-1.657974617542182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030501038039428E-2"/>
                      <c:h val="4.34620732933769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2-3770-4B3B-B961-57CDA56E0D09}"/>
                </c:ext>
              </c:extLst>
            </c:dLbl>
            <c:dLbl>
              <c:idx val="6"/>
              <c:layout>
                <c:manualLayout>
                  <c:x val="4.8650302803953313E-3"/>
                  <c:y val="-1.5794614125019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2518990904111441E-2"/>
                      <c:h val="2.956528906266305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3-3770-4B3B-B961-57CDA56E0D09}"/>
                </c:ext>
              </c:extLst>
            </c:dLbl>
            <c:dLbl>
              <c:idx val="7"/>
              <c:layout>
                <c:manualLayout>
                  <c:x val="9.5239985791736512E-4"/>
                  <c:y val="1.445896990816484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4727458874560779E-2"/>
                      <c:h val="3.672327376187381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4-3770-4B3B-B961-57CDA56E0D09}"/>
                </c:ext>
              </c:extLst>
            </c:dLbl>
            <c:dLbl>
              <c:idx val="8"/>
              <c:layout>
                <c:manualLayout>
                  <c:x val="9.7787214038495113E-4"/>
                  <c:y val="1.36517289354147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9189500079227581E-2"/>
                      <c:h val="4.570833980387793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5-3770-4B3B-B961-57CDA56E0D09}"/>
                </c:ext>
              </c:extLst>
            </c:dLbl>
            <c:dLbl>
              <c:idx val="9"/>
              <c:layout>
                <c:manualLayout>
                  <c:x val="5.6741705082967615E-5"/>
                  <c:y val="-4.137127672482323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3770-4B3B-B961-57CDA56E0D09}"/>
                </c:ext>
              </c:extLst>
            </c:dLbl>
            <c:dLbl>
              <c:idx val="10"/>
              <c:layout>
                <c:manualLayout>
                  <c:x val="1.0452155851018417E-2"/>
                  <c:y val="-7.395522960911861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2536030982727686E-2"/>
                      <c:h val="3.896954027237484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7-3770-4B3B-B961-57CDA56E0D09}"/>
                </c:ext>
              </c:extLst>
            </c:dLbl>
            <c:dLbl>
              <c:idx val="11"/>
              <c:layout>
                <c:manualLayout>
                  <c:x val="2.310160348896488E-3"/>
                  <c:y val="-5.700210795309394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9189500079227581E-2"/>
                      <c:h val="4.34620732933769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8-3770-4B3B-B961-57CDA56E0D09}"/>
                </c:ext>
              </c:extLst>
            </c:dLbl>
            <c:dLbl>
              <c:idx val="12"/>
              <c:layout>
                <c:manualLayout>
                  <c:x val="7.8086599436236904E-3"/>
                  <c:y val="-4.49251533386419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5882561886227787E-2"/>
                      <c:h val="4.34620732933769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6EA5-41B7-90A5-CEE3E919FDE4}"/>
                </c:ext>
              </c:extLst>
            </c:dLbl>
            <c:dLbl>
              <c:idx val="13"/>
              <c:layout>
                <c:manualLayout>
                  <c:x val="-1.1155103011667008E-3"/>
                  <c:y val="-8.985066042004122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EA5-41B7-90A5-CEE3E919FDE4}"/>
                </c:ext>
              </c:extLst>
            </c:dLbl>
            <c:dLbl>
              <c:idx val="14"/>
              <c:layout>
                <c:manualLayout>
                  <c:x val="1.1155103011667009E-2"/>
                  <c:y val="6.738799531503091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F31-4D0E-9D77-872D1E6F121C}"/>
                </c:ext>
              </c:extLst>
            </c:dLbl>
            <c:dLbl>
              <c:idx val="15"/>
              <c:layout>
                <c:manualLayout>
                  <c:x val="6.6930618070002047E-3"/>
                  <c:y val="-6.738799531503009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E90-48BE-9EF4-0FC9294E2691}"/>
                </c:ext>
              </c:extLst>
            </c:dLbl>
            <c:dLbl>
              <c:idx val="16"/>
              <c:layout>
                <c:manualLayout>
                  <c:x val="1.2270613312833708E-2"/>
                  <c:y val="6.738799531503091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994-49E1-9EAC-EA16142CEFE6}"/>
                </c:ext>
              </c:extLst>
            </c:dLbl>
            <c:dLbl>
              <c:idx val="17"/>
              <c:layout>
                <c:manualLayout>
                  <c:x val="1.6732654517500511E-2"/>
                  <c:y val="-1.347759906300618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77F-43CC-81DA-F3D564DFF97C}"/>
                </c:ext>
              </c:extLst>
            </c:dLbl>
            <c:dLbl>
              <c:idx val="18"/>
              <c:layout>
                <c:manualLayout>
                  <c:x val="7.8085721081669057E-3"/>
                  <c:y val="2.246266510501030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435-45C3-AD79-DF89F77227EA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00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Sayfa1!$C$2:$C$20</c:f>
              <c:numCache>
                <c:formatCode>#,##0</c:formatCode>
                <c:ptCount val="19"/>
                <c:pt idx="0">
                  <c:v>35</c:v>
                </c:pt>
                <c:pt idx="1">
                  <c:v>39</c:v>
                </c:pt>
                <c:pt idx="2">
                  <c:v>31</c:v>
                </c:pt>
                <c:pt idx="3">
                  <c:v>12</c:v>
                </c:pt>
                <c:pt idx="4">
                  <c:v>6</c:v>
                </c:pt>
                <c:pt idx="5">
                  <c:v>7</c:v>
                </c:pt>
                <c:pt idx="6">
                  <c:v>5</c:v>
                </c:pt>
                <c:pt idx="7">
                  <c:v>3</c:v>
                </c:pt>
                <c:pt idx="9">
                  <c:v>4</c:v>
                </c:pt>
                <c:pt idx="11">
                  <c:v>1</c:v>
                </c:pt>
                <c:pt idx="16" formatCode="General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3770-4B3B-B961-57CDA56E0D09}"/>
            </c:ext>
          </c:extLst>
        </c:ser>
        <c:ser>
          <c:idx val="2"/>
          <c:order val="2"/>
          <c:tx>
            <c:strRef>
              <c:f>Sayfa1!$D$1</c:f>
              <c:strCache>
                <c:ptCount val="1"/>
                <c:pt idx="0">
                  <c:v>Dengeli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8.8432737890916345E-4"/>
                  <c:y val="-4.803826647654254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3770-4B3B-B961-57CDA56E0D09}"/>
                </c:ext>
              </c:extLst>
            </c:dLbl>
            <c:dLbl>
              <c:idx val="1"/>
              <c:layout>
                <c:manualLayout>
                  <c:x val="7.22139207956057E-4"/>
                  <c:y val="1.576631470441349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5273862170709264E-2"/>
                      <c:h val="4.539156316448365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C-3770-4B3B-B961-57CDA56E0D09}"/>
                </c:ext>
              </c:extLst>
            </c:dLbl>
            <c:dLbl>
              <c:idx val="2"/>
              <c:layout>
                <c:manualLayout>
                  <c:x val="-2.1933391913727313E-3"/>
                  <c:y val="-2.4160630341302786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3770-4B3B-B961-57CDA56E0D09}"/>
                </c:ext>
              </c:extLst>
            </c:dLbl>
            <c:dLbl>
              <c:idx val="3"/>
              <c:layout>
                <c:manualLayout>
                  <c:x val="3.4738923158380331E-5"/>
                  <c:y val="-3.08499058867393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158351869542558E-2"/>
                      <c:h val="3.416023061197850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E-3770-4B3B-B961-57CDA56E0D09}"/>
                </c:ext>
              </c:extLst>
            </c:dLbl>
            <c:dLbl>
              <c:idx val="4"/>
              <c:layout>
                <c:manualLayout>
                  <c:x val="3.9467105797105009E-3"/>
                  <c:y val="-5.420922044647288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12637308777819E-2"/>
                      <c:h val="3.841876279885514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F-3770-4B3B-B961-57CDA56E0D09}"/>
                </c:ext>
              </c:extLst>
            </c:dLbl>
            <c:dLbl>
              <c:idx val="5"/>
              <c:layout>
                <c:manualLayout>
                  <c:x val="9.2374793191417007E-3"/>
                  <c:y val="-2.93709074173843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6349779761375659E-2"/>
                      <c:h val="3.64064971224795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0-3770-4B3B-B961-57CDA56E0D09}"/>
                </c:ext>
              </c:extLst>
            </c:dLbl>
            <c:dLbl>
              <c:idx val="6"/>
              <c:layout>
                <c:manualLayout>
                  <c:x val="6.1786973720685768E-3"/>
                  <c:y val="-1.06186500964126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042841568375862E-2"/>
                      <c:h val="3.416023061197850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1-3770-4B3B-B961-57CDA56E0D09}"/>
                </c:ext>
              </c:extLst>
            </c:dLbl>
            <c:dLbl>
              <c:idx val="7"/>
              <c:layout>
                <c:manualLayout>
                  <c:x val="7.6196819583512375E-3"/>
                  <c:y val="-8.334356239473941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3003248857875552E-2"/>
                      <c:h val="3.865276363298057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2-3770-4B3B-B961-57CDA56E0D09}"/>
                </c:ext>
              </c:extLst>
            </c:dLbl>
            <c:dLbl>
              <c:idx val="8"/>
              <c:layout>
                <c:manualLayout>
                  <c:x val="-5.5969192240545463E-3"/>
                  <c:y val="-8.813147061830346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9696310664875757E-2"/>
                      <c:h val="3.416023061197850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3-3770-4B3B-B961-57CDA56E0D09}"/>
                </c:ext>
              </c:extLst>
            </c:dLbl>
            <c:dLbl>
              <c:idx val="9"/>
              <c:layout>
                <c:manualLayout>
                  <c:x val="4.2336690170263763E-5"/>
                  <c:y val="-2.79149022272705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3770-4B3B-B961-57CDA56E0D09}"/>
                </c:ext>
              </c:extLst>
            </c:dLbl>
            <c:dLbl>
              <c:idx val="10"/>
              <c:layout>
                <c:manualLayout>
                  <c:x val="2.1831941961140892E-3"/>
                  <c:y val="-2.339937592702727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1927331267209155E-2"/>
                      <c:h val="3.416023061197850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5-3770-4B3B-B961-57CDA56E0D09}"/>
                </c:ext>
              </c:extLst>
            </c:dLbl>
            <c:dLbl>
              <c:idx val="11"/>
              <c:layout>
                <c:manualLayout>
                  <c:x val="7.2029466336357671E-3"/>
                  <c:y val="6.013980621264254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081182096604246E-2"/>
                      <c:h val="4.763782967498469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6-3770-4B3B-B961-57CDA56E0D09}"/>
                </c:ext>
              </c:extLst>
            </c:dLbl>
            <c:dLbl>
              <c:idx val="12"/>
              <c:layout>
                <c:manualLayout>
                  <c:x val="2.2310206023334017E-3"/>
                  <c:y val="-2.02163985945093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DD9-4A4C-88D0-C05F60B2001C}"/>
                </c:ext>
              </c:extLst>
            </c:dLbl>
            <c:dLbl>
              <c:idx val="13"/>
              <c:layout>
                <c:manualLayout>
                  <c:x val="5.5775515058335045E-3"/>
                  <c:y val="-1.12313325525052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8A4-4F38-8ABC-D2204788E93C}"/>
                </c:ext>
              </c:extLst>
            </c:dLbl>
            <c:dLbl>
              <c:idx val="14"/>
              <c:layout>
                <c:manualLayout>
                  <c:x val="1.450163391516711E-2"/>
                  <c:y val="1.347759906300618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663-4869-AAC4-F982A3E926EA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05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Sayfa1!$D$2:$D$20</c:f>
              <c:numCache>
                <c:formatCode>#,##0</c:formatCode>
                <c:ptCount val="19"/>
                <c:pt idx="0">
                  <c:v>16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7</c:v>
                </c:pt>
                <c:pt idx="5">
                  <c:v>4</c:v>
                </c:pt>
                <c:pt idx="6">
                  <c:v>1</c:v>
                </c:pt>
                <c:pt idx="7">
                  <c:v>2</c:v>
                </c:pt>
                <c:pt idx="8">
                  <c:v>1</c:v>
                </c:pt>
                <c:pt idx="9">
                  <c:v>2</c:v>
                </c:pt>
                <c:pt idx="10">
                  <c:v>6</c:v>
                </c:pt>
                <c:pt idx="11">
                  <c:v>1</c:v>
                </c:pt>
                <c:pt idx="12">
                  <c:v>1</c:v>
                </c:pt>
                <c:pt idx="17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9-3770-4B3B-B961-57CDA56E0D09}"/>
            </c:ext>
          </c:extLst>
        </c:ser>
        <c:ser>
          <c:idx val="3"/>
          <c:order val="3"/>
          <c:tx>
            <c:strRef>
              <c:f>Sayfa1!$E$1</c:f>
              <c:strCache>
                <c:ptCount val="1"/>
                <c:pt idx="0">
                  <c:v>Baskın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151522838448256E-4"/>
                  <c:y val="-1.792414552552637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301-4617-BFD7-2380D289FED4}"/>
                </c:ext>
              </c:extLst>
            </c:dLbl>
            <c:dLbl>
              <c:idx val="2"/>
              <c:layout>
                <c:manualLayout>
                  <c:x val="-1.1155103011667236E-3"/>
                  <c:y val="4.492533021002059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081182096604246E-2"/>
                      <c:h val="4.539156316448365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8301-4617-BFD7-2380D289FED4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8580800363709057E-2"/>
                      <c:h val="3.64064971224795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5994-49E1-9EAC-EA16142CEFE6}"/>
                </c:ext>
              </c:extLst>
            </c:dLbl>
            <c:dLbl>
              <c:idx val="9"/>
              <c:layout>
                <c:manualLayout>
                  <c:x val="4.4620412046668034E-3"/>
                  <c:y val="-8.2362153930407352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EA5-41B7-90A5-CEE3E919FDE4}"/>
                </c:ext>
              </c:extLst>
            </c:dLbl>
            <c:dLbl>
              <c:idx val="11"/>
              <c:layout>
                <c:manualLayout>
                  <c:x val="-8.1803143755327529E-17"/>
                  <c:y val="-5.166412974152386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435-45C3-AD79-DF89F77227EA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05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Sayfa1!$E$2:$E$20</c:f>
              <c:numCache>
                <c:formatCode>#,##0</c:formatCode>
                <c:ptCount val="19"/>
              </c:numCache>
            </c:numRef>
          </c:val>
          <c:extLst>
            <c:ext xmlns:c16="http://schemas.microsoft.com/office/drawing/2014/chart" uri="{C3380CC4-5D6E-409C-BE32-E72D297353CC}">
              <c16:uniqueId val="{0000002A-3770-4B3B-B961-57CDA56E0D09}"/>
            </c:ext>
          </c:extLst>
        </c:ser>
        <c:ser>
          <c:idx val="4"/>
          <c:order val="4"/>
          <c:tx>
            <c:strRef>
              <c:f>Sayfa1!$F$1</c:f>
              <c:strCache>
                <c:ptCount val="1"/>
                <c:pt idx="0">
                  <c:v>Firmaya Özel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4.4527306462476216E-3"/>
                  <c:y val="-4.555145489090051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301-4617-BFD7-2380D289FED4}"/>
                </c:ext>
              </c:extLst>
            </c:dLbl>
            <c:dLbl>
              <c:idx val="1"/>
              <c:layout>
                <c:manualLayout>
                  <c:x val="-7.3370274584178162E-3"/>
                  <c:y val="-1.68191415866000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966923977709463E-2"/>
                      <c:h val="5.437662920648777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B-3770-4B3B-B961-57CDA56E0D09}"/>
                </c:ext>
              </c:extLst>
            </c:dLbl>
            <c:dLbl>
              <c:idx val="2"/>
              <c:layout>
                <c:manualLayout>
                  <c:x val="-5.5775515058335045E-3"/>
                  <c:y val="-2.2462665105011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96692397770947E-2"/>
                      <c:h val="5.437662920648778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C-3770-4B3B-B961-57CDA56E0D09}"/>
                </c:ext>
              </c:extLst>
            </c:dLbl>
            <c:dLbl>
              <c:idx val="3"/>
              <c:layout>
                <c:manualLayout>
                  <c:x val="2.3782767456330847E-3"/>
                  <c:y val="-1.04957244881608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754447548354297E-2"/>
                      <c:h val="4.08990301434816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1E10-415E-A2D1-E4E29ED90A4E}"/>
                </c:ext>
              </c:extLst>
            </c:dLbl>
            <c:dLbl>
              <c:idx val="4"/>
              <c:layout>
                <c:manualLayout>
                  <c:x val="-1.0548160005284177E-3"/>
                  <c:y val="-2.8622741485146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313454881209572E-2"/>
                      <c:h val="5.437662920648778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D-3770-4B3B-B961-57CDA56E0D09}"/>
                </c:ext>
              </c:extLst>
            </c:dLbl>
            <c:dLbl>
              <c:idx val="5"/>
              <c:layout>
                <c:manualLayout>
                  <c:x val="-1.1415095963750366E-3"/>
                  <c:y val="-1.082452838131287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158351869542564E-2"/>
                      <c:h val="3.865276363298057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E-3770-4B3B-B961-57CDA56E0D09}"/>
                </c:ext>
              </c:extLst>
            </c:dLbl>
            <c:dLbl>
              <c:idx val="6"/>
              <c:layout>
                <c:manualLayout>
                  <c:x val="-2.8166635104459195E-3"/>
                  <c:y val="-2.20984869361030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4293333886111138E-2"/>
                      <c:h val="4.746113516758386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F-3770-4B3B-B961-57CDA56E0D09}"/>
                </c:ext>
              </c:extLst>
            </c:dLbl>
            <c:dLbl>
              <c:idx val="7"/>
              <c:layout>
                <c:manualLayout>
                  <c:x val="1.4257012168020682E-3"/>
                  <c:y val="-1.61220030471401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7465290062542355E-2"/>
                      <c:h val="4.539156316448365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8301-4617-BFD7-2380D289FED4}"/>
                </c:ext>
              </c:extLst>
            </c:dLbl>
            <c:dLbl>
              <c:idx val="8"/>
              <c:layout>
                <c:manualLayout>
                  <c:x val="-8.4022519605753132E-3"/>
                  <c:y val="-5.15155577833488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5273862170709264E-2"/>
                      <c:h val="3.64064971224795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31-3770-4B3B-B961-57CDA56E0D09}"/>
                </c:ext>
              </c:extLst>
            </c:dLbl>
            <c:dLbl>
              <c:idx val="9"/>
              <c:layout>
                <c:manualLayout>
                  <c:x val="-2.2822286736390099E-3"/>
                  <c:y val="-7.531183308435739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3770-4B3B-B961-57CDA56E0D09}"/>
                </c:ext>
              </c:extLst>
            </c:dLbl>
            <c:dLbl>
              <c:idx val="10"/>
              <c:layout>
                <c:manualLayout>
                  <c:x val="-2.7597461344493822E-3"/>
                  <c:y val="3.87843559387926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081182096604246E-2"/>
                      <c:h val="4.314529665398263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33-3770-4B3B-B961-57CDA56E0D09}"/>
                </c:ext>
              </c:extLst>
            </c:dLbl>
            <c:dLbl>
              <c:idx val="11"/>
              <c:layout>
                <c:manualLayout>
                  <c:x val="1.6408102504680768E-3"/>
                  <c:y val="-1.20320292842403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042841568375862E-2"/>
                      <c:h val="3.865276363298057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34-3770-4B3B-B961-57CDA56E0D09}"/>
                </c:ext>
              </c:extLst>
            </c:dLbl>
            <c:dLbl>
              <c:idx val="12"/>
              <c:layout>
                <c:manualLayout>
                  <c:x val="-1.115422465709916E-3"/>
                  <c:y val="2.246266510501030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158351869542564E-2"/>
                      <c:h val="4.98840961854857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B663-4869-AAC4-F982A3E926EA}"/>
                </c:ext>
              </c:extLst>
            </c:dLbl>
            <c:dLbl>
              <c:idx val="1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9696310664875757E-2"/>
                      <c:h val="4.98840961854857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67B9-4236-B8BD-EB1EB12E71DC}"/>
                </c:ext>
              </c:extLst>
            </c:dLbl>
            <c:dLbl>
              <c:idx val="14"/>
              <c:layout>
                <c:manualLayout>
                  <c:x val="-4.4620412046668034E-3"/>
                  <c:y val="-3.59402641680164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E90-48BE-9EF4-0FC9294E2691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05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Sayfa1!$F$2:$F$20</c:f>
              <c:numCache>
                <c:formatCode>#,##0</c:formatCode>
                <c:ptCount val="19"/>
                <c:pt idx="0">
                  <c:v>18</c:v>
                </c:pt>
                <c:pt idx="1">
                  <c:v>26</c:v>
                </c:pt>
                <c:pt idx="2">
                  <c:v>13</c:v>
                </c:pt>
                <c:pt idx="3">
                  <c:v>11</c:v>
                </c:pt>
                <c:pt idx="4">
                  <c:v>22</c:v>
                </c:pt>
                <c:pt idx="5">
                  <c:v>3</c:v>
                </c:pt>
                <c:pt idx="6">
                  <c:v>6</c:v>
                </c:pt>
                <c:pt idx="7">
                  <c:v>2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2" formatCode="General">
                  <c:v>4</c:v>
                </c:pt>
                <c:pt idx="13" formatCode="General">
                  <c:v>5</c:v>
                </c:pt>
                <c:pt idx="14" formatCode="General">
                  <c:v>4</c:v>
                </c:pt>
                <c:pt idx="17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6-3770-4B3B-B961-57CDA56E0D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07186496"/>
        <c:axId val="307175128"/>
      </c:barChart>
      <c:catAx>
        <c:axId val="307186496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07175128"/>
        <c:crosses val="autoZero"/>
        <c:auto val="1"/>
        <c:lblAlgn val="ctr"/>
        <c:lblOffset val="100"/>
        <c:noMultiLvlLbl val="0"/>
      </c:catAx>
      <c:valAx>
        <c:axId val="307175128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307186496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14501974313027005"/>
          <c:y val="0.89255720996041621"/>
          <c:w val="0.65551569627273654"/>
          <c:h val="5.359034177282995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1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defRPr>
          </a:pPr>
          <a:endParaRPr lang="tr-T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3740365111946262E-3"/>
          <c:y val="2.5577142639531827E-2"/>
          <c:w val="0.99149743720555472"/>
          <c:h val="0.776125105260253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Görselde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D56-4359-8288-2AE8D6479C1F}"/>
              </c:ext>
            </c:extLst>
          </c:dPt>
          <c:dPt>
            <c:idx val="2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D56-4359-8288-2AE8D6479C1F}"/>
              </c:ext>
            </c:extLst>
          </c:dPt>
          <c:dPt>
            <c:idx val="9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5D56-4359-8288-2AE8D6479C1F}"/>
              </c:ext>
            </c:extLst>
          </c:dPt>
          <c:dLbls>
            <c:dLbl>
              <c:idx val="0"/>
              <c:layout>
                <c:manualLayout>
                  <c:x val="2.2284998458474712E-3"/>
                  <c:y val="-2.345843885012926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D56-4359-8288-2AE8D6479C1F}"/>
                </c:ext>
              </c:extLst>
            </c:dLbl>
            <c:dLbl>
              <c:idx val="1"/>
              <c:layout>
                <c:manualLayout>
                  <c:x val="-5.5699335714026917E-4"/>
                  <c:y val="-1.87667510801041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4159305452051196E-2"/>
                      <c:h val="5.67871543805402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5D56-4359-8288-2AE8D6479C1F}"/>
                </c:ext>
              </c:extLst>
            </c:dLbl>
            <c:dLbl>
              <c:idx val="2"/>
              <c:layout>
                <c:manualLayout>
                  <c:x val="3.9683089774675566E-4"/>
                  <c:y val="-6.3337784895351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D56-4359-8288-2AE8D6479C1F}"/>
                </c:ext>
              </c:extLst>
            </c:dLbl>
            <c:dLbl>
              <c:idx val="3"/>
              <c:layout>
                <c:manualLayout>
                  <c:x val="5.9125434886478714E-4"/>
                  <c:y val="-3.51876582751960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663614967166476E-2"/>
                      <c:h val="4.036624718544912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5D56-4359-8288-2AE8D6479C1F}"/>
                </c:ext>
              </c:extLst>
            </c:dLbl>
            <c:dLbl>
              <c:idx val="4"/>
              <c:layout>
                <c:manualLayout>
                  <c:x val="2.7173660325034601E-3"/>
                  <c:y val="-7.0375316550390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4159305452051196E-2"/>
                      <c:h val="5.209546661051418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5D56-4359-8288-2AE8D6479C1F}"/>
                </c:ext>
              </c:extLst>
            </c:dLbl>
            <c:dLbl>
              <c:idx val="5"/>
              <c:layout>
                <c:manualLayout>
                  <c:x val="-1.6711994119567976E-3"/>
                  <c:y val="8.210453597545545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8559806531118894E-2"/>
                      <c:h val="4.974962272550117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5D56-4359-8288-2AE8D6479C1F}"/>
                </c:ext>
              </c:extLst>
            </c:dLbl>
            <c:dLbl>
              <c:idx val="6"/>
              <c:layout>
                <c:manualLayout>
                  <c:x val="-2.2626292332504111E-3"/>
                  <c:y val="-9.383375540052137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D56-4359-8288-2AE8D6479C1F}"/>
                </c:ext>
              </c:extLst>
            </c:dLbl>
            <c:dLbl>
              <c:idx val="7"/>
              <c:layout>
                <c:manualLayout>
                  <c:x val="2.2626292332504111E-3"/>
                  <c:y val="-6.568362878036444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5D56-4359-8288-2AE8D6479C1F}"/>
                </c:ext>
              </c:extLst>
            </c:dLbl>
            <c:dLbl>
              <c:idx val="8"/>
              <c:layout>
                <c:manualLayout>
                  <c:x val="0"/>
                  <c:y val="-9.38337554005205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D56-4359-8288-2AE8D6479C1F}"/>
                </c:ext>
              </c:extLst>
            </c:dLbl>
            <c:dLbl>
              <c:idx val="9"/>
              <c:layout>
                <c:manualLayout>
                  <c:x val="-2.2284998458474712E-3"/>
                  <c:y val="-9.38337554005196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5D56-4359-8288-2AE8D6479C1F}"/>
                </c:ext>
              </c:extLst>
            </c:dLbl>
            <c:dLbl>
              <c:idx val="10"/>
              <c:layout>
                <c:manualLayout>
                  <c:x val="5.7420720240621836E-3"/>
                  <c:y val="4.691687770025939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5D56-4359-8288-2AE8D6479C1F}"/>
                </c:ext>
              </c:extLst>
            </c:dLbl>
            <c:dLbl>
              <c:idx val="11"/>
              <c:layout>
                <c:manualLayout>
                  <c:x val="1.1142499229237356E-3"/>
                  <c:y val="2.345843885012926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5D56-4359-8288-2AE8D6479C1F}"/>
                </c:ext>
              </c:extLst>
            </c:dLbl>
            <c:dLbl>
              <c:idx val="12"/>
              <c:layout>
                <c:manualLayout>
                  <c:x val="-1.1142499229236538E-3"/>
                  <c:y val="-2.111259496511711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77E-476F-8AE7-A236C0D0BAA2}"/>
                </c:ext>
              </c:extLst>
            </c:dLbl>
            <c:dLbl>
              <c:idx val="13"/>
              <c:layout>
                <c:manualLayout>
                  <c:x val="-1.1142499229238991E-3"/>
                  <c:y val="-9.38337554005205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77E-476F-8AE7-A236C0D0BAA2}"/>
                </c:ext>
              </c:extLst>
            </c:dLbl>
            <c:dLbl>
              <c:idx val="14"/>
              <c:layout>
                <c:manualLayout>
                  <c:x val="0"/>
                  <c:y val="-3.284181439018218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314-49AC-B209-9AEC58F4C00A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05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Sayfa1!$B$2:$B$20</c:f>
              <c:numCache>
                <c:formatCode>#,##0</c:formatCode>
                <c:ptCount val="19"/>
                <c:pt idx="0">
                  <c:v>16</c:v>
                </c:pt>
                <c:pt idx="1">
                  <c:v>28</c:v>
                </c:pt>
                <c:pt idx="2">
                  <c:v>9</c:v>
                </c:pt>
                <c:pt idx="3">
                  <c:v>9</c:v>
                </c:pt>
                <c:pt idx="4">
                  <c:v>15</c:v>
                </c:pt>
                <c:pt idx="5">
                  <c:v>8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  <c:pt idx="9">
                  <c:v>3</c:v>
                </c:pt>
                <c:pt idx="10">
                  <c:v>8</c:v>
                </c:pt>
                <c:pt idx="11">
                  <c:v>1</c:v>
                </c:pt>
                <c:pt idx="12">
                  <c:v>2</c:v>
                </c:pt>
                <c:pt idx="13" formatCode="General">
                  <c:v>2</c:v>
                </c:pt>
                <c:pt idx="14" formatCode="General">
                  <c:v>3</c:v>
                </c:pt>
                <c:pt idx="17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5D56-4359-8288-2AE8D6479C1F}"/>
            </c:ext>
          </c:extLst>
        </c:ser>
        <c:ser>
          <c:idx val="1"/>
          <c:order val="1"/>
          <c:tx>
            <c:strRef>
              <c:f>Sayfa1!$C$1</c:f>
              <c:strCache>
                <c:ptCount val="1"/>
                <c:pt idx="0">
                  <c:v>Başlık/Alt Başlık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4.4569996916949423E-3"/>
                  <c:y val="-1.407506331007816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5D56-4359-8288-2AE8D6479C1F}"/>
                </c:ext>
              </c:extLst>
            </c:dLbl>
            <c:dLbl>
              <c:idx val="1"/>
              <c:layout>
                <c:manualLayout>
                  <c:x val="7.2767538864072223E-3"/>
                  <c:y val="-1.055629748255856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34911450470889E-2"/>
                      <c:h val="4.974962272550117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1-5D56-4359-8288-2AE8D6479C1F}"/>
                </c:ext>
              </c:extLst>
            </c:dLbl>
            <c:dLbl>
              <c:idx val="2"/>
              <c:layout>
                <c:manualLayout>
                  <c:x val="1.1142499229237152E-3"/>
                  <c:y val="-3.284181439018218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5D56-4359-8288-2AE8D6479C1F}"/>
                </c:ext>
              </c:extLst>
            </c:dLbl>
            <c:dLbl>
              <c:idx val="3"/>
              <c:layout>
                <c:manualLayout>
                  <c:x val="2.0427679271307715E-17"/>
                  <c:y val="-2.345843885013099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5D56-4359-8288-2AE8D6479C1F}"/>
                </c:ext>
              </c:extLst>
            </c:dLbl>
            <c:dLbl>
              <c:idx val="4"/>
              <c:layout>
                <c:manualLayout>
                  <c:x val="1.0028337042528025E-2"/>
                  <c:y val="2.7706817530922449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3045055529127461E-2"/>
                      <c:h val="4.740377884048815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4-5D56-4359-8288-2AE8D6479C1F}"/>
                </c:ext>
              </c:extLst>
            </c:dLbl>
            <c:dLbl>
              <c:idx val="5"/>
              <c:layout>
                <c:manualLayout>
                  <c:x val="-2.2283682415258662E-3"/>
                  <c:y val="-1.290214136757148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7445556608195155E-2"/>
                      <c:h val="3.567455941542309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5-5D56-4359-8288-2AE8D6479C1F}"/>
                </c:ext>
              </c:extLst>
            </c:dLbl>
            <c:dLbl>
              <c:idx val="6"/>
              <c:layout>
                <c:manualLayout>
                  <c:x val="2.8539713183296216E-3"/>
                  <c:y val="-3.04958781491107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8559806531118894E-2"/>
                      <c:h val="4.740377884048815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6-5D56-4359-8288-2AE8D6479C1F}"/>
                </c:ext>
              </c:extLst>
            </c:dLbl>
            <c:dLbl>
              <c:idx val="7"/>
              <c:layout>
                <c:manualLayout>
                  <c:x val="-5.5708109335466478E-4"/>
                  <c:y val="-1.05562974825586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6331306685271423E-2"/>
                      <c:h val="4.036624718544912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7-5D56-4359-8288-2AE8D6479C1F}"/>
                </c:ext>
              </c:extLst>
            </c:dLbl>
            <c:dLbl>
              <c:idx val="8"/>
              <c:layout>
                <c:manualLayout>
                  <c:x val="-4.4228703042920843E-3"/>
                  <c:y val="-4.22251899302343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5D56-4359-8288-2AE8D6479C1F}"/>
                </c:ext>
              </c:extLst>
            </c:dLbl>
            <c:dLbl>
              <c:idx val="9"/>
              <c:layout>
                <c:manualLayout>
                  <c:x val="2.2284998458473896E-3"/>
                  <c:y val="-2.345843885012926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5D56-4359-8288-2AE8D6479C1F}"/>
                </c:ext>
              </c:extLst>
            </c:dLbl>
            <c:dLbl>
              <c:idx val="10"/>
              <c:layout>
                <c:manualLayout>
                  <c:x val="4.4569996916949423E-3"/>
                  <c:y val="-9.383375540052137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5D56-4359-8288-2AE8D6479C1F}"/>
                </c:ext>
              </c:extLst>
            </c:dLbl>
            <c:dLbl>
              <c:idx val="11"/>
              <c:layout>
                <c:manualLayout>
                  <c:x val="5.5712496146186783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5D56-4359-8288-2AE8D6479C1F}"/>
                </c:ext>
              </c:extLst>
            </c:dLbl>
            <c:dLbl>
              <c:idx val="12"/>
              <c:layout>
                <c:manualLayout>
                  <c:x val="3.3427497687712067E-3"/>
                  <c:y val="-1.407506331007807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1C1-4BD1-9271-C4FF20D4F6FF}"/>
                </c:ext>
              </c:extLst>
            </c:dLbl>
            <c:dLbl>
              <c:idx val="13"/>
              <c:layout>
                <c:manualLayout>
                  <c:x val="0"/>
                  <c:y val="-3.98793460452213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CC9-4955-8E72-07335CF66D1C}"/>
                </c:ext>
              </c:extLst>
            </c:dLbl>
            <c:dLbl>
              <c:idx val="14"/>
              <c:layout>
                <c:manualLayout>
                  <c:x val="-4.4569996916949423E-3"/>
                  <c:y val="-7.037531655038953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A47-446C-BBBD-A452959ECD2E}"/>
                </c:ext>
              </c:extLst>
            </c:dLbl>
            <c:dLbl>
              <c:idx val="15"/>
              <c:layout>
                <c:manualLayout>
                  <c:x val="6.6854995375422504E-3"/>
                  <c:y val="-2.81501266201562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1C1-4BD1-9271-C4FF20D4F6FF}"/>
                </c:ext>
              </c:extLst>
            </c:dLbl>
            <c:dLbl>
              <c:idx val="16"/>
              <c:layout>
                <c:manualLayout>
                  <c:x val="3.3427497687710437E-3"/>
                  <c:y val="-2.345843885013099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F49-45E2-946A-C47C3D6EA987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05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Sayfa1!$C$2:$C$20</c:f>
              <c:numCache>
                <c:formatCode>#,##0</c:formatCode>
                <c:ptCount val="19"/>
                <c:pt idx="0">
                  <c:v>11</c:v>
                </c:pt>
                <c:pt idx="1">
                  <c:v>13</c:v>
                </c:pt>
                <c:pt idx="2">
                  <c:v>7</c:v>
                </c:pt>
                <c:pt idx="3">
                  <c:v>5</c:v>
                </c:pt>
                <c:pt idx="4">
                  <c:v>10</c:v>
                </c:pt>
                <c:pt idx="6">
                  <c:v>3</c:v>
                </c:pt>
                <c:pt idx="7">
                  <c:v>1</c:v>
                </c:pt>
                <c:pt idx="8">
                  <c:v>3</c:v>
                </c:pt>
                <c:pt idx="9">
                  <c:v>1</c:v>
                </c:pt>
                <c:pt idx="12">
                  <c:v>2</c:v>
                </c:pt>
                <c:pt idx="13">
                  <c:v>1</c:v>
                </c:pt>
                <c:pt idx="14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D-5D56-4359-8288-2AE8D6479C1F}"/>
            </c:ext>
          </c:extLst>
        </c:ser>
        <c:ser>
          <c:idx val="2"/>
          <c:order val="2"/>
          <c:tx>
            <c:strRef>
              <c:f>Sayfa1!$D$1</c:f>
              <c:strCache>
                <c:ptCount val="1"/>
                <c:pt idx="0">
                  <c:v>Üstte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1141621867093322E-3"/>
                  <c:y val="-1.17293117811235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273555374974931E-2"/>
                      <c:h val="4.740377884048815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E-5D56-4359-8288-2AE8D6479C1F}"/>
                </c:ext>
              </c:extLst>
            </c:dLbl>
            <c:dLbl>
              <c:idx val="1"/>
              <c:layout>
                <c:manualLayout>
                  <c:x val="5.5725656578346273E-4"/>
                  <c:y val="-1.055629748255864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4102806839423949E-2"/>
                      <c:h val="4.505793495547515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F-5D56-4359-8288-2AE8D6479C1F}"/>
                </c:ext>
              </c:extLst>
            </c:dLbl>
            <c:dLbl>
              <c:idx val="2"/>
              <c:layout>
                <c:manualLayout>
                  <c:x val="-1.1142499229237562E-3"/>
                  <c:y val="-1.079402197704767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5D56-4359-8288-2AE8D6479C1F}"/>
                </c:ext>
              </c:extLst>
            </c:dLbl>
            <c:dLbl>
              <c:idx val="3"/>
              <c:layout>
                <c:manualLayout>
                  <c:x val="-3.4041651188577028E-5"/>
                  <c:y val="-1.290214136757157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5217056762347688E-2"/>
                      <c:h val="3.567455941542309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1-5D56-4359-8288-2AE8D6479C1F}"/>
                </c:ext>
              </c:extLst>
            </c:dLbl>
            <c:dLbl>
              <c:idx val="4"/>
              <c:layout>
                <c:manualLayout>
                  <c:x val="1.2509429449643009E-3"/>
                  <c:y val="-7.037531655038953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5D56-4359-8288-2AE8D6479C1F}"/>
                </c:ext>
              </c:extLst>
            </c:dLbl>
            <c:dLbl>
              <c:idx val="5"/>
              <c:layout>
                <c:manualLayout>
                  <c:x val="6.8346511020282689E-5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5D56-4359-8288-2AE8D6479C1F}"/>
                </c:ext>
              </c:extLst>
            </c:dLbl>
            <c:dLbl>
              <c:idx val="6"/>
              <c:layout>
                <c:manualLayout>
                  <c:x val="-5.6395961256389612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5D56-4359-8288-2AE8D6479C1F}"/>
                </c:ext>
              </c:extLst>
            </c:dLbl>
            <c:dLbl>
              <c:idx val="7"/>
              <c:layout>
                <c:manualLayout>
                  <c:x val="1.3192894559845021E-3"/>
                  <c:y val="4.691687770026025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5D56-4359-8288-2AE8D6479C1F}"/>
                </c:ext>
              </c:extLst>
            </c:dLbl>
            <c:dLbl>
              <c:idx val="8"/>
              <c:layout>
                <c:manualLayout>
                  <c:x val="-2.1260239474242492E-3"/>
                  <c:y val="-1.40750633100779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5D56-4359-8288-2AE8D6479C1F}"/>
                </c:ext>
              </c:extLst>
            </c:dLbl>
            <c:dLbl>
              <c:idx val="9"/>
              <c:layout>
                <c:manualLayout>
                  <c:x val="-6.6854995375424135E-3"/>
                  <c:y val="-9.383375540052137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5D56-4359-8288-2AE8D6479C1F}"/>
                </c:ext>
              </c:extLst>
            </c:dLbl>
            <c:dLbl>
              <c:idx val="10"/>
              <c:layout>
                <c:manualLayout>
                  <c:x val="-1.3336869687681888E-2"/>
                  <c:y val="-5.63002532403123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5D56-4359-8288-2AE8D6479C1F}"/>
                </c:ext>
              </c:extLst>
            </c:dLbl>
            <c:dLbl>
              <c:idx val="11"/>
              <c:layout>
                <c:manualLayout>
                  <c:x val="3.513572178214712E-3"/>
                  <c:y val="-2.345843885013099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5D56-4359-8288-2AE8D6479C1F}"/>
                </c:ext>
              </c:extLst>
            </c:dLbl>
            <c:dLbl>
              <c:idx val="12"/>
              <c:layout>
                <c:manualLayout>
                  <c:x val="-6.6854995375424959E-3"/>
                  <c:y val="-2.345843885013012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909-421C-93D3-F752CAE4BE9F}"/>
                </c:ext>
              </c:extLst>
            </c:dLbl>
            <c:dLbl>
              <c:idx val="13"/>
              <c:layout>
                <c:manualLayout>
                  <c:x val="-3.3427497687712067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F34-4871-9CAB-05F75166A189}"/>
                </c:ext>
              </c:extLst>
            </c:dLbl>
            <c:dLbl>
              <c:idx val="15"/>
              <c:layout>
                <c:manualLayout>
                  <c:x val="-3.3427497687712067E-3"/>
                  <c:y val="-2.345843885013012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260-463D-AF58-238F1A492254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05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Sayfa1!$D$2:$D$20</c:f>
              <c:numCache>
                <c:formatCode>#,##0</c:formatCode>
                <c:ptCount val="19"/>
                <c:pt idx="0">
                  <c:v>4</c:v>
                </c:pt>
                <c:pt idx="1">
                  <c:v>3</c:v>
                </c:pt>
                <c:pt idx="2">
                  <c:v>5</c:v>
                </c:pt>
                <c:pt idx="3">
                  <c:v>1</c:v>
                </c:pt>
                <c:pt idx="4">
                  <c:v>1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13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5D56-4359-8288-2AE8D6479C1F}"/>
            </c:ext>
          </c:extLst>
        </c:ser>
        <c:ser>
          <c:idx val="3"/>
          <c:order val="3"/>
          <c:tx>
            <c:strRef>
              <c:f>Sayfa1!$E$1</c:f>
              <c:strCache>
                <c:ptCount val="1"/>
                <c:pt idx="0">
                  <c:v>Altta</c:v>
                </c:pt>
              </c:strCache>
            </c:strRef>
          </c:tx>
          <c:spPr>
            <a:solidFill>
              <a:schemeClr val="bg2">
                <a:lumMod val="2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1142499229237562E-3"/>
                  <c:y val="-7.037531655039210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5D56-4359-8288-2AE8D6479C1F}"/>
                </c:ext>
              </c:extLst>
            </c:dLbl>
            <c:dLbl>
              <c:idx val="1"/>
              <c:layout>
                <c:manualLayout>
                  <c:x val="-1.1108369841834406E-2"/>
                  <c:y val="2.345843885013012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5D56-4359-8288-2AE8D6479C1F}"/>
                </c:ext>
              </c:extLst>
            </c:dLbl>
            <c:dLbl>
              <c:idx val="2"/>
              <c:layout>
                <c:manualLayout>
                  <c:x val="-3.3427497687712067E-3"/>
                  <c:y val="-7.037531655039039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5D56-4359-8288-2AE8D6479C1F}"/>
                </c:ext>
              </c:extLst>
            </c:dLbl>
            <c:dLbl>
              <c:idx val="3"/>
              <c:layout>
                <c:manualLayout>
                  <c:x val="-5.5712496146186783E-3"/>
                  <c:y val="-2.345843885013012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5D56-4359-8288-2AE8D6479C1F}"/>
                </c:ext>
              </c:extLst>
            </c:dLbl>
            <c:dLbl>
              <c:idx val="4"/>
              <c:layout>
                <c:manualLayout>
                  <c:x val="-4.4569996916949423E-3"/>
                  <c:y val="-2.11125949651172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5D56-4359-8288-2AE8D6479C1F}"/>
                </c:ext>
              </c:extLst>
            </c:dLbl>
            <c:dLbl>
              <c:idx val="5"/>
              <c:layout>
                <c:manualLayout>
                  <c:x val="-6.1283745760805051E-3"/>
                  <c:y val="9.2356058465079251E-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357761435055636E-2"/>
                      <c:h val="4.740377884048815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30-5D56-4359-8288-2AE8D6479C1F}"/>
                </c:ext>
              </c:extLst>
            </c:dLbl>
            <c:dLbl>
              <c:idx val="6"/>
              <c:layout>
                <c:manualLayout>
                  <c:x val="2.1943704584445316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77C-4FFF-BC05-8F9B8A0ADD4C}"/>
                </c:ext>
              </c:extLst>
            </c:dLbl>
            <c:dLbl>
              <c:idx val="7"/>
              <c:layout>
                <c:manualLayout>
                  <c:x val="-7.799749460466231E-3"/>
                  <c:y val="-7.037531655039039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5D56-4359-8288-2AE8D6479C1F}"/>
                </c:ext>
              </c:extLst>
            </c:dLbl>
            <c:dLbl>
              <c:idx val="8"/>
              <c:layout>
                <c:manualLayout>
                  <c:x val="-2.2626731013576126E-3"/>
                  <c:y val="-2.463136079263663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81655568327998E-2"/>
                      <c:h val="4.974962272550117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33-5D56-4359-8288-2AE8D6479C1F}"/>
                </c:ext>
              </c:extLst>
            </c:dLbl>
            <c:dLbl>
              <c:idx val="9"/>
              <c:layout>
                <c:manualLayout>
                  <c:x val="-3.3427497687712067E-3"/>
                  <c:y val="7.037531655038953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5D56-4359-8288-2AE8D6479C1F}"/>
                </c:ext>
              </c:extLst>
            </c:dLbl>
            <c:dLbl>
              <c:idx val="10"/>
              <c:layout>
                <c:manualLayout>
                  <c:x val="-7.7996617242517456E-3"/>
                  <c:y val="-1.876656636798717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359555991585043E-2"/>
                      <c:h val="4.271209107046213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35-5D56-4359-8288-2AE8D6479C1F}"/>
                </c:ext>
              </c:extLst>
            </c:dLbl>
            <c:dLbl>
              <c:idx val="11"/>
              <c:layout>
                <c:manualLayout>
                  <c:x val="-3.8655698704012464E-3"/>
                  <c:y val="2.7706817539523778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016806222813838E-2"/>
                      <c:h val="4.740377884048815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36-5D56-4359-8288-2AE8D6479C1F}"/>
                </c:ext>
              </c:extLst>
            </c:dLbl>
            <c:dLbl>
              <c:idx val="12"/>
              <c:layout>
                <c:manualLayout>
                  <c:x val="-1.1142499229237356E-3"/>
                  <c:y val="-2.11125949651172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909-421C-93D3-F752CAE4BE9F}"/>
                </c:ext>
              </c:extLst>
            </c:dLbl>
            <c:dLbl>
              <c:idx val="13"/>
              <c:layout>
                <c:manualLayout>
                  <c:x val="0"/>
                  <c:y val="-2.58042827351432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77E-476F-8AE7-A236C0D0BAA2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05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Sayfa1!$E$2:$E$20</c:f>
              <c:numCache>
                <c:formatCode>#,##0</c:formatCode>
                <c:ptCount val="19"/>
                <c:pt idx="0">
                  <c:v>81</c:v>
                </c:pt>
                <c:pt idx="1">
                  <c:v>41</c:v>
                </c:pt>
                <c:pt idx="2">
                  <c:v>60</c:v>
                </c:pt>
                <c:pt idx="3">
                  <c:v>30</c:v>
                </c:pt>
                <c:pt idx="4">
                  <c:v>15</c:v>
                </c:pt>
                <c:pt idx="5">
                  <c:v>23</c:v>
                </c:pt>
                <c:pt idx="6">
                  <c:v>16</c:v>
                </c:pt>
                <c:pt idx="7">
                  <c:v>13</c:v>
                </c:pt>
                <c:pt idx="8">
                  <c:v>12</c:v>
                </c:pt>
                <c:pt idx="9">
                  <c:v>11</c:v>
                </c:pt>
                <c:pt idx="10">
                  <c:v>1</c:v>
                </c:pt>
                <c:pt idx="11">
                  <c:v>5</c:v>
                </c:pt>
                <c:pt idx="12">
                  <c:v>2</c:v>
                </c:pt>
                <c:pt idx="13">
                  <c:v>1</c:v>
                </c:pt>
                <c:pt idx="14" formatCode="General">
                  <c:v>1</c:v>
                </c:pt>
                <c:pt idx="15" formatCode="General">
                  <c:v>4</c:v>
                </c:pt>
                <c:pt idx="16" formatCode="General">
                  <c:v>4</c:v>
                </c:pt>
                <c:pt idx="17" formatCode="General">
                  <c:v>3</c:v>
                </c:pt>
                <c:pt idx="18" formatCode="General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7-5D56-4359-8288-2AE8D6479C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07177088"/>
        <c:axId val="307183360"/>
      </c:barChart>
      <c:catAx>
        <c:axId val="307177088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07183360"/>
        <c:crosses val="autoZero"/>
        <c:auto val="1"/>
        <c:lblAlgn val="ctr"/>
        <c:lblOffset val="100"/>
        <c:noMultiLvlLbl val="0"/>
      </c:catAx>
      <c:valAx>
        <c:axId val="307183360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307177088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25332884357878827"/>
          <c:y val="0.89490305384542923"/>
          <c:w val="0.48940629079185616"/>
          <c:h val="5.359034177282995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1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defRPr>
          </a:pPr>
          <a:endParaRPr lang="tr-T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3740365111946262E-3"/>
          <c:y val="2.5577142639531827E-2"/>
          <c:w val="0.99149743720555472"/>
          <c:h val="0.776125105260253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Küçük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C88-4E77-BFB9-84FB6B82F7A9}"/>
              </c:ext>
            </c:extLst>
          </c:dPt>
          <c:dPt>
            <c:idx val="1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C88-4E77-BFB9-84FB6B82F7A9}"/>
              </c:ext>
            </c:extLst>
          </c:dPt>
          <c:dPt>
            <c:idx val="2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C88-4E77-BFB9-84FB6B82F7A9}"/>
              </c:ext>
            </c:extLst>
          </c:dPt>
          <c:dPt>
            <c:idx val="9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282C-4157-90C3-F586769F8958}"/>
              </c:ext>
            </c:extLst>
          </c:dPt>
          <c:dLbls>
            <c:dLbl>
              <c:idx val="0"/>
              <c:layout>
                <c:manualLayout>
                  <c:x val="2.8937837664011018E-4"/>
                  <c:y val="-1.97116520355678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931726006546376E-2"/>
                      <c:h val="4.90847805938078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C88-4E77-BFB9-84FB6B82F7A9}"/>
                </c:ext>
              </c:extLst>
            </c:dLbl>
            <c:dLbl>
              <c:idx val="1"/>
              <c:layout>
                <c:manualLayout>
                  <c:x val="4.39477720072342E-4"/>
                  <c:y val="-9.232308988931436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5559390562040672E-2"/>
                      <c:h val="4.101902533111581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0C88-4E77-BFB9-84FB6B82F7A9}"/>
                </c:ext>
              </c:extLst>
            </c:dLbl>
            <c:dLbl>
              <c:idx val="2"/>
              <c:layout>
                <c:manualLayout>
                  <c:x val="-1.7530633813088576E-3"/>
                  <c:y val="-3.4750329183739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931726006546376E-2"/>
                      <c:h val="3.748318911123953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0C88-4E77-BFB9-84FB6B82F7A9}"/>
                </c:ext>
              </c:extLst>
            </c:dLbl>
            <c:dLbl>
              <c:idx val="3"/>
              <c:layout>
                <c:manualLayout>
                  <c:x val="1.0993868000352136E-3"/>
                  <c:y val="-6.960954889540973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7863985930480455E-2"/>
                      <c:h val="4.101902533111581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0C88-4E77-BFB9-84FB6B82F7A9}"/>
                </c:ext>
              </c:extLst>
            </c:dLbl>
            <c:dLbl>
              <c:idx val="4"/>
              <c:layout>
                <c:manualLayout>
                  <c:x val="4.9962998867156801E-3"/>
                  <c:y val="-5.767726638003123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329100081723639E-2"/>
                      <c:h val="5.372541718683513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282C-4157-90C3-F586769F8958}"/>
                </c:ext>
              </c:extLst>
            </c:dLbl>
            <c:dLbl>
              <c:idx val="5"/>
              <c:layout>
                <c:manualLayout>
                  <c:x val="-3.9005487109158477E-3"/>
                  <c:y val="-5.79531467444207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456595537409751E-2"/>
                      <c:h val="5.262061681368410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0C88-4E77-BFB9-84FB6B82F7A9}"/>
                </c:ext>
              </c:extLst>
            </c:dLbl>
            <c:dLbl>
              <c:idx val="6"/>
              <c:layout>
                <c:manualLayout>
                  <c:x val="-7.1456463096812601E-3"/>
                  <c:y val="2.320318296513742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360703524452041E-2"/>
                      <c:h val="5.262061681368410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0C88-4E77-BFB9-84FB6B82F7A9}"/>
                </c:ext>
              </c:extLst>
            </c:dLbl>
            <c:dLbl>
              <c:idx val="7"/>
              <c:layout>
                <c:manualLayout>
                  <c:x val="-2.7483587969858712E-3"/>
                  <c:y val="9.281273186054631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460047043246357E-2"/>
                      <c:h val="5.958157170322507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282C-4157-90C3-F586769F8958}"/>
                </c:ext>
              </c:extLst>
            </c:dLbl>
            <c:dLbl>
              <c:idx val="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6764642411686143E-2"/>
                      <c:h val="3.86987070346021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282C-4157-90C3-F586769F8958}"/>
                </c:ext>
              </c:extLst>
            </c:dLbl>
            <c:dLbl>
              <c:idx val="9"/>
              <c:layout>
                <c:manualLayout>
                  <c:x val="3.2807613412647999E-3"/>
                  <c:y val="-4.613413961044681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7863985930480455E-2"/>
                      <c:h val="4.101902533111581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282C-4157-90C3-F586769F8958}"/>
                </c:ext>
              </c:extLst>
            </c:dLbl>
            <c:dLbl>
              <c:idx val="10"/>
              <c:layout>
                <c:manualLayout>
                  <c:x val="-9.3444199097516903E-3"/>
                  <c:y val="-3.480477444770486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7863985930480455E-2"/>
                      <c:h val="3.86987070346021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282C-4157-90C3-F586769F8958}"/>
                </c:ext>
              </c:extLst>
            </c:dLbl>
            <c:dLbl>
              <c:idx val="11"/>
              <c:layout>
                <c:manualLayout>
                  <c:x val="-1.0993435187943968E-3"/>
                  <c:y val="-1.8562546372109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006267296806909E-2"/>
                      <c:h val="4.79799802206567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282C-4157-90C3-F586769F8958}"/>
                </c:ext>
              </c:extLst>
            </c:dLbl>
            <c:dLbl>
              <c:idx val="1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360703524452041E-2"/>
                      <c:h val="5.030029851717044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15F6-44C2-91E5-BF5EDAF44F97}"/>
                </c:ext>
              </c:extLst>
            </c:dLbl>
            <c:dLbl>
              <c:idx val="1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360703524452041E-2"/>
                      <c:h val="5.494093511019776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8549-4359-BD0F-E030D499DF6A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10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ound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Sayfa1!$B$2:$B$20</c:f>
              <c:numCache>
                <c:formatCode>#,##0</c:formatCode>
                <c:ptCount val="19"/>
                <c:pt idx="0">
                  <c:v>16</c:v>
                </c:pt>
                <c:pt idx="1">
                  <c:v>9</c:v>
                </c:pt>
                <c:pt idx="2">
                  <c:v>8</c:v>
                </c:pt>
                <c:pt idx="3">
                  <c:v>2</c:v>
                </c:pt>
                <c:pt idx="4">
                  <c:v>14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1</c:v>
                </c:pt>
                <c:pt idx="9">
                  <c:v>1</c:v>
                </c:pt>
                <c:pt idx="11">
                  <c:v>1</c:v>
                </c:pt>
                <c:pt idx="13" formatCode="General">
                  <c:v>1</c:v>
                </c:pt>
                <c:pt idx="16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C88-4E77-BFB9-84FB6B82F7A9}"/>
            </c:ext>
          </c:extLst>
        </c:ser>
        <c:ser>
          <c:idx val="1"/>
          <c:order val="1"/>
          <c:tx>
            <c:strRef>
              <c:f>Sayfa1!$C$1</c:f>
              <c:strCache>
                <c:ptCount val="1"/>
                <c:pt idx="0">
                  <c:v>Ortalama</c:v>
                </c:pt>
              </c:strCache>
            </c:strRef>
          </c:tx>
          <c:spPr>
            <a:solidFill>
              <a:srgbClr val="A5002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4962847815625952E-4"/>
                  <c:y val="-5.762336922274913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3938290818603212E-2"/>
                      <c:h val="3.98035074077531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E-282C-4157-90C3-F586769F8958}"/>
                </c:ext>
              </c:extLst>
            </c:dLbl>
            <c:dLbl>
              <c:idx val="1"/>
              <c:layout>
                <c:manualLayout>
                  <c:x val="-5.3828879304113923E-3"/>
                  <c:y val="-4.85286350115568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658734080834988E-2"/>
                      <c:h val="4.101902533111581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0C88-4E77-BFB9-84FB6B82F7A9}"/>
                </c:ext>
              </c:extLst>
            </c:dLbl>
            <c:dLbl>
              <c:idx val="2"/>
              <c:layout>
                <c:manualLayout>
                  <c:x val="-1.648885434468782E-3"/>
                  <c:y val="-1.50819775762247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943500841257479E-2"/>
                      <c:h val="3.284255251821220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0C88-4E77-BFB9-84FB6B82F7A9}"/>
                </c:ext>
              </c:extLst>
            </c:dLbl>
            <c:dLbl>
              <c:idx val="3"/>
              <c:layout>
                <c:manualLayout>
                  <c:x val="-4.9643583309334086E-3"/>
                  <c:y val="-3.825802926049263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7758077599629304E-2"/>
                      <c:h val="5.262061681368410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0C88-4E77-BFB9-84FB6B82F7A9}"/>
                </c:ext>
              </c:extLst>
            </c:dLbl>
            <c:dLbl>
              <c:idx val="4"/>
              <c:layout>
                <c:manualLayout>
                  <c:x val="-5.8429675211508927E-4"/>
                  <c:y val="-1.85298426732843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360703524452041E-2"/>
                      <c:h val="3.637838873808850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E-0C88-4E77-BFB9-84FB6B82F7A9}"/>
                </c:ext>
              </c:extLst>
            </c:dLbl>
            <c:dLbl>
              <c:idx val="5"/>
              <c:layout>
                <c:manualLayout>
                  <c:x val="9.9676697786706819E-5"/>
                  <c:y val="-1.27454901325267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2261360005657725E-2"/>
                      <c:h val="4.79799802206567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F-0C88-4E77-BFB9-84FB6B82F7A9}"/>
                </c:ext>
              </c:extLst>
            </c:dLbl>
            <c:dLbl>
              <c:idx val="6"/>
              <c:layout>
                <c:manualLayout>
                  <c:x val="5.4971504063805552E-4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1162016486863406E-2"/>
                      <c:h val="4.79799802206567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0-0C88-4E77-BFB9-84FB6B82F7A9}"/>
                </c:ext>
              </c:extLst>
            </c:dLbl>
            <c:dLbl>
              <c:idx val="7"/>
              <c:layout>
                <c:manualLayout>
                  <c:x val="-2.1986870375886322E-3"/>
                  <c:y val="-1.740238722385234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8963329449274775E-2"/>
                      <c:h val="3.405807044157484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F-282C-4157-90C3-F586769F8958}"/>
                </c:ext>
              </c:extLst>
            </c:dLbl>
            <c:dLbl>
              <c:idx val="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6764642411686143E-2"/>
                      <c:h val="4.565966192414313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15F6-44C2-91E5-BF5EDAF44F97}"/>
                </c:ext>
              </c:extLst>
            </c:dLbl>
            <c:dLbl>
              <c:idx val="9"/>
              <c:layout>
                <c:manualLayout>
                  <c:x val="7.7066144729526437E-3"/>
                  <c:y val="-8.07214984067460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7863985930480455E-2"/>
                      <c:h val="4.79799802206567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E0E4-40B4-9290-40375D616173}"/>
                </c:ext>
              </c:extLst>
            </c:dLbl>
            <c:dLbl>
              <c:idx val="10"/>
              <c:layout>
                <c:manualLayout>
                  <c:x val="-3.8476590345392094E-3"/>
                  <c:y val="-2.320318296513742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7863985930480455E-2"/>
                      <c:h val="3.637838873808850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1-282C-4157-90C3-F586769F8958}"/>
                </c:ext>
              </c:extLst>
            </c:dLbl>
            <c:dLbl>
              <c:idx val="11"/>
              <c:layout>
                <c:manualLayout>
                  <c:x val="4.3973740751771838E-3"/>
                  <c:y val="-1.624213672448165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006267296806909E-2"/>
                      <c:h val="4.333934362762946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2-282C-4157-90C3-F586769F8958}"/>
                </c:ext>
              </c:extLst>
            </c:dLbl>
            <c:dLbl>
              <c:idx val="12"/>
              <c:layout>
                <c:manualLayout>
                  <c:x val="2.7483587969857905E-3"/>
                  <c:y val="-1.160159148256998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360703524452041E-2"/>
                      <c:h val="4.79799802206567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E0E4-40B4-9290-40375D616173}"/>
                </c:ext>
              </c:extLst>
            </c:dLbl>
            <c:dLbl>
              <c:idx val="13"/>
              <c:layout>
                <c:manualLayout>
                  <c:x val="1.0993002375532576E-3"/>
                  <c:y val="-2.55235012616502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7863985930480455E-2"/>
                      <c:h val="2.941743384854752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0A5E-462F-AC0C-DF88E957AE33}"/>
                </c:ext>
              </c:extLst>
            </c:dLbl>
            <c:dLbl>
              <c:idx val="14"/>
              <c:layout>
                <c:manualLayout>
                  <c:x val="-1.4291465744326111E-2"/>
                  <c:y val="-1.3921818427967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360703524452041E-2"/>
                      <c:h val="4.333934362762946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8549-4359-BD0F-E030D499DF6A}"/>
                </c:ext>
              </c:extLst>
            </c:dLbl>
            <c:dLbl>
              <c:idx val="15"/>
              <c:layout>
                <c:manualLayout>
                  <c:x val="1.0993435187943161E-3"/>
                  <c:y val="-3.48047744477057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2261360005657725E-2"/>
                      <c:h val="4.79799802206567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D8F1-4FE2-8360-7E8138F0E4AC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10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ound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Sayfa1!$C$2:$C$20</c:f>
              <c:numCache>
                <c:formatCode>#,##0</c:formatCode>
                <c:ptCount val="19"/>
                <c:pt idx="0">
                  <c:v>5</c:v>
                </c:pt>
                <c:pt idx="1">
                  <c:v>10</c:v>
                </c:pt>
                <c:pt idx="2">
                  <c:v>3</c:v>
                </c:pt>
                <c:pt idx="3">
                  <c:v>5</c:v>
                </c:pt>
                <c:pt idx="4">
                  <c:v>4</c:v>
                </c:pt>
                <c:pt idx="5">
                  <c:v>2</c:v>
                </c:pt>
                <c:pt idx="6">
                  <c:v>1</c:v>
                </c:pt>
                <c:pt idx="8">
                  <c:v>2</c:v>
                </c:pt>
                <c:pt idx="9">
                  <c:v>1</c:v>
                </c:pt>
                <c:pt idx="10">
                  <c:v>1</c:v>
                </c:pt>
                <c:pt idx="14" formatCode="General">
                  <c:v>2</c:v>
                </c:pt>
                <c:pt idx="17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0C88-4E77-BFB9-84FB6B82F7A9}"/>
            </c:ext>
          </c:extLst>
        </c:ser>
        <c:ser>
          <c:idx val="2"/>
          <c:order val="2"/>
          <c:tx>
            <c:strRef>
              <c:f>Sayfa1!$D$1</c:f>
              <c:strCache>
                <c:ptCount val="1"/>
                <c:pt idx="0">
                  <c:v>Büyük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6.0587677882654048E-3"/>
                  <c:y val="-7.064547052857764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511223474983315E-2"/>
                      <c:h val="5.372541718683513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3-282C-4157-90C3-F586769F8958}"/>
                </c:ext>
              </c:extLst>
            </c:dLbl>
            <c:dLbl>
              <c:idx val="1"/>
              <c:layout>
                <c:manualLayout>
                  <c:x val="-7.1630453685220235E-3"/>
                  <c:y val="-2.282224881960642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3726474156900901E-2"/>
                      <c:h val="5.604573548334879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3-0C88-4E77-BFB9-84FB6B82F7A9}"/>
                </c:ext>
              </c:extLst>
            </c:dLbl>
            <c:dLbl>
              <c:idx val="2"/>
              <c:layout>
                <c:manualLayout>
                  <c:x val="-2.1467495485117385E-3"/>
                  <c:y val="-4.596788058290047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411879956188993E-2"/>
                      <c:h val="5.140509889032147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4-0C88-4E77-BFB9-84FB6B82F7A9}"/>
                </c:ext>
              </c:extLst>
            </c:dLbl>
            <c:dLbl>
              <c:idx val="3"/>
              <c:layout>
                <c:manualLayout>
                  <c:x val="-6.5440370612072059E-3"/>
                  <c:y val="-1.61877828116301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229756562929323E-2"/>
                      <c:h val="6.068637207637610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5-0C88-4E77-BFB9-84FB6B82F7A9}"/>
                </c:ext>
              </c:extLst>
            </c:dLbl>
            <c:dLbl>
              <c:idx val="4"/>
              <c:layout>
                <c:manualLayout>
                  <c:x val="1.7399058840760437E-5"/>
                  <c:y val="-1.127455449431951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627130638106586E-2"/>
                      <c:h val="5.372541718683513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6-0C88-4E77-BFB9-84FB6B82F7A9}"/>
                </c:ext>
              </c:extLst>
            </c:dLbl>
            <c:dLbl>
              <c:idx val="5"/>
              <c:layout>
                <c:manualLayout>
                  <c:x val="-8.216424209483323E-3"/>
                  <c:y val="-1.04359512674693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7130413044135007E-2"/>
                      <c:h val="4.90847805938078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7-0C88-4E77-BFB9-84FB6B82F7A9}"/>
                </c:ext>
              </c:extLst>
            </c:dLbl>
            <c:dLbl>
              <c:idx val="6"/>
              <c:layout>
                <c:manualLayout>
                  <c:x val="-3.2980305563829488E-3"/>
                  <c:y val="-2.320318296513657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056108156012254E-2"/>
                      <c:h val="5.494093511019776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8-0C88-4E77-BFB9-84FB6B82F7A9}"/>
                </c:ext>
              </c:extLst>
            </c:dLbl>
            <c:dLbl>
              <c:idx val="7"/>
              <c:layout>
                <c:manualLayout>
                  <c:x val="-2.1986870375886322E-3"/>
                  <c:y val="-1.85623636698811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229756562929323E-2"/>
                      <c:h val="5.140509889032147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4-282C-4157-90C3-F586769F8958}"/>
                </c:ext>
              </c:extLst>
            </c:dLbl>
            <c:dLbl>
              <c:idx val="8"/>
              <c:layout>
                <c:manualLayout>
                  <c:x val="-3.2980305563829488E-3"/>
                  <c:y val="-5.800795741284316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658734080834988E-2"/>
                      <c:h val="5.262061681368410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5-282C-4157-90C3-F586769F8958}"/>
                </c:ext>
              </c:extLst>
            </c:dLbl>
            <c:dLbl>
              <c:idx val="9"/>
              <c:layout>
                <c:manualLayout>
                  <c:x val="-2.2160860964294733E-3"/>
                  <c:y val="-8.104762188385364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627130638106586E-2"/>
                      <c:h val="4.444414400078049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6-282C-4157-90C3-F586769F8958}"/>
                </c:ext>
              </c:extLst>
            </c:dLbl>
            <c:dLbl>
              <c:idx val="10"/>
              <c:layout>
                <c:manualLayout>
                  <c:x val="-5.496717593971581E-3"/>
                  <c:y val="-4.640636593027315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460047043246357E-2"/>
                      <c:h val="5.030029851717044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7-282C-4157-90C3-F586769F8958}"/>
                </c:ext>
              </c:extLst>
            </c:dLbl>
            <c:dLbl>
              <c:idx val="11"/>
              <c:layout>
                <c:manualLayout>
                  <c:x val="-3.8477023157801066E-3"/>
                  <c:y val="-2.320318296513742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360703524452041E-2"/>
                      <c:h val="4.101902533111581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8-282C-4157-90C3-F586769F8958}"/>
                </c:ext>
              </c:extLst>
            </c:dLbl>
            <c:dLbl>
              <c:idx val="12"/>
              <c:layout>
                <c:manualLayout>
                  <c:x val="-7.1457328721631361E-3"/>
                  <c:y val="-3.480477444770401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5559390562040672E-2"/>
                      <c:h val="4.79799802206567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D8F1-4FE2-8360-7E8138F0E4AC}"/>
                </c:ext>
              </c:extLst>
            </c:dLbl>
            <c:dLbl>
              <c:idx val="13"/>
              <c:layout>
                <c:manualLayout>
                  <c:x val="-4.9470458345745039E-3"/>
                  <c:y val="-4.640636593027315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360703524452041E-2"/>
                      <c:h val="3.173775214506118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0A5E-462F-AC0C-DF88E957AE33}"/>
                </c:ext>
              </c:extLst>
            </c:dLbl>
            <c:dLbl>
              <c:idx val="14"/>
              <c:layout>
                <c:manualLayout>
                  <c:x val="-3.8476590345393707E-3"/>
                  <c:y val="-1.3921909779082031E-2"/>
                </c:manualLayout>
              </c:layout>
              <c:spPr>
                <a:xfrm>
                  <a:off x="8895549" y="3795898"/>
                  <a:ext cx="155570" cy="224513"/>
                </a:xfrm>
                <a:solidFill>
                  <a:prstClr val="white"/>
                </a:solidFill>
                <a:ln w="9525" cap="flat" cmpd="sng" algn="ctr">
                  <a:solidFill>
                    <a:prstClr val="black">
                      <a:lumMod val="25000"/>
                      <a:lumOff val="7500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  <a:extLst>
                    <a:ext uri="{C807C97D-BFC1-408E-A445-0C87EB9F89A2}">
                      <ask:lineSketchStyleProps xmlns:ask="http://schemas.microsoft.com/office/drawing/2018/sketchyshapes" sd="0">
                        <a:custGeom>
                          <a:avLst/>
                          <a:gdLst/>
                          <a:ahLst/>
                          <a:cxnLst/>
                          <a:rect l="0" t="0" r="0" b="0"/>
                          <a:pathLst/>
                        </a:custGeom>
                        <ask:type/>
                      </ask:lineSketchStyleProps>
                    </a:ext>
                  </a:extLst>
                </a:ln>
                <a:effectLst/>
              </c:spPr>
              <c:txPr>
                <a:bodyPr rot="0" spcFirstLastPara="1" vertOverflow="clip" horzOverflow="clip" vert="horz" wrap="square" lIns="36576" tIns="18288" rIns="36576" bIns="18288" anchor="ctr" anchorCtr="1">
                  <a:spAutoFit/>
                </a:bodyPr>
                <a:lstStyle/>
                <a:p>
                  <a:pPr>
                    <a:defRPr sz="1100" b="0" i="1" u="none" strike="noStrike" kern="1200" baseline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defRPr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oundRectCallout">
                      <a:avLst>
                        <a:gd name="adj1" fmla="val 83969"/>
                        <a:gd name="adj2" fmla="val 83594"/>
                        <a:gd name="adj3" fmla="val 16667"/>
                      </a:avLst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2.1162016486863406E-2"/>
                      <c:h val="4.101902533111581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0A5E-462F-AC0C-DF88E957AE33}"/>
                </c:ext>
              </c:extLst>
            </c:dLbl>
            <c:dLbl>
              <c:idx val="15"/>
              <c:layout>
                <c:manualLayout>
                  <c:x val="2.1986870375884713E-3"/>
                  <c:y val="-2.784381955816406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360703524452041E-2"/>
                      <c:h val="4.79799802206567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0A5E-462F-AC0C-DF88E957AE33}"/>
                </c:ext>
              </c:extLst>
            </c:dLbl>
            <c:dLbl>
              <c:idx val="1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006267296806909E-2"/>
                      <c:h val="4.101902533111581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8549-4359-BD0F-E030D499DF6A}"/>
                </c:ext>
              </c:extLst>
            </c:dLbl>
            <c:dLbl>
              <c:idx val="1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006267296806909E-2"/>
                      <c:h val="5.030029851717044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8549-4359-BD0F-E030D499DF6A}"/>
                </c:ext>
              </c:extLst>
            </c:dLbl>
            <c:dLbl>
              <c:idx val="1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006267296806909E-2"/>
                      <c:h val="4.101902533111581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8549-4359-BD0F-E030D499DF6A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10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ound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Sayfa1!$D$2:$D$20</c:f>
              <c:numCache>
                <c:formatCode>#,##0</c:formatCode>
                <c:ptCount val="19"/>
                <c:pt idx="0">
                  <c:v>91</c:v>
                </c:pt>
                <c:pt idx="1">
                  <c:v>66</c:v>
                </c:pt>
                <c:pt idx="2">
                  <c:v>70</c:v>
                </c:pt>
                <c:pt idx="3">
                  <c:v>38</c:v>
                </c:pt>
                <c:pt idx="4">
                  <c:v>23</c:v>
                </c:pt>
                <c:pt idx="5">
                  <c:v>29</c:v>
                </c:pt>
                <c:pt idx="6">
                  <c:v>22</c:v>
                </c:pt>
                <c:pt idx="7">
                  <c:v>15</c:v>
                </c:pt>
                <c:pt idx="8">
                  <c:v>14</c:v>
                </c:pt>
                <c:pt idx="9">
                  <c:v>13</c:v>
                </c:pt>
                <c:pt idx="10">
                  <c:v>8</c:v>
                </c:pt>
                <c:pt idx="11">
                  <c:v>5</c:v>
                </c:pt>
                <c:pt idx="12">
                  <c:v>6</c:v>
                </c:pt>
                <c:pt idx="13">
                  <c:v>4</c:v>
                </c:pt>
                <c:pt idx="14" formatCode="General">
                  <c:v>3</c:v>
                </c:pt>
                <c:pt idx="15" formatCode="General">
                  <c:v>4</c:v>
                </c:pt>
                <c:pt idx="16" formatCode="General">
                  <c:v>3</c:v>
                </c:pt>
                <c:pt idx="17" formatCode="General">
                  <c:v>3</c:v>
                </c:pt>
                <c:pt idx="18" formatCode="General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0C88-4E77-BFB9-84FB6B82F7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07179048"/>
        <c:axId val="307190024"/>
      </c:barChart>
      <c:catAx>
        <c:axId val="307179048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07190024"/>
        <c:crosses val="autoZero"/>
        <c:auto val="1"/>
        <c:lblAlgn val="ctr"/>
        <c:lblOffset val="100"/>
        <c:noMultiLvlLbl val="0"/>
      </c:catAx>
      <c:valAx>
        <c:axId val="307190024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307179048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31375246713893423"/>
          <c:y val="0.91683431118610836"/>
          <c:w val="0.37215366329393268"/>
          <c:h val="5.165167357126453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1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defRPr>
          </a:pPr>
          <a:endParaRPr lang="tr-T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3740365111946262E-3"/>
          <c:y val="2.5577142639531827E-2"/>
          <c:w val="0.99149743720555472"/>
          <c:h val="0.776125105260253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Düşük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B1E-46FF-B15A-C62461BEC38E}"/>
              </c:ext>
            </c:extLst>
          </c:dPt>
          <c:dPt>
            <c:idx val="2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B1E-46FF-B15A-C62461BEC38E}"/>
              </c:ext>
            </c:extLst>
          </c:dPt>
          <c:dPt>
            <c:idx val="9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8-FB6E-49C0-8C93-458D4AD31559}"/>
              </c:ext>
            </c:extLst>
          </c:dPt>
          <c:dLbls>
            <c:dLbl>
              <c:idx val="0"/>
              <c:layout>
                <c:manualLayout>
                  <c:x val="-2.2360796558479733E-3"/>
                  <c:y val="-1.83462515502222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B1E-46FF-B15A-C62461BEC38E}"/>
                </c:ext>
              </c:extLst>
            </c:dLbl>
            <c:dLbl>
              <c:idx val="1"/>
              <c:layout>
                <c:manualLayout>
                  <c:x val="-2.7950995698099667E-3"/>
                  <c:y val="4.586562887555534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787265896105399E-2"/>
                      <c:h val="5.274565378023068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DB1E-46FF-B15A-C62461BEC38E}"/>
                </c:ext>
              </c:extLst>
            </c:dLbl>
            <c:dLbl>
              <c:idx val="2"/>
              <c:layout>
                <c:manualLayout>
                  <c:x val="-3.35411948377196E-3"/>
                  <c:y val="2.293281443777683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B1E-46FF-B15A-C62461BEC38E}"/>
                </c:ext>
              </c:extLst>
            </c:dLbl>
            <c:dLbl>
              <c:idx val="3"/>
              <c:layout>
                <c:manualLayout>
                  <c:x val="-1.1179077759758272E-3"/>
                  <c:y val="-2.06395329939998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2315106584409453E-2"/>
                      <c:h val="4.127924656134185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FB6E-49C0-8C93-458D4AD31559}"/>
                </c:ext>
              </c:extLst>
            </c:dLbl>
            <c:dLbl>
              <c:idx val="4"/>
              <c:layout>
                <c:manualLayout>
                  <c:x val="-3.9130953804178935E-3"/>
                  <c:y val="-1.146550435217867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8960987100637493E-2"/>
                      <c:h val="4.357252800511961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FB6E-49C0-8C93-458D4AD31559}"/>
                </c:ext>
              </c:extLst>
            </c:dLbl>
            <c:dLbl>
              <c:idx val="5"/>
              <c:layout>
                <c:manualLayout>
                  <c:x val="-3.35411948377196E-3"/>
                  <c:y val="-1.37596886626666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6724907444789522E-2"/>
                      <c:h val="3.669268367378631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FB6E-49C0-8C93-458D4AD31559}"/>
                </c:ext>
              </c:extLst>
            </c:dLbl>
            <c:dLbl>
              <c:idx val="6"/>
              <c:layout>
                <c:manualLayout>
                  <c:x val="-5.5901991396203432E-4"/>
                  <c:y val="-4.701226959744423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43314641233344E-2"/>
                      <c:h val="4.127924656134185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FB6E-49C0-8C93-458D4AD31559}"/>
                </c:ext>
              </c:extLst>
            </c:dLbl>
            <c:dLbl>
              <c:idx val="7"/>
              <c:layout>
                <c:manualLayout>
                  <c:x val="-6.1491310189498473E-3"/>
                  <c:y val="-6.879844331333387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6724907444789522E-2"/>
                      <c:h val="3.669268367378631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4-FB6E-49C0-8C93-458D4AD31559}"/>
                </c:ext>
              </c:extLst>
            </c:dLbl>
            <c:dLbl>
              <c:idx val="8"/>
              <c:layout>
                <c:manualLayout>
                  <c:x val="-2.2360796558479733E-3"/>
                  <c:y val="-1.14664072188888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8960987100637493E-2"/>
                      <c:h val="4.127924656134185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FB6E-49C0-8C93-458D4AD31559}"/>
                </c:ext>
              </c:extLst>
            </c:dLbl>
            <c:dLbl>
              <c:idx val="9"/>
              <c:layout>
                <c:manualLayout>
                  <c:x val="-1.1179077759758886E-3"/>
                  <c:y val="-1.83462515502222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7842947272713506E-2"/>
                      <c:h val="3.43994022300085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8-FB6E-49C0-8C93-458D4AD31559}"/>
                </c:ext>
              </c:extLst>
            </c:dLbl>
            <c:dLbl>
              <c:idx val="10"/>
              <c:layout>
                <c:manualLayout>
                  <c:x val="-1.1180398279240686E-3"/>
                  <c:y val="-1.3759688662666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BE9-4EEB-AAC2-283D4389CD80}"/>
                </c:ext>
              </c:extLst>
            </c:dLbl>
            <c:dLbl>
              <c:idx val="1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2315106584409453E-2"/>
                      <c:h val="4.815909089267515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3C19-442C-863F-C281B856B896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20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ound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Sayfa1!$B$2:$B$20</c:f>
              <c:numCache>
                <c:formatCode>#,##0</c:formatCode>
                <c:ptCount val="19"/>
                <c:pt idx="0">
                  <c:v>12</c:v>
                </c:pt>
                <c:pt idx="1">
                  <c:v>6</c:v>
                </c:pt>
                <c:pt idx="2">
                  <c:v>9</c:v>
                </c:pt>
                <c:pt idx="3">
                  <c:v>8</c:v>
                </c:pt>
                <c:pt idx="4">
                  <c:v>5</c:v>
                </c:pt>
                <c:pt idx="5">
                  <c:v>3</c:v>
                </c:pt>
                <c:pt idx="6">
                  <c:v>4</c:v>
                </c:pt>
                <c:pt idx="7">
                  <c:v>1</c:v>
                </c:pt>
                <c:pt idx="8">
                  <c:v>2</c:v>
                </c:pt>
                <c:pt idx="9">
                  <c:v>1</c:v>
                </c:pt>
                <c:pt idx="10">
                  <c:v>3</c:v>
                </c:pt>
                <c:pt idx="11">
                  <c:v>1</c:v>
                </c:pt>
                <c:pt idx="14" formatCode="General">
                  <c:v>1</c:v>
                </c:pt>
                <c:pt idx="16" formatCode="General">
                  <c:v>1</c:v>
                </c:pt>
                <c:pt idx="18" formatCode="General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B1E-46FF-B15A-C62461BEC38E}"/>
            </c:ext>
          </c:extLst>
        </c:ser>
        <c:ser>
          <c:idx val="1"/>
          <c:order val="1"/>
          <c:tx>
            <c:strRef>
              <c:f>Sayfa1!$C$1</c:f>
              <c:strCache>
                <c:ptCount val="1"/>
                <c:pt idx="0">
                  <c:v>Normal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6.7082829848599803E-3"/>
                  <c:y val="-6.650516186955526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268419354026514E-2"/>
                      <c:h val="5.391901935673996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FB6E-49C0-8C93-458D4AD31559}"/>
                </c:ext>
              </c:extLst>
            </c:dLbl>
            <c:dLbl>
              <c:idx val="1"/>
              <c:layout>
                <c:manualLayout>
                  <c:x val="-5.5746170097346935E-3"/>
                  <c:y val="-3.780655033409688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141385379877362E-2"/>
                      <c:h val="4.586580944889737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FB6E-49C0-8C93-458D4AD31559}"/>
                </c:ext>
              </c:extLst>
            </c:dLbl>
            <c:dLbl>
              <c:idx val="2"/>
              <c:layout>
                <c:manualLayout>
                  <c:x val="-1.0062358451315881E-2"/>
                  <c:y val="1.14682129523082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141385379877362E-2"/>
                      <c:h val="4.815909089267515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E-FB6E-49C0-8C93-458D4AD31559}"/>
                </c:ext>
              </c:extLst>
            </c:dLbl>
            <c:dLbl>
              <c:idx val="3"/>
              <c:layout>
                <c:manualLayout>
                  <c:x val="-6.1493070882140668E-3"/>
                  <c:y val="-5.159883248499977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023345551953374E-2"/>
                      <c:h val="4.127924656134185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DB1E-46FF-B15A-C62461BEC38E}"/>
                </c:ext>
              </c:extLst>
            </c:dLbl>
            <c:dLbl>
              <c:idx val="4"/>
              <c:layout>
                <c:manualLayout>
                  <c:x val="-6.70823896754392E-3"/>
                  <c:y val="-9.173125775111154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259425207801346E-2"/>
                      <c:h val="4.815909089267515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F-FB6E-49C0-8C93-458D4AD31559}"/>
                </c:ext>
              </c:extLst>
            </c:dLbl>
            <c:dLbl>
              <c:idx val="5"/>
              <c:layout>
                <c:manualLayout>
                  <c:x val="-3.3541194837720012E-3"/>
                  <c:y val="-1.8346251550222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7905305724029387E-2"/>
                      <c:h val="5.73322166677862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0-FB6E-49C0-8C93-458D4AD31559}"/>
                </c:ext>
              </c:extLst>
            </c:dLbl>
            <c:dLbl>
              <c:idx val="6"/>
              <c:layout>
                <c:manualLayout>
                  <c:x val="-4.4721593116959467E-3"/>
                  <c:y val="-1.37595983759955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787265896105399E-2"/>
                      <c:h val="4.357252800511961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1-FB6E-49C0-8C93-458D4AD31559}"/>
                </c:ext>
              </c:extLst>
            </c:dLbl>
            <c:dLbl>
              <c:idx val="7"/>
              <c:layout>
                <c:manualLayout>
                  <c:x val="-3.9131393977339538E-3"/>
                  <c:y val="-4.58654483022133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1197066756485469E-2"/>
                      <c:h val="3.43994022300085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5-FB6E-49C0-8C93-458D4AD31559}"/>
                </c:ext>
              </c:extLst>
            </c:dLbl>
            <c:dLbl>
              <c:idx val="8"/>
              <c:layout>
                <c:manualLayout>
                  <c:x val="-2.2360796558479733E-3"/>
                  <c:y val="-3.554568180521337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8960987100637493E-2"/>
                      <c:h val="3.898596511756408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6-FB6E-49C0-8C93-458D4AD31559}"/>
                </c:ext>
              </c:extLst>
            </c:dLbl>
            <c:dLbl>
              <c:idx val="9"/>
              <c:layout>
                <c:manualLayout>
                  <c:x val="-4.4017316059999477E-8"/>
                  <c:y val="-1.83460709768800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2315106584409453E-2"/>
                      <c:h val="3.898596511756408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7-FB6E-49C0-8C93-458D4AD31559}"/>
                </c:ext>
              </c:extLst>
            </c:dLbl>
            <c:dLbl>
              <c:idx val="10"/>
              <c:layout>
                <c:manualLayout>
                  <c:x val="5.0311792256579405E-3"/>
                  <c:y val="-2.29326338644357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5606867616865534E-2"/>
                      <c:h val="3.43994022300085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CAB5-4068-B454-E8262A6E83F0}"/>
                </c:ext>
              </c:extLst>
            </c:dLbl>
            <c:dLbl>
              <c:idx val="11"/>
              <c:layout>
                <c:manualLayout>
                  <c:x val="-2.2360796558479733E-3"/>
                  <c:y val="-2.63727366034444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6724907444789522E-2"/>
                      <c:h val="3.210612078623077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703D-4FCA-B6BE-A5DC4A6884BB}"/>
                </c:ext>
              </c:extLst>
            </c:dLbl>
            <c:dLbl>
              <c:idx val="12"/>
              <c:layout>
                <c:manualLayout>
                  <c:x val="-1.1180398279239867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82F-49A0-8DE1-1913D44B67C2}"/>
                </c:ext>
              </c:extLst>
            </c:dLbl>
            <c:dLbl>
              <c:idx val="14"/>
              <c:layout>
                <c:manualLayout>
                  <c:x val="-3.35411948377196E-3"/>
                  <c:y val="8.408601490303197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82F-49A0-8DE1-1913D44B67C2}"/>
                </c:ext>
              </c:extLst>
            </c:dLbl>
            <c:dLbl>
              <c:idx val="15"/>
              <c:layout>
                <c:manualLayout>
                  <c:x val="-1.1180398279239867E-3"/>
                  <c:y val="-3.439922165666659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82F-49A0-8DE1-1913D44B67C2}"/>
                </c:ext>
              </c:extLst>
            </c:dLbl>
            <c:dLbl>
              <c:idx val="17"/>
              <c:layout>
                <c:manualLayout>
                  <c:x val="-7.8262787954680706E-3"/>
                  <c:y val="8.408601490303197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952-4A18-9B76-89A05136F769}"/>
                </c:ext>
              </c:extLst>
            </c:dLbl>
            <c:dLbl>
              <c:idx val="18"/>
              <c:layout>
                <c:manualLayout>
                  <c:x val="2.2360796558479733E-3"/>
                  <c:y val="-2.293281443777767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952-4A18-9B76-89A05136F769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20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ound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Sayfa1!$C$2:$C$20</c:f>
              <c:numCache>
                <c:formatCode>#,##0</c:formatCode>
                <c:ptCount val="19"/>
                <c:pt idx="0">
                  <c:v>17</c:v>
                </c:pt>
                <c:pt idx="1">
                  <c:v>9</c:v>
                </c:pt>
                <c:pt idx="2">
                  <c:v>16</c:v>
                </c:pt>
                <c:pt idx="3">
                  <c:v>6</c:v>
                </c:pt>
                <c:pt idx="4">
                  <c:v>5</c:v>
                </c:pt>
                <c:pt idx="5">
                  <c:v>11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4</c:v>
                </c:pt>
                <c:pt idx="10">
                  <c:v>3</c:v>
                </c:pt>
                <c:pt idx="11">
                  <c:v>2</c:v>
                </c:pt>
                <c:pt idx="12">
                  <c:v>2</c:v>
                </c:pt>
                <c:pt idx="13">
                  <c:v>1</c:v>
                </c:pt>
                <c:pt idx="15" formatCode="General">
                  <c:v>2</c:v>
                </c:pt>
                <c:pt idx="17" formatCode="General">
                  <c:v>2</c:v>
                </c:pt>
                <c:pt idx="18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B1E-46FF-B15A-C62461BEC38E}"/>
            </c:ext>
          </c:extLst>
        </c:ser>
        <c:ser>
          <c:idx val="2"/>
          <c:order val="2"/>
          <c:tx>
            <c:strRef>
              <c:f>Sayfa1!$D$1</c:f>
              <c:strCache>
                <c:ptCount val="1"/>
                <c:pt idx="0">
                  <c:v>Yüksek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858618493646452E-2"/>
                      <c:h val="5.162573791296219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3-FB6E-49C0-8C93-458D4AD31559}"/>
                </c:ext>
              </c:extLst>
            </c:dLbl>
            <c:dLbl>
              <c:idx val="1"/>
              <c:layout>
                <c:manualLayout>
                  <c:x val="-1.509353767697383E-2"/>
                  <c:y val="-3.402814343879538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256685746119037E-2"/>
                      <c:h val="5.621230080051772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4-FB6E-49C0-8C93-458D4AD31559}"/>
                </c:ext>
              </c:extLst>
            </c:dLbl>
            <c:dLbl>
              <c:idx val="2"/>
              <c:layout>
                <c:manualLayout>
                  <c:x val="-6.7081949502278597E-3"/>
                  <c:y val="-2.06395329939999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339566302666936E-2"/>
                      <c:h val="5.16257379129622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5-FB6E-49C0-8C93-458D4AD31559}"/>
                </c:ext>
              </c:extLst>
            </c:dLbl>
            <c:dLbl>
              <c:idx val="3"/>
              <c:layout>
                <c:manualLayout>
                  <c:x val="1.1180838452400058E-3"/>
                  <c:y val="-6.879844331333303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914299870254555E-2"/>
                      <c:h val="4.933245646918443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DB1E-46FF-B15A-C62461BEC38E}"/>
                </c:ext>
              </c:extLst>
            </c:dLbl>
            <c:dLbl>
              <c:idx val="4"/>
              <c:layout>
                <c:manualLayout>
                  <c:x val="4.4721593116959467E-3"/>
                  <c:y val="-9.173125775111068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7905305724029387E-2"/>
                      <c:h val="5.274565378023068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6-FB6E-49C0-8C93-458D4AD31559}"/>
                </c:ext>
              </c:extLst>
            </c:dLbl>
            <c:dLbl>
              <c:idx val="5"/>
              <c:layout>
                <c:manualLayout>
                  <c:x val="-5.0311352083419209E-3"/>
                  <c:y val="-2.293281443777776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150379526102527E-2"/>
                      <c:h val="4.933245646918443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7-FB6E-49C0-8C93-458D4AD31559}"/>
                </c:ext>
              </c:extLst>
            </c:dLbl>
            <c:dLbl>
              <c:idx val="6"/>
              <c:layout>
                <c:manualLayout>
                  <c:x val="-6.1492190535819679E-3"/>
                  <c:y val="-1.605297010644437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023345551953374E-2"/>
                      <c:h val="4.815909089267515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8-FB6E-49C0-8C93-458D4AD31559}"/>
                </c:ext>
              </c:extLst>
            </c:dLbl>
            <c:dLbl>
              <c:idx val="7"/>
              <c:layout>
                <c:manualLayout>
                  <c:x val="-1.1180398279239867E-2"/>
                  <c:y val="-1.71996108283332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4613544691573309E-2"/>
                      <c:h val="4.127924656134185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9-FB6E-49C0-8C93-458D4AD31559}"/>
                </c:ext>
              </c:extLst>
            </c:dLbl>
            <c:dLbl>
              <c:idx val="8"/>
              <c:layout>
                <c:manualLayout>
                  <c:x val="-6.1491310189498889E-3"/>
                  <c:y val="-1.03195859236580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787265896105399E-2"/>
                      <c:h val="4.127924656134185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A-FB6E-49C0-8C93-458D4AD31559}"/>
                </c:ext>
              </c:extLst>
            </c:dLbl>
            <c:dLbl>
              <c:idx val="9"/>
              <c:layout>
                <c:manualLayout>
                  <c:x val="-6.7081949502278597E-3"/>
                  <c:y val="-1.949280198544009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5796260042330568E-2"/>
                      <c:h val="3.786604925029559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B-FB6E-49C0-8C93-458D4AD31559}"/>
                </c:ext>
              </c:extLst>
            </c:dLbl>
            <c:dLbl>
              <c:idx val="10"/>
              <c:layout>
                <c:manualLayout>
                  <c:x val="2.7951876044420869E-3"/>
                  <c:y val="-2.63727366034444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8960987100637493E-2"/>
                      <c:h val="3.43994022300085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C-FB6E-49C0-8C93-458D4AD31559}"/>
                </c:ext>
              </c:extLst>
            </c:dLbl>
            <c:dLbl>
              <c:idx val="11"/>
              <c:layout>
                <c:manualLayout>
                  <c:x val="3.9130513631018332E-3"/>
                  <c:y val="-1.37595080893245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1197066756485469E-2"/>
                      <c:h val="3.898596511756408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D-FB6E-49C0-8C93-458D4AD31559}"/>
                </c:ext>
              </c:extLst>
            </c:dLbl>
            <c:dLbl>
              <c:idx val="12"/>
              <c:layout>
                <c:manualLayout>
                  <c:x val="-2.2360796558478914E-3"/>
                  <c:y val="-2.06395329939999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C19-442C-863F-C281B856B896}"/>
                </c:ext>
              </c:extLst>
            </c:dLbl>
            <c:dLbl>
              <c:idx val="13"/>
              <c:layout>
                <c:manualLayout>
                  <c:x val="1.1180398279239867E-3"/>
                  <c:y val="-1.605297010644437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6724907444789522E-2"/>
                      <c:h val="3.898596511756408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3C19-442C-863F-C281B856B896}"/>
                </c:ext>
              </c:extLst>
            </c:dLbl>
            <c:dLbl>
              <c:idx val="1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787265896105399E-2"/>
                      <c:h val="4.815909089267515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3C19-442C-863F-C281B856B896}"/>
                </c:ext>
              </c:extLst>
            </c:dLbl>
            <c:dLbl>
              <c:idx val="1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1197066756485469E-2"/>
                      <c:h val="4.127924656134185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3C19-442C-863F-C281B856B896}"/>
                </c:ext>
              </c:extLst>
            </c:dLbl>
            <c:dLbl>
              <c:idx val="1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0079026928561478E-2"/>
                      <c:h val="4.815909089267515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3C19-442C-863F-C281B856B896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20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ound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Sayfa1!$D$2:$D$20</c:f>
              <c:numCache>
                <c:formatCode>#,##0</c:formatCode>
                <c:ptCount val="19"/>
                <c:pt idx="0">
                  <c:v>83</c:v>
                </c:pt>
                <c:pt idx="1">
                  <c:v>70</c:v>
                </c:pt>
                <c:pt idx="2">
                  <c:v>56</c:v>
                </c:pt>
                <c:pt idx="3">
                  <c:v>31</c:v>
                </c:pt>
                <c:pt idx="4">
                  <c:v>31</c:v>
                </c:pt>
                <c:pt idx="5">
                  <c:v>19</c:v>
                </c:pt>
                <c:pt idx="6">
                  <c:v>19</c:v>
                </c:pt>
                <c:pt idx="7">
                  <c:v>14</c:v>
                </c:pt>
                <c:pt idx="8">
                  <c:v>13</c:v>
                </c:pt>
                <c:pt idx="9">
                  <c:v>10</c:v>
                </c:pt>
                <c:pt idx="10">
                  <c:v>3</c:v>
                </c:pt>
                <c:pt idx="11">
                  <c:v>3</c:v>
                </c:pt>
                <c:pt idx="12">
                  <c:v>4</c:v>
                </c:pt>
                <c:pt idx="13">
                  <c:v>4</c:v>
                </c:pt>
                <c:pt idx="14" formatCode="General">
                  <c:v>4</c:v>
                </c:pt>
                <c:pt idx="15" formatCode="General">
                  <c:v>2</c:v>
                </c:pt>
                <c:pt idx="16" formatCode="General">
                  <c:v>3</c:v>
                </c:pt>
                <c:pt idx="17" formatCode="General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B1E-46FF-B15A-C62461BEC3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78070256"/>
        <c:axId val="378067904"/>
      </c:barChart>
      <c:catAx>
        <c:axId val="378070256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78067904"/>
        <c:crosses val="autoZero"/>
        <c:auto val="1"/>
        <c:lblAlgn val="ctr"/>
        <c:lblOffset val="100"/>
        <c:noMultiLvlLbl val="0"/>
      </c:catAx>
      <c:valAx>
        <c:axId val="378067904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378070256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30845530384889175"/>
          <c:y val="0.89576114913985683"/>
          <c:w val="0.40327925483261712"/>
          <c:h val="4.687268640405524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1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defRPr>
          </a:pPr>
          <a:endParaRPr lang="tr-T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3740365111946262E-3"/>
          <c:y val="2.5577142639531827E-2"/>
          <c:w val="0.99149743720555472"/>
          <c:h val="0.776125105260253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Gazete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762-4F1E-A12E-7521D5E9219B}"/>
              </c:ext>
            </c:extLst>
          </c:dPt>
          <c:dPt>
            <c:idx val="1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762-4F1E-A12E-7521D5E9219B}"/>
              </c:ext>
            </c:extLst>
          </c:dPt>
          <c:dPt>
            <c:idx val="2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762-4F1E-A12E-7521D5E9219B}"/>
              </c:ext>
            </c:extLst>
          </c:dPt>
          <c:dPt>
            <c:idx val="9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0762-4F1E-A12E-7521D5E9219B}"/>
              </c:ext>
            </c:extLst>
          </c:dPt>
          <c:dLbls>
            <c:dLbl>
              <c:idx val="0"/>
              <c:layout>
                <c:manualLayout>
                  <c:x val="1.7021787636152565E-3"/>
                  <c:y val="4.539143770945511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4086564369207609E-2"/>
                      <c:h val="5.327328558416188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762-4F1E-A12E-7521D5E9219B}"/>
                </c:ext>
              </c:extLst>
            </c:dLbl>
            <c:dLbl>
              <c:idx val="1"/>
              <c:layout>
                <c:manualLayout>
                  <c:x val="3.3896870915794066E-3"/>
                  <c:y val="9.07828754189102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957062535380895E-2"/>
                      <c:h val="5.327328558416188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0762-4F1E-A12E-7521D5E9219B}"/>
                </c:ext>
              </c:extLst>
            </c:dLbl>
            <c:dLbl>
              <c:idx val="2"/>
              <c:layout>
                <c:manualLayout>
                  <c:x val="-3.4042749943950235E-3"/>
                  <c:y val="4.5391437709455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773718047978417E-2"/>
                      <c:h val="5.327328558416188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0762-4F1E-A12E-7521D5E9219B}"/>
                </c:ext>
              </c:extLst>
            </c:dLbl>
            <c:dLbl>
              <c:idx val="3"/>
              <c:layout>
                <c:manualLayout>
                  <c:x val="-2.2471928183491098E-5"/>
                  <c:y val="-1.021289477817981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708471452296827E-2"/>
                      <c:h val="4.996382087966819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0762-4F1E-A12E-7521D5E9219B}"/>
                </c:ext>
              </c:extLst>
            </c:dLbl>
            <c:dLbl>
              <c:idx val="4"/>
              <c:layout>
                <c:manualLayout>
                  <c:x val="-1.1441472778900095E-3"/>
                  <c:y val="7.943590952378402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713743196880625E-2"/>
                      <c:h val="5.904210842155920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0762-4F1E-A12E-7521D5E9219B}"/>
                </c:ext>
              </c:extLst>
            </c:dLbl>
            <c:dLbl>
              <c:idx val="5"/>
              <c:layout>
                <c:manualLayout>
                  <c:x val="-1.1707293798167773E-3"/>
                  <c:y val="1.134785942736378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449444800336882E-2"/>
                      <c:h val="4.996382087966819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0762-4F1E-A12E-7521D5E9219B}"/>
                </c:ext>
              </c:extLst>
            </c:dLbl>
            <c:dLbl>
              <c:idx val="6"/>
              <c:layout>
                <c:manualLayout>
                  <c:x val="-1.7141211541618056E-3"/>
                  <c:y val="-2.609998732971285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304175373608093E-2"/>
                      <c:h val="5.450296465061369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0762-4F1E-A12E-7521D5E9219B}"/>
                </c:ext>
              </c:extLst>
            </c:dLbl>
            <c:dLbl>
              <c:idx val="7"/>
              <c:layout>
                <c:manualLayout>
                  <c:x val="-2.266894846834012E-3"/>
                  <c:y val="-9.078287541891109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449444800336882E-2"/>
                      <c:h val="5.223339276514094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0762-4F1E-A12E-7521D5E9219B}"/>
                </c:ext>
              </c:extLst>
            </c:dLbl>
            <c:dLbl>
              <c:idx val="8"/>
              <c:layout>
                <c:manualLayout>
                  <c:x val="-1.7244859401231676E-5"/>
                  <c:y val="-1.58870031983093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899912528973042E-2"/>
                      <c:h val="4.76942489941954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0762-4F1E-A12E-7521D5E9219B}"/>
                </c:ext>
              </c:extLst>
            </c:dLbl>
            <c:dLbl>
              <c:idx val="9"/>
              <c:layout>
                <c:manualLayout>
                  <c:x val="-1.1400371041467927E-3"/>
                  <c:y val="-5.673929713681974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82296399698973E-2"/>
                      <c:h val="5.100371369868913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0762-4F1E-A12E-7521D5E9219B}"/>
                </c:ext>
              </c:extLst>
            </c:dLbl>
            <c:dLbl>
              <c:idx val="10"/>
              <c:layout>
                <c:manualLayout>
                  <c:x val="-1.137356556053254E-3"/>
                  <c:y val="-1.134785942736378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899912528973042E-2"/>
                      <c:h val="4.996382087966819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E-0762-4F1E-A12E-7521D5E9219B}"/>
                </c:ext>
              </c:extLst>
            </c:dLbl>
            <c:dLbl>
              <c:idx val="11"/>
              <c:layout>
                <c:manualLayout>
                  <c:x val="-5.1064558269400401E-3"/>
                  <c:y val="-3.404357828209220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8099150078616007E-2"/>
                      <c:h val="4.315510522324991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F8CA-4E0D-9999-E123535F1D18}"/>
                </c:ext>
              </c:extLst>
            </c:dLbl>
            <c:dLbl>
              <c:idx val="1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381666355574168E-2"/>
                      <c:h val="4.315510522324991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7B47-4ED3-9D08-905BEB03AD10}"/>
                </c:ext>
              </c:extLst>
            </c:dLbl>
            <c:dLbl>
              <c:idx val="1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2573074198196687E-2"/>
                      <c:h val="4.996382087966819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5ADA-4241-965D-47332BBC5D51}"/>
                </c:ext>
              </c:extLst>
            </c:dLbl>
            <c:dLbl>
              <c:idx val="1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246900996011255E-2"/>
                      <c:h val="5.223339276514094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7B47-4ED3-9D08-905BEB03AD10}"/>
                </c:ext>
              </c:extLst>
            </c:dLbl>
            <c:dLbl>
              <c:idx val="1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842604917322514E-2"/>
                      <c:h val="5.223339276514094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8135-4D66-BC51-153CCB289E8F}"/>
                </c:ext>
              </c:extLst>
            </c:dLbl>
            <c:dLbl>
              <c:idx val="1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381666355574168E-2"/>
                      <c:h val="4.996382087966819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8135-4D66-BC51-153CCB289E8F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05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ound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Sayfa1!$B$2:$B$20</c:f>
              <c:numCache>
                <c:formatCode>#,##0</c:formatCode>
                <c:ptCount val="19"/>
                <c:pt idx="0">
                  <c:v>70</c:v>
                </c:pt>
                <c:pt idx="1">
                  <c:v>52</c:v>
                </c:pt>
                <c:pt idx="2">
                  <c:v>42</c:v>
                </c:pt>
                <c:pt idx="3">
                  <c:v>16</c:v>
                </c:pt>
                <c:pt idx="4">
                  <c:v>14</c:v>
                </c:pt>
                <c:pt idx="5">
                  <c:v>13</c:v>
                </c:pt>
                <c:pt idx="6">
                  <c:v>13</c:v>
                </c:pt>
                <c:pt idx="7">
                  <c:v>9</c:v>
                </c:pt>
                <c:pt idx="8">
                  <c:v>8</c:v>
                </c:pt>
                <c:pt idx="9">
                  <c:v>6</c:v>
                </c:pt>
                <c:pt idx="10">
                  <c:v>2</c:v>
                </c:pt>
                <c:pt idx="11">
                  <c:v>3</c:v>
                </c:pt>
                <c:pt idx="12">
                  <c:v>1</c:v>
                </c:pt>
                <c:pt idx="14" formatCode="General">
                  <c:v>4</c:v>
                </c:pt>
                <c:pt idx="16" formatCode="General">
                  <c:v>1</c:v>
                </c:pt>
                <c:pt idx="17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0762-4F1E-A12E-7521D5E9219B}"/>
            </c:ext>
          </c:extLst>
        </c:ser>
        <c:ser>
          <c:idx val="1"/>
          <c:order val="1"/>
          <c:tx>
            <c:strRef>
              <c:f>Sayfa1!$C$1</c:f>
              <c:strCache>
                <c:ptCount val="1"/>
                <c:pt idx="0">
                  <c:v>Dergi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7.9434021927419513E-3"/>
                  <c:y val="-2.269571885472759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4274725297360746E-2"/>
                      <c:h val="5.494079544741750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F8CA-4E0D-9999-E123535F1D18}"/>
                </c:ext>
              </c:extLst>
            </c:dLbl>
            <c:dLbl>
              <c:idx val="2"/>
              <c:layout>
                <c:manualLayout>
                  <c:x val="3.4095314952448325E-3"/>
                  <c:y val="9.078287541891027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3061076020254578E-2"/>
                      <c:h val="5.947993921836301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C2D7-4359-B1DF-CAF35226FCDA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3137342229519785E-2"/>
                      <c:h val="5.721036733289026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C2D7-4359-B1DF-CAF35226FCDA}"/>
                </c:ext>
              </c:extLst>
            </c:dLbl>
            <c:dLbl>
              <c:idx val="4"/>
              <c:layout>
                <c:manualLayout>
                  <c:x val="1.1373830678409595E-3"/>
                  <c:y val="-3.404357828209134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3137342229519785E-2"/>
                      <c:h val="5.721036733289026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F8CA-4E0D-9999-E123535F1D18}"/>
                </c:ext>
              </c:extLst>
            </c:dLbl>
            <c:dLbl>
              <c:idx val="5"/>
              <c:layout>
                <c:manualLayout>
                  <c:x val="1.1546460912560431E-3"/>
                  <c:y val="1.02130734846274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373110992556589E-2"/>
                      <c:h val="5.267122356194475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0-0762-4F1E-A12E-7521D5E9219B}"/>
                </c:ext>
              </c:extLst>
            </c:dLbl>
            <c:dLbl>
              <c:idx val="6"/>
              <c:layout>
                <c:manualLayout>
                  <c:x val="5.5809458063763272E-3"/>
                  <c:y val="-9.078287541891109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259175740170703E-2"/>
                      <c:h val="4.586250790552647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1-0762-4F1E-A12E-7521D5E9219B}"/>
                </c:ext>
              </c:extLst>
            </c:dLbl>
            <c:dLbl>
              <c:idx val="7"/>
              <c:layout>
                <c:manualLayout>
                  <c:x val="3.3950035119647603E-3"/>
                  <c:y val="-1.58870031983093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8192449235556827E-2"/>
                      <c:h val="5.494079544741750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2-0762-4F1E-A12E-7521D5E9219B}"/>
                </c:ext>
              </c:extLst>
            </c:dLbl>
            <c:dLbl>
              <c:idx val="8"/>
              <c:layout>
                <c:manualLayout>
                  <c:x val="4.5284285974809477E-3"/>
                  <c:y val="-8.9353223835589302E-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3712806613376778E-2"/>
                      <c:h val="5.040165167647198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3-0762-4F1E-A12E-7521D5E9219B}"/>
                </c:ext>
              </c:extLst>
            </c:dLbl>
            <c:dLbl>
              <c:idx val="10"/>
              <c:layout>
                <c:manualLayout>
                  <c:x val="-3.3990690099065016E-3"/>
                  <c:y val="-6.808715656418185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3710126065283313E-2"/>
                      <c:h val="5.494079544741750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F10D-4B61-A687-009FA9AD5987}"/>
                </c:ext>
              </c:extLst>
            </c:dLbl>
            <c:dLbl>
              <c:idx val="11"/>
              <c:layout>
                <c:manualLayout>
                  <c:x val="-4.5457181326837353E-3"/>
                  <c:y val="-1.13478594273646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922918516430993E-2"/>
                      <c:h val="5.721036733289026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4-0762-4F1E-A12E-7521D5E9219B}"/>
                </c:ext>
              </c:extLst>
            </c:dLbl>
            <c:dLbl>
              <c:idx val="1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114326359053519E-2"/>
                      <c:h val="5.040165167647198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7B47-4ED3-9D08-905BEB03AD10}"/>
                </c:ext>
              </c:extLst>
            </c:dLbl>
            <c:dLbl>
              <c:idx val="1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575264920801861E-2"/>
                      <c:h val="5.040165167647198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7B47-4ED3-9D08-905BEB03AD10}"/>
                </c:ext>
              </c:extLst>
            </c:dLbl>
            <c:dLbl>
              <c:idx val="14"/>
              <c:layout>
                <c:manualLayout>
                  <c:x val="0"/>
                  <c:y val="-1.58870031983092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249091718616433E-2"/>
                      <c:h val="5.494079544741750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7B47-4ED3-9D08-905BEB03AD10}"/>
                </c:ext>
              </c:extLst>
            </c:dLbl>
            <c:dLbl>
              <c:idx val="1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7979560999490605E-2"/>
                      <c:h val="5.267122356194475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8135-4D66-BC51-153CCB289E8F}"/>
                </c:ext>
              </c:extLst>
            </c:dLbl>
            <c:dLbl>
              <c:idx val="1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5710030280364775E-2"/>
                      <c:h val="5.267122356194475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8135-4D66-BC51-153CCB289E8F}"/>
                </c:ext>
              </c:extLst>
            </c:dLbl>
            <c:dLbl>
              <c:idx val="1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2305734201676041E-2"/>
                      <c:h val="5.494079544741750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8135-4D66-BC51-153CCB289E8F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05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Sayfa1!$C$2:$C$20</c:f>
              <c:numCache>
                <c:formatCode>#,##0</c:formatCode>
                <c:ptCount val="19"/>
                <c:pt idx="0">
                  <c:v>42</c:v>
                </c:pt>
                <c:pt idx="1">
                  <c:v>33</c:v>
                </c:pt>
                <c:pt idx="2">
                  <c:v>39</c:v>
                </c:pt>
                <c:pt idx="3">
                  <c:v>29</c:v>
                </c:pt>
                <c:pt idx="4">
                  <c:v>27</c:v>
                </c:pt>
                <c:pt idx="5">
                  <c:v>20</c:v>
                </c:pt>
                <c:pt idx="6">
                  <c:v>12</c:v>
                </c:pt>
                <c:pt idx="7">
                  <c:v>8</c:v>
                </c:pt>
                <c:pt idx="8">
                  <c:v>9</c:v>
                </c:pt>
                <c:pt idx="9">
                  <c:v>9</c:v>
                </c:pt>
                <c:pt idx="10">
                  <c:v>7</c:v>
                </c:pt>
                <c:pt idx="11">
                  <c:v>3</c:v>
                </c:pt>
                <c:pt idx="12">
                  <c:v>5</c:v>
                </c:pt>
                <c:pt idx="13">
                  <c:v>5</c:v>
                </c:pt>
                <c:pt idx="14" formatCode="General">
                  <c:v>1</c:v>
                </c:pt>
                <c:pt idx="15" formatCode="General">
                  <c:v>4</c:v>
                </c:pt>
                <c:pt idx="16" formatCode="General">
                  <c:v>3</c:v>
                </c:pt>
                <c:pt idx="17" formatCode="General">
                  <c:v>3</c:v>
                </c:pt>
                <c:pt idx="18" formatCode="General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0762-4F1E-A12E-7521D5E921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76410088"/>
        <c:axId val="376416752"/>
      </c:barChart>
      <c:catAx>
        <c:axId val="376410088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76416752"/>
        <c:crosses val="autoZero"/>
        <c:auto val="1"/>
        <c:lblAlgn val="ctr"/>
        <c:lblOffset val="100"/>
        <c:noMultiLvlLbl val="0"/>
      </c:catAx>
      <c:valAx>
        <c:axId val="376416752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376410088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31952833350643556"/>
          <c:y val="0.89574212230705019"/>
          <c:w val="0.38993452200885043"/>
          <c:h val="5.165167357126453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1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defRPr>
          </a:pPr>
          <a:endParaRPr lang="tr-T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3740037039282625E-3"/>
          <c:y val="2.7846753502512346E-2"/>
          <c:w val="0.99149743720555472"/>
          <c:h val="0.776125105260253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Ulusal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78A-4019-8ADF-0F9437E197AD}"/>
              </c:ext>
            </c:extLst>
          </c:dPt>
          <c:dPt>
            <c:idx val="1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78A-4019-8ADF-0F9437E197AD}"/>
              </c:ext>
            </c:extLst>
          </c:dPt>
          <c:dPt>
            <c:idx val="2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78A-4019-8ADF-0F9437E197AD}"/>
              </c:ext>
            </c:extLst>
          </c:dPt>
          <c:dPt>
            <c:idx val="9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919C-40C8-ACCF-3021FFD0502E}"/>
              </c:ext>
            </c:extLst>
          </c:dPt>
          <c:dLbls>
            <c:dLbl>
              <c:idx val="0"/>
              <c:layout>
                <c:manualLayout>
                  <c:x val="3.4803922374646947E-3"/>
                  <c:y val="-1.134785942736377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4057380980177106E-2"/>
                      <c:h val="4.873414181321637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978A-4019-8ADF-0F9437E197AD}"/>
                </c:ext>
              </c:extLst>
            </c:dLbl>
            <c:dLbl>
              <c:idx val="1"/>
              <c:layout>
                <c:manualLayout>
                  <c:x val="7.540849847840164E-3"/>
                  <c:y val="-7.943590952378483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936465759426155E-2"/>
                      <c:h val="4.41949980422708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978A-4019-8ADF-0F9437E197AD}"/>
                </c:ext>
              </c:extLst>
            </c:dLbl>
            <c:dLbl>
              <c:idx val="2"/>
              <c:layout>
                <c:manualLayout>
                  <c:x val="-2.1268817974195188E-17"/>
                  <c:y val="-2.49652907402002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4776335013604588E-2"/>
                      <c:h val="5.327328558416188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978A-4019-8ADF-0F9437E197AD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295942776139889E-2"/>
                      <c:h val="5.327328558416188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978A-4019-8ADF-0F9437E197AD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135812030318322E-2"/>
                      <c:h val="5.327328558416188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919C-40C8-ACCF-3021FFD0502E}"/>
                </c:ext>
              </c:extLst>
            </c:dLbl>
            <c:dLbl>
              <c:idx val="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03834277789379E-2"/>
                      <c:h val="5.223339276514094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919C-40C8-ACCF-3021FFD0502E}"/>
                </c:ext>
              </c:extLst>
            </c:dLbl>
            <c:dLbl>
              <c:idx val="6"/>
              <c:layout>
                <c:manualLayout>
                  <c:x val="3.4803922374647385E-3"/>
                  <c:y val="4.5391437709455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878212032072227E-2"/>
                      <c:h val="5.223339276514094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919C-40C8-ACCF-3021FFD0502E}"/>
                </c:ext>
              </c:extLst>
            </c:dLbl>
            <c:dLbl>
              <c:idx val="7"/>
              <c:layout>
                <c:manualLayout>
                  <c:x val="-4.6405229832862617E-3"/>
                  <c:y val="-9.078198188667186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878212032072227E-2"/>
                      <c:h val="5.904210842155920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919C-40C8-ACCF-3021FFD0502E}"/>
                </c:ext>
              </c:extLst>
            </c:dLbl>
            <c:dLbl>
              <c:idx val="8"/>
              <c:layout>
                <c:manualLayout>
                  <c:x val="3.480392237464696E-3"/>
                  <c:y val="-4.539054417721758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03834277789379E-2"/>
                      <c:h val="5.904210842155920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919C-40C8-ACCF-3021FFD0502E}"/>
                </c:ext>
              </c:extLst>
            </c:dLbl>
            <c:dLbl>
              <c:idx val="9"/>
              <c:layout>
                <c:manualLayout>
                  <c:x val="-1.1600850713827534E-3"/>
                  <c:y val="-4.539054417721672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975681284496756E-2"/>
                      <c:h val="5.327328558416188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919C-40C8-ACCF-3021FFD0502E}"/>
                </c:ext>
              </c:extLst>
            </c:dLbl>
            <c:dLbl>
              <c:idx val="1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557950540429094E-2"/>
                      <c:h val="4.996382087966819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E-919C-40C8-ACCF-3021FFD0502E}"/>
                </c:ext>
              </c:extLst>
            </c:dLbl>
            <c:dLbl>
              <c:idx val="1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878212032072227E-2"/>
                      <c:h val="4.76942489941954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F-919C-40C8-ACCF-3021FFD0502E}"/>
                </c:ext>
              </c:extLst>
            </c:dLbl>
            <c:dLbl>
              <c:idx val="1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3518735015358486E-2"/>
                      <c:h val="4.088553333777716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F628-41FC-B666-811C6D3C2B4D}"/>
                </c:ext>
              </c:extLst>
            </c:dLbl>
            <c:dLbl>
              <c:idx val="1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557950540429094E-2"/>
                      <c:h val="4.76942489941954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F628-41FC-B666-811C6D3C2B4D}"/>
                </c:ext>
              </c:extLst>
            </c:dLbl>
            <c:dLbl>
              <c:idx val="1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7718081286250661E-2"/>
                      <c:h val="4.76942489941954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F628-41FC-B666-811C6D3C2B4D}"/>
                </c:ext>
              </c:extLst>
            </c:dLbl>
            <c:dLbl>
              <c:idx val="1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5397819794607531E-2"/>
                      <c:h val="4.542467710872267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F628-41FC-B666-811C6D3C2B4D}"/>
                </c:ext>
              </c:extLst>
            </c:dLbl>
            <c:dLbl>
              <c:idx val="1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5397819794607531E-2"/>
                      <c:h val="4.76942489941954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1141-439D-A65A-ECD5E957B4B4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05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ound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Sayfa1!$B$2:$B$20</c:f>
              <c:numCache>
                <c:formatCode>#,##0</c:formatCode>
                <c:ptCount val="19"/>
                <c:pt idx="0">
                  <c:v>74</c:v>
                </c:pt>
                <c:pt idx="1">
                  <c:v>64</c:v>
                </c:pt>
                <c:pt idx="2">
                  <c:v>56</c:v>
                </c:pt>
                <c:pt idx="3">
                  <c:v>39</c:v>
                </c:pt>
                <c:pt idx="4">
                  <c:v>39</c:v>
                </c:pt>
                <c:pt idx="5">
                  <c:v>28</c:v>
                </c:pt>
                <c:pt idx="6">
                  <c:v>19</c:v>
                </c:pt>
                <c:pt idx="7">
                  <c:v>13</c:v>
                </c:pt>
                <c:pt idx="8">
                  <c:v>13</c:v>
                </c:pt>
                <c:pt idx="9">
                  <c:v>10</c:v>
                </c:pt>
                <c:pt idx="10">
                  <c:v>9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 formatCode="General">
                  <c:v>1</c:v>
                </c:pt>
                <c:pt idx="15" formatCode="General">
                  <c:v>4</c:v>
                </c:pt>
                <c:pt idx="16" formatCode="General">
                  <c:v>3</c:v>
                </c:pt>
                <c:pt idx="17" formatCode="General">
                  <c:v>4</c:v>
                </c:pt>
                <c:pt idx="18" formatCode="General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78A-4019-8ADF-0F9437E197AD}"/>
            </c:ext>
          </c:extLst>
        </c:ser>
        <c:ser>
          <c:idx val="1"/>
          <c:order val="1"/>
          <c:tx>
            <c:strRef>
              <c:f>Sayfa1!$C$1</c:f>
              <c:strCache>
                <c:ptCount val="1"/>
                <c:pt idx="0">
                  <c:v>Yerel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7280481795904312E-2"/>
                      <c:h val="5.494079544741750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6C05-4233-AD49-92CC6B63CDA3}"/>
                </c:ext>
              </c:extLst>
            </c:dLbl>
            <c:dLbl>
              <c:idx val="1"/>
              <c:layout>
                <c:manualLayout>
                  <c:x val="2.3202614916431308E-3"/>
                  <c:y val="7.943501599154564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479828066796493E-2"/>
                      <c:h val="6.174951110383577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9-919C-40C8-ACCF-3021FFD0502E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7280481795904326E-2"/>
                      <c:h val="5.721036733289026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2-919C-40C8-ACCF-3021FFD0502E}"/>
                </c:ext>
              </c:extLst>
            </c:dLbl>
            <c:dLbl>
              <c:idx val="3"/>
              <c:layout>
                <c:manualLayout>
                  <c:x val="5.8006537291078264E-3"/>
                  <c:y val="6.808715656418268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385-45C9-A370-EC36761222C8}"/>
                </c:ext>
              </c:extLst>
            </c:dLbl>
            <c:dLbl>
              <c:idx val="4"/>
              <c:layout>
                <c:manualLayout>
                  <c:x val="0"/>
                  <c:y val="-1.361743131283645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565863362906618E-2"/>
                      <c:h val="5.267122356194475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A3EC-4BF8-8B75-9527D712C6E0}"/>
                </c:ext>
              </c:extLst>
            </c:dLbl>
            <c:dLbl>
              <c:idx val="5"/>
              <c:layout>
                <c:manualLayout>
                  <c:x val="2.900372538992637E-3"/>
                  <c:y val="-8.3266726846886741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96455590469096E-2"/>
                      <c:h val="5.040165167647198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4-919C-40C8-ACCF-3021FFD0502E}"/>
                </c:ext>
              </c:extLst>
            </c:dLbl>
            <c:dLbl>
              <c:idx val="6"/>
              <c:layout>
                <c:manualLayout>
                  <c:x val="-8.6736173798840355E-17"/>
                  <c:y val="-1.134785942736377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2804425158869397E-2"/>
                      <c:h val="4.132336413458097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5-919C-40C8-ACCF-3021FFD0502E}"/>
                </c:ext>
              </c:extLst>
            </c:dLbl>
            <c:dLbl>
              <c:idx val="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1644294413047833E-2"/>
                      <c:h val="3.905379224910821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527F-4850-B815-0B0B207B0E72}"/>
                </c:ext>
              </c:extLst>
            </c:dLbl>
            <c:dLbl>
              <c:idx val="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0484163667226267E-2"/>
                      <c:h val="4.132336413458097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6-919C-40C8-ACCF-3021FFD0502E}"/>
                </c:ext>
              </c:extLst>
            </c:dLbl>
            <c:dLbl>
              <c:idx val="9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63995881261806E-2"/>
                      <c:h val="5.947993921836301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7-919C-40C8-ACCF-3021FFD0502E}"/>
                </c:ext>
              </c:extLst>
            </c:dLbl>
            <c:dLbl>
              <c:idx val="1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565863362906618E-2"/>
                      <c:h val="5.040165167647198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A-919C-40C8-ACCF-3021FFD0502E}"/>
                </c:ext>
              </c:extLst>
            </c:dLbl>
            <c:dLbl>
              <c:idx val="11"/>
              <c:layout>
                <c:manualLayout>
                  <c:x val="6.9607844749294771E-3"/>
                  <c:y val="-8.3216674474543048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605078887977226E-2"/>
                      <c:h val="5.947993921836301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8-919C-40C8-ACCF-3021FFD0502E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05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Sayfa1!$C$2:$C$20</c:f>
              <c:numCache>
                <c:formatCode>#,##0</c:formatCode>
                <c:ptCount val="19"/>
                <c:pt idx="0">
                  <c:v>38</c:v>
                </c:pt>
                <c:pt idx="1">
                  <c:v>21</c:v>
                </c:pt>
                <c:pt idx="2">
                  <c:v>25</c:v>
                </c:pt>
                <c:pt idx="3">
                  <c:v>6</c:v>
                </c:pt>
                <c:pt idx="4">
                  <c:v>2</c:v>
                </c:pt>
                <c:pt idx="5">
                  <c:v>5</c:v>
                </c:pt>
                <c:pt idx="6">
                  <c:v>6</c:v>
                </c:pt>
                <c:pt idx="7">
                  <c:v>4</c:v>
                </c:pt>
                <c:pt idx="8">
                  <c:v>4</c:v>
                </c:pt>
                <c:pt idx="9">
                  <c:v>5</c:v>
                </c:pt>
                <c:pt idx="11">
                  <c:v>1</c:v>
                </c:pt>
                <c:pt idx="12">
                  <c:v>1</c:v>
                </c:pt>
                <c:pt idx="14" formatCode="General">
                  <c:v>4</c:v>
                </c:pt>
                <c:pt idx="16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978A-4019-8ADF-0F9437E197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76405384"/>
        <c:axId val="376407736"/>
      </c:barChart>
      <c:catAx>
        <c:axId val="376405384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76407736"/>
        <c:crosses val="autoZero"/>
        <c:auto val="1"/>
        <c:lblAlgn val="ctr"/>
        <c:lblOffset val="100"/>
        <c:noMultiLvlLbl val="0"/>
      </c:catAx>
      <c:valAx>
        <c:axId val="376407736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37640538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30519267213919521"/>
          <c:y val="0.89347255042157758"/>
          <c:w val="0.3910718832367916"/>
          <c:h val="5.165167357126453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1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defRPr>
          </a:pPr>
          <a:endParaRPr lang="tr-T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02AA-4C70-86A7-D2E4C18A4D17}"/>
              </c:ext>
            </c:extLst>
          </c:dPt>
          <c:dLbls>
            <c:dLbl>
              <c:idx val="0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3.969368012611163E-2"/>
                      <c:h val="5.573236754124637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02AA-4C70-86A7-D2E4C18A4D17}"/>
                </c:ext>
              </c:extLst>
            </c:dLbl>
            <c:dLbl>
              <c:idx val="1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3.2892269689477824E-2"/>
                      <c:h val="6.113745936943866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2AA-4C70-86A7-D2E4C18A4D17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72499258731503E-2"/>
                      <c:h val="5.66036152944053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0AB3-4CD8-B481-D620E445A1D8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Sayfa1!$A$2:$A$23</c:f>
              <c:strCache>
                <c:ptCount val="22"/>
                <c:pt idx="0">
                  <c:v>Günlük Evrensel</c:v>
                </c:pt>
                <c:pt idx="1">
                  <c:v>Fortune Türkiye Ek</c:v>
                </c:pt>
                <c:pt idx="2">
                  <c:v>Posta</c:v>
                </c:pt>
                <c:pt idx="3">
                  <c:v>Analiz</c:v>
                </c:pt>
                <c:pt idx="4">
                  <c:v>Nasıl Bir Ekonomi</c:v>
                </c:pt>
                <c:pt idx="5">
                  <c:v>Para</c:v>
                </c:pt>
                <c:pt idx="6">
                  <c:v>Capital</c:v>
                </c:pt>
                <c:pt idx="7">
                  <c:v>Inbusiness</c:v>
                </c:pt>
                <c:pt idx="8">
                  <c:v>Business Türkiye Challenge</c:v>
                </c:pt>
                <c:pt idx="9">
                  <c:v>Subcon Turkey</c:v>
                </c:pt>
                <c:pt idx="10">
                  <c:v>İstif Material Handling</c:v>
                </c:pt>
                <c:pt idx="11">
                  <c:v>Home Appliances Turkey</c:v>
                </c:pt>
                <c:pt idx="12">
                  <c:v>Yeni Gün</c:v>
                </c:pt>
                <c:pt idx="13">
                  <c:v>Sektörel Tanıtım Otomasyon</c:v>
                </c:pt>
                <c:pt idx="14">
                  <c:v>İstanbul</c:v>
                </c:pt>
                <c:pt idx="15">
                  <c:v>Dağıtım Kanalı</c:v>
                </c:pt>
                <c:pt idx="16">
                  <c:v>Yeni Mesaj</c:v>
                </c:pt>
                <c:pt idx="17">
                  <c:v>Global Sanayici</c:v>
                </c:pt>
                <c:pt idx="18">
                  <c:v>Kırklareli</c:v>
                </c:pt>
                <c:pt idx="19">
                  <c:v>Demirköy-İğneada</c:v>
                </c:pt>
                <c:pt idx="20">
                  <c:v>Trakya</c:v>
                </c:pt>
                <c:pt idx="21">
                  <c:v>Çerkezköy Haber</c:v>
                </c:pt>
              </c:strCache>
            </c:strRef>
          </c:cat>
          <c:val>
            <c:numRef>
              <c:f>Sayfa1!$B$2:$B$23</c:f>
              <c:numCache>
                <c:formatCode>#,##0</c:formatCode>
                <c:ptCount val="22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 formatCode="General">
                  <c:v>1</c:v>
                </c:pt>
                <c:pt idx="5">
                  <c:v>1</c:v>
                </c:pt>
                <c:pt idx="6" formatCode="General">
                  <c:v>1</c:v>
                </c:pt>
                <c:pt idx="7">
                  <c:v>1</c:v>
                </c:pt>
                <c:pt idx="8" formatCode="General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 formatCode="General">
                  <c:v>1</c:v>
                </c:pt>
                <c:pt idx="17">
                  <c:v>1</c:v>
                </c:pt>
                <c:pt idx="18" formatCode="General">
                  <c:v>1</c:v>
                </c:pt>
                <c:pt idx="19" formatCode="General">
                  <c:v>1</c:v>
                </c:pt>
                <c:pt idx="20" formatCode="General">
                  <c:v>1</c:v>
                </c:pt>
                <c:pt idx="21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76410480"/>
        <c:axId val="376411656"/>
      </c:barChart>
      <c:catAx>
        <c:axId val="37641048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76411656"/>
        <c:crosses val="autoZero"/>
        <c:auto val="1"/>
        <c:lblAlgn val="ctr"/>
        <c:lblOffset val="100"/>
        <c:noMultiLvlLbl val="0"/>
      </c:catAx>
      <c:valAx>
        <c:axId val="376411656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7641048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02AA-4C70-86A7-D2E4C18A4D17}"/>
              </c:ext>
            </c:extLst>
          </c:dPt>
          <c:dLbls>
            <c:dLbl>
              <c:idx val="0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3.969368012611163E-2"/>
                      <c:h val="5.573236754124637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02AA-4C70-86A7-D2E4C18A4D17}"/>
                </c:ext>
              </c:extLst>
            </c:dLbl>
            <c:dLbl>
              <c:idx val="1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3.2892269689477824E-2"/>
                      <c:h val="6.113745936943866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2AA-4C70-86A7-D2E4C18A4D17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72499258731503E-2"/>
                      <c:h val="5.66036152944053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0AB3-4CD8-B481-D620E445A1D8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390438382989434E-2"/>
                      <c:h val="5.66036152944053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B8CB-43EA-B7B5-9C4C2F9B0316}"/>
                </c:ext>
              </c:extLst>
            </c:dLbl>
            <c:dLbl>
              <c:idx val="4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2.4223161280826636E-2"/>
                      <c:h val="6.113745936943866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F41E-4EC8-AECE-3565C725E4EC}"/>
                </c:ext>
              </c:extLst>
            </c:dLbl>
            <c:dLbl>
              <c:idx val="5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2.3139522729745239E-2"/>
                      <c:h val="6.113745936943866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F41E-4EC8-AECE-3565C725E4EC}"/>
                </c:ext>
              </c:extLst>
            </c:dLbl>
            <c:dLbl>
              <c:idx val="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223161280826636E-2"/>
                      <c:h val="5.66036152944053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41E-4EC8-AECE-3565C725E4EC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Sayfa1!$A$2:$A$16</c:f>
              <c:strCache>
                <c:ptCount val="15"/>
                <c:pt idx="0">
                  <c:v>Nasıl Bir Ekonomi</c:v>
                </c:pt>
                <c:pt idx="1">
                  <c:v>Para</c:v>
                </c:pt>
                <c:pt idx="2">
                  <c:v>Günlük Evrensel</c:v>
                </c:pt>
                <c:pt idx="3">
                  <c:v>Türkiye</c:v>
                </c:pt>
                <c:pt idx="4">
                  <c:v>Ekonomist</c:v>
                </c:pt>
                <c:pt idx="5">
                  <c:v>Dünya</c:v>
                </c:pt>
                <c:pt idx="6">
                  <c:v>Paranın Yönü</c:v>
                </c:pt>
                <c:pt idx="7">
                  <c:v>Marketing Türkiye</c:v>
                </c:pt>
                <c:pt idx="8">
                  <c:v>Türkiye'de Yeni Çağ</c:v>
                </c:pt>
                <c:pt idx="9">
                  <c:v>Bloomberg Businessweek Türkiye</c:v>
                </c:pt>
                <c:pt idx="10">
                  <c:v>Capital</c:v>
                </c:pt>
                <c:pt idx="11">
                  <c:v>Gazete Damga</c:v>
                </c:pt>
                <c:pt idx="12">
                  <c:v>Dağıtım Kanalı</c:v>
                </c:pt>
                <c:pt idx="13">
                  <c:v>Kurumsal Yönetim</c:v>
                </c:pt>
                <c:pt idx="14">
                  <c:v>Yozgat Çamlık</c:v>
                </c:pt>
              </c:strCache>
            </c:strRef>
          </c:cat>
          <c:val>
            <c:numRef>
              <c:f>Sayfa1!$B$2:$B$16</c:f>
              <c:numCache>
                <c:formatCode>#,##0</c:formatCode>
                <c:ptCount val="15"/>
                <c:pt idx="0">
                  <c:v>8</c:v>
                </c:pt>
                <c:pt idx="1">
                  <c:v>8</c:v>
                </c:pt>
                <c:pt idx="2">
                  <c:v>5</c:v>
                </c:pt>
                <c:pt idx="3">
                  <c:v>4</c:v>
                </c:pt>
                <c:pt idx="4" formatCode="General">
                  <c:v>4</c:v>
                </c:pt>
                <c:pt idx="5">
                  <c:v>3</c:v>
                </c:pt>
                <c:pt idx="6" formatCode="General">
                  <c:v>3</c:v>
                </c:pt>
                <c:pt idx="7">
                  <c:v>3</c:v>
                </c:pt>
                <c:pt idx="8" formatCode="General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76410480"/>
        <c:axId val="376411656"/>
      </c:barChart>
      <c:catAx>
        <c:axId val="37641048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76411656"/>
        <c:crosses val="autoZero"/>
        <c:auto val="1"/>
        <c:lblAlgn val="ctr"/>
        <c:lblOffset val="100"/>
        <c:noMultiLvlLbl val="0"/>
      </c:catAx>
      <c:valAx>
        <c:axId val="376411656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7641048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381317047468915"/>
          <c:y val="2.7838199190675501E-2"/>
          <c:w val="0.75115460834359027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02AA-4C70-86A7-D2E4C18A4D1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2AA-4C70-86A7-D2E4C18A4D17}"/>
              </c:ext>
            </c:extLst>
          </c:dPt>
          <c:dLbls>
            <c:dLbl>
              <c:idx val="0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3.6442764472867435E-2"/>
                      <c:h val="6.026621161627971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02AA-4C70-86A7-D2E4C18A4D17}"/>
                </c:ext>
              </c:extLst>
            </c:dLbl>
            <c:dLbl>
              <c:idx val="1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3.7526403023948836E-2"/>
                      <c:h val="6.026621161627971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2AA-4C70-86A7-D2E4C18A4D17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641354036233632E-2"/>
                      <c:h val="5.66036152944053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493F-44B0-92D5-F3F183731A10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72499258731503E-2"/>
                      <c:h val="5.66036152944053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493F-44B0-92D5-F3F183731A10}"/>
                </c:ext>
              </c:extLst>
            </c:dLbl>
            <c:dLbl>
              <c:idx val="4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2.9940933166379049E-2"/>
                      <c:h val="5.346544550372971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A42F-4025-A97A-6FA4DBFB7831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Sayfa1!$A$2:$A$12</c:f>
              <c:strCache>
                <c:ptCount val="11"/>
                <c:pt idx="0">
                  <c:v>Nasıl Bir Ekonomi</c:v>
                </c:pt>
                <c:pt idx="1">
                  <c:v>Paranın Yönü</c:v>
                </c:pt>
                <c:pt idx="2">
                  <c:v>Para</c:v>
                </c:pt>
                <c:pt idx="3">
                  <c:v>Posta</c:v>
                </c:pt>
                <c:pt idx="4">
                  <c:v>Yeni Birlik</c:v>
                </c:pt>
                <c:pt idx="5">
                  <c:v>Marketing Türkiye</c:v>
                </c:pt>
                <c:pt idx="6">
                  <c:v>Ekonomist</c:v>
                </c:pt>
                <c:pt idx="7">
                  <c:v>Business Türkiye Challenge</c:v>
                </c:pt>
                <c:pt idx="8">
                  <c:v>Dağıtım Kanalı</c:v>
                </c:pt>
                <c:pt idx="9">
                  <c:v>Manisa Manşet</c:v>
                </c:pt>
                <c:pt idx="10">
                  <c:v>Hür Işık</c:v>
                </c:pt>
              </c:strCache>
            </c:strRef>
          </c:cat>
          <c:val>
            <c:numRef>
              <c:f>Sayfa1!$B$2:$B$12</c:f>
              <c:numCache>
                <c:formatCode>#,##0</c:formatCode>
                <c:ptCount val="11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78070648"/>
        <c:axId val="378062416"/>
      </c:barChart>
      <c:catAx>
        <c:axId val="3780706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78062416"/>
        <c:crosses val="autoZero"/>
        <c:auto val="1"/>
        <c:lblAlgn val="ctr"/>
        <c:lblOffset val="100"/>
        <c:noMultiLvlLbl val="0"/>
      </c:catAx>
      <c:valAx>
        <c:axId val="378062416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7807064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52F0-43B7-98A2-B37381A6B0C1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892269689477824E-2"/>
                      <c:h val="5.66036152944053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1CB6-456D-92E3-1887DB660A31}"/>
                </c:ext>
              </c:extLst>
            </c:dLbl>
            <c:dLbl>
              <c:idx val="1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3.1024571717460446E-2"/>
                      <c:h val="5.573236754124637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52F0-43B7-98A2-B37381A6B0C1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7474076934070835E-2"/>
                      <c:h val="5.66036152944053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A58F-481A-A97C-8267AD4DB6E4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Sayfa1!$A$2:$A$5</c:f>
              <c:strCache>
                <c:ptCount val="4"/>
                <c:pt idx="0">
                  <c:v>Inbusiness</c:v>
                </c:pt>
                <c:pt idx="1">
                  <c:v>Business Türkiye Challenge</c:v>
                </c:pt>
                <c:pt idx="2">
                  <c:v>Sektörel Tanıtım Otomasyon</c:v>
                </c:pt>
                <c:pt idx="3">
                  <c:v>Aksaray Yenigün</c:v>
                </c:pt>
              </c:strCache>
            </c:strRef>
          </c:cat>
          <c:val>
            <c:numRef>
              <c:f>Sayfa1!$B$2:$B$5</c:f>
              <c:numCache>
                <c:formatCode>#,##0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78074568"/>
        <c:axId val="378075744"/>
      </c:barChart>
      <c:catAx>
        <c:axId val="37807456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78075744"/>
        <c:crosses val="autoZero"/>
        <c:auto val="1"/>
        <c:lblAlgn val="ctr"/>
        <c:lblOffset val="100"/>
        <c:noMultiLvlLbl val="0"/>
      </c:catAx>
      <c:valAx>
        <c:axId val="378075744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7807456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4C6D-451D-B311-5914F8270CAF}"/>
              </c:ext>
            </c:extLst>
          </c:dPt>
          <c:dLbls>
            <c:dLbl>
              <c:idx val="0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3.1024571717460446E-2"/>
                      <c:h val="5.573236754124637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4C6D-451D-B311-5914F8270CAF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7474076934070835E-2"/>
                      <c:h val="5.66036152944053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4C6D-451D-B311-5914F8270CAF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557715485152232E-2"/>
                      <c:h val="5.66036152944053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4C6D-451D-B311-5914F8270CAF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557715485152232E-2"/>
                      <c:h val="5.66036152944053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4C6D-451D-B311-5914F8270CAF}"/>
                </c:ext>
              </c:extLst>
            </c:dLbl>
            <c:dLbl>
              <c:idx val="4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2.5306799831908037E-2"/>
                      <c:h val="5.887053733192201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719-4BB7-81DD-C77190DC741D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Sayfa1!$A$2:$A$9</c:f>
              <c:strCache>
                <c:ptCount val="8"/>
                <c:pt idx="0">
                  <c:v>Nasıl Bir Ekonomi</c:v>
                </c:pt>
                <c:pt idx="1">
                  <c:v>Women's Shine</c:v>
                </c:pt>
                <c:pt idx="2">
                  <c:v>Retail Türkiye</c:v>
                </c:pt>
                <c:pt idx="3">
                  <c:v>Analiz</c:v>
                </c:pt>
                <c:pt idx="4">
                  <c:v>Dünya</c:v>
                </c:pt>
                <c:pt idx="5">
                  <c:v>Paranın Yönü</c:v>
                </c:pt>
                <c:pt idx="6">
                  <c:v>Para</c:v>
                </c:pt>
                <c:pt idx="7">
                  <c:v>Dağıtım Kanalı</c:v>
                </c:pt>
              </c:strCache>
            </c:strRef>
          </c:cat>
          <c:val>
            <c:numRef>
              <c:f>Sayfa1!$B$2:$B$9</c:f>
              <c:numCache>
                <c:formatCode>#,##0</c:formatCode>
                <c:ptCount val="8"/>
                <c:pt idx="0">
                  <c:v>5</c:v>
                </c:pt>
                <c:pt idx="1">
                  <c:v>3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78074568"/>
        <c:axId val="378075744"/>
      </c:barChart>
      <c:catAx>
        <c:axId val="37807456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78075744"/>
        <c:crosses val="autoZero"/>
        <c:auto val="1"/>
        <c:lblAlgn val="ctr"/>
        <c:lblOffset val="100"/>
        <c:noMultiLvlLbl val="0"/>
      </c:catAx>
      <c:valAx>
        <c:axId val="378075744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7807456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Lbls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Sayfa1!$A$2:$A$14</c:f>
              <c:strCache>
                <c:ptCount val="13"/>
                <c:pt idx="0">
                  <c:v>Halkın Sesi</c:v>
                </c:pt>
                <c:pt idx="1">
                  <c:v>Gazipaşa Manşet</c:v>
                </c:pt>
                <c:pt idx="2">
                  <c:v>Evim</c:v>
                </c:pt>
                <c:pt idx="3">
                  <c:v>Karar</c:v>
                </c:pt>
                <c:pt idx="4">
                  <c:v>Marketing Türkiye</c:v>
                </c:pt>
                <c:pt idx="5">
                  <c:v>Business Türkiye Challenge</c:v>
                </c:pt>
                <c:pt idx="6">
                  <c:v>Gıda2000</c:v>
                </c:pt>
                <c:pt idx="7">
                  <c:v>Workshop</c:v>
                </c:pt>
                <c:pt idx="8">
                  <c:v>Home Appliances Turkey</c:v>
                </c:pt>
                <c:pt idx="9">
                  <c:v>Sektörel Tanıtım Otomasyon</c:v>
                </c:pt>
                <c:pt idx="10">
                  <c:v>Catering Guide</c:v>
                </c:pt>
                <c:pt idx="11">
                  <c:v>Dağıtım Kanalı</c:v>
                </c:pt>
                <c:pt idx="12">
                  <c:v>Mavi Kocaeli</c:v>
                </c:pt>
              </c:strCache>
            </c:strRef>
          </c:cat>
          <c:val>
            <c:numRef>
              <c:f>Sayfa1!$B$2:$B$14</c:f>
              <c:numCache>
                <c:formatCode>General</c:formatCode>
                <c:ptCount val="13"/>
                <c:pt idx="0">
                  <c:v>2</c:v>
                </c:pt>
                <c:pt idx="1">
                  <c:v>2</c:v>
                </c:pt>
                <c:pt idx="2" formatCode="#,##0">
                  <c:v>1</c:v>
                </c:pt>
                <c:pt idx="3" formatCode="#,##0">
                  <c:v>1</c:v>
                </c:pt>
                <c:pt idx="4" formatCode="#,##0">
                  <c:v>1</c:v>
                </c:pt>
                <c:pt idx="5" formatCode="#,##0">
                  <c:v>1</c:v>
                </c:pt>
                <c:pt idx="6">
                  <c:v>1</c:v>
                </c:pt>
                <c:pt idx="7">
                  <c:v>1</c:v>
                </c:pt>
                <c:pt idx="8" formatCode="#,##0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76408128"/>
        <c:axId val="376408912"/>
      </c:barChart>
      <c:catAx>
        <c:axId val="37640812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76408912"/>
        <c:crosses val="autoZero"/>
        <c:auto val="1"/>
        <c:lblAlgn val="ctr"/>
        <c:lblOffset val="100"/>
        <c:noMultiLvlLbl val="0"/>
      </c:catAx>
      <c:valAx>
        <c:axId val="376408912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37640812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784202954324883"/>
          <c:y val="2.7838199190675501E-2"/>
          <c:w val="0.78712569888409833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3.4622706492416118E-2"/>
                      <c:h val="7.247206955702201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C2BA-4E58-8DE4-B96FB07BA0B0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Sayfa1!$A$2:$A$6</c:f>
              <c:strCache>
                <c:ptCount val="5"/>
                <c:pt idx="0">
                  <c:v>Nasıl Bir Ekonomi</c:v>
                </c:pt>
                <c:pt idx="1">
                  <c:v>Hafta</c:v>
                </c:pt>
                <c:pt idx="2">
                  <c:v>Para</c:v>
                </c:pt>
                <c:pt idx="3">
                  <c:v>Marketing Türkiye</c:v>
                </c:pt>
                <c:pt idx="4">
                  <c:v>Kırklareli</c:v>
                </c:pt>
              </c:strCache>
            </c:strRef>
          </c:cat>
          <c:val>
            <c:numRef>
              <c:f>Sayfa1!$B$2:$B$6</c:f>
              <c:numCache>
                <c:formatCode>#,##0</c:formatCode>
                <c:ptCount val="5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76412440"/>
        <c:axId val="376406952"/>
      </c:barChart>
      <c:catAx>
        <c:axId val="37641244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76406952"/>
        <c:crosses val="autoZero"/>
        <c:auto val="1"/>
        <c:lblAlgn val="ctr"/>
        <c:lblOffset val="100"/>
        <c:noMultiLvlLbl val="0"/>
      </c:catAx>
      <c:valAx>
        <c:axId val="376406952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7641244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Lbls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Sayfa1!$A$2:$A$18</c:f>
              <c:strCache>
                <c:ptCount val="17"/>
                <c:pt idx="0">
                  <c:v>Sabah Avrupa</c:v>
                </c:pt>
                <c:pt idx="1">
                  <c:v>Sabah</c:v>
                </c:pt>
                <c:pt idx="2">
                  <c:v>Türkiye</c:v>
                </c:pt>
                <c:pt idx="3">
                  <c:v>Takvim</c:v>
                </c:pt>
                <c:pt idx="4">
                  <c:v>Home Art</c:v>
                </c:pt>
                <c:pt idx="5">
                  <c:v>Para</c:v>
                </c:pt>
                <c:pt idx="6">
                  <c:v>Subcon Turkey</c:v>
                </c:pt>
                <c:pt idx="7">
                  <c:v>Bebek</c:v>
                </c:pt>
                <c:pt idx="8">
                  <c:v>Mutfak Banyo &amp; Seramik</c:v>
                </c:pt>
                <c:pt idx="9">
                  <c:v>Home Appliances Turkey</c:v>
                </c:pt>
                <c:pt idx="10">
                  <c:v>Quality Of Magazine</c:v>
                </c:pt>
                <c:pt idx="11">
                  <c:v>İstanbul</c:v>
                </c:pt>
                <c:pt idx="12">
                  <c:v>Dağıtım Kanalı</c:v>
                </c:pt>
                <c:pt idx="13">
                  <c:v>Yeni Mesaj</c:v>
                </c:pt>
                <c:pt idx="14">
                  <c:v>Aydınlık Avrupa</c:v>
                </c:pt>
                <c:pt idx="15">
                  <c:v>Kırklareli</c:v>
                </c:pt>
                <c:pt idx="16">
                  <c:v>Demirköy-İğneada</c:v>
                </c:pt>
              </c:strCache>
            </c:strRef>
          </c:cat>
          <c:val>
            <c:numRef>
              <c:f>Sayfa1!$B$2:$B$18</c:f>
              <c:numCache>
                <c:formatCode>#,##0</c:formatCode>
                <c:ptCount val="1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 formatCode="General">
                  <c:v>1</c:v>
                </c:pt>
                <c:pt idx="5" formatCode="General">
                  <c:v>1</c:v>
                </c:pt>
                <c:pt idx="6" formatCode="General">
                  <c:v>1</c:v>
                </c:pt>
                <c:pt idx="7">
                  <c:v>1</c:v>
                </c:pt>
                <c:pt idx="8">
                  <c:v>1</c:v>
                </c:pt>
                <c:pt idx="9" formatCode="General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12606984"/>
        <c:axId val="312607768"/>
      </c:barChart>
      <c:catAx>
        <c:axId val="31260698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12607768"/>
        <c:crosses val="autoZero"/>
        <c:auto val="1"/>
        <c:lblAlgn val="ctr"/>
        <c:lblOffset val="100"/>
        <c:noMultiLvlLbl val="0"/>
      </c:catAx>
      <c:valAx>
        <c:axId val="312607768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1260698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038251887585758E-2"/>
                      <c:h val="5.66036152944053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8875-4FEA-AEC0-672A94F47DD3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339717933904249E-2"/>
                      <c:h val="5.66036152944053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ACF-4A4A-9501-86F1DFE0B71B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0812152352846888E-2"/>
                      <c:h val="5.66036152944053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8875-4FEA-AEC0-672A94F47DD3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Sayfa1!$A$2:$A$7</c:f>
              <c:strCache>
                <c:ptCount val="6"/>
                <c:pt idx="0">
                  <c:v>Forbes Türkiye</c:v>
                </c:pt>
                <c:pt idx="1">
                  <c:v>Newtech</c:v>
                </c:pt>
                <c:pt idx="2">
                  <c:v>Mutfak Banyo &amp; Seramik</c:v>
                </c:pt>
                <c:pt idx="3">
                  <c:v>Retail Türkiye</c:v>
                </c:pt>
                <c:pt idx="4">
                  <c:v>Dağıtım Kanalı</c:v>
                </c:pt>
                <c:pt idx="5">
                  <c:v>Mersin Hakimiyet</c:v>
                </c:pt>
              </c:strCache>
            </c:strRef>
          </c:cat>
          <c:val>
            <c:numRef>
              <c:f>Sayfa1!$B$2:$B$7</c:f>
              <c:numCache>
                <c:formatCode>#,##0</c:formatCode>
                <c:ptCount val="6"/>
                <c:pt idx="0">
                  <c:v>1</c:v>
                </c:pt>
                <c:pt idx="1">
                  <c:v>1</c:v>
                </c:pt>
                <c:pt idx="2" formatCode="General">
                  <c:v>1</c:v>
                </c:pt>
                <c:pt idx="3">
                  <c:v>1</c:v>
                </c:pt>
                <c:pt idx="4">
                  <c:v>1</c:v>
                </c:pt>
                <c:pt idx="5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82962768"/>
        <c:axId val="382963160"/>
      </c:barChart>
      <c:catAx>
        <c:axId val="38296276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63160"/>
        <c:crosses val="autoZero"/>
        <c:auto val="1"/>
        <c:lblAlgn val="ctr"/>
        <c:lblOffset val="100"/>
        <c:noMultiLvlLbl val="0"/>
      </c:catAx>
      <c:valAx>
        <c:axId val="382963160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8296276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2.941508444548387E-2"/>
                      <c:h val="5.887053733192201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3347-48D7-922F-7BA6D54D5C54}"/>
                </c:ext>
              </c:extLst>
            </c:dLbl>
            <c:dLbl>
              <c:idx val="1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3.0490450957063493E-2"/>
                      <c:h val="6.113745936943866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3347-48D7-922F-7BA6D54D5C54}"/>
                </c:ext>
              </c:extLst>
            </c:dLbl>
            <c:dLbl>
              <c:idx val="2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2.6188984910745002E-2"/>
                      <c:h val="6.34043814069553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C623-45EF-9176-0605C5BD1FBF}"/>
                </c:ext>
              </c:extLst>
            </c:dLbl>
            <c:dLbl>
              <c:idx val="3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2.6188984910745002E-2"/>
                      <c:h val="6.567130344447200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623-45EF-9176-0605C5BD1FBF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Sayfa1!$A$2:$A$5</c:f>
              <c:strCache>
                <c:ptCount val="4"/>
                <c:pt idx="0">
                  <c:v>Mutfak Banyo &amp; Seramik</c:v>
                </c:pt>
                <c:pt idx="1">
                  <c:v>Maison Française</c:v>
                </c:pt>
                <c:pt idx="2">
                  <c:v>Kobi Life</c:v>
                </c:pt>
                <c:pt idx="3">
                  <c:v>Quality Of Magazine</c:v>
                </c:pt>
              </c:strCache>
            </c:strRef>
          </c:cat>
          <c:val>
            <c:numRef>
              <c:f>Sayfa1!$B$2:$B$5</c:f>
              <c:numCache>
                <c:formatCode>#,##0</c:formatCode>
                <c:ptCount val="4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82964336"/>
        <c:axId val="382958064"/>
      </c:barChart>
      <c:catAx>
        <c:axId val="38296433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58064"/>
        <c:crosses val="autoZero"/>
        <c:auto val="1"/>
        <c:lblAlgn val="ctr"/>
        <c:lblOffset val="100"/>
        <c:noMultiLvlLbl val="0"/>
      </c:catAx>
      <c:valAx>
        <c:axId val="382958064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8296433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43324230539274"/>
          <c:y val="2.7838159616301133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2.941508444548387E-2"/>
                      <c:h val="6.567130344447200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EF5C-430B-A21A-E607DD459A6A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Sayfa1!$A$2:$A$18</c:f>
              <c:strCache>
                <c:ptCount val="17"/>
                <c:pt idx="0">
                  <c:v>Hürriyet Kelebek</c:v>
                </c:pt>
                <c:pt idx="1">
                  <c:v>Posta</c:v>
                </c:pt>
                <c:pt idx="2">
                  <c:v>Analiz</c:v>
                </c:pt>
                <c:pt idx="3">
                  <c:v>Forbes Türkiye</c:v>
                </c:pt>
                <c:pt idx="4">
                  <c:v>Para</c:v>
                </c:pt>
                <c:pt idx="5">
                  <c:v>Marketing Türkiye</c:v>
                </c:pt>
                <c:pt idx="6">
                  <c:v>Subcon Turkey</c:v>
                </c:pt>
                <c:pt idx="7">
                  <c:v>Ekovitrin</c:v>
                </c:pt>
                <c:pt idx="8">
                  <c:v>Mechanic</c:v>
                </c:pt>
                <c:pt idx="9">
                  <c:v>Qualıty Of Magazine</c:v>
                </c:pt>
                <c:pt idx="10">
                  <c:v>Catering Guide</c:v>
                </c:pt>
                <c:pt idx="11">
                  <c:v>İstanbul</c:v>
                </c:pt>
                <c:pt idx="12">
                  <c:v>Dağıtım Kanalı</c:v>
                </c:pt>
                <c:pt idx="13">
                  <c:v>Yeni Mesaj</c:v>
                </c:pt>
                <c:pt idx="14">
                  <c:v>Kırklareli</c:v>
                </c:pt>
                <c:pt idx="15">
                  <c:v>Demirköy-İğneada</c:v>
                </c:pt>
                <c:pt idx="16">
                  <c:v>Egemen</c:v>
                </c:pt>
              </c:strCache>
            </c:strRef>
          </c:cat>
          <c:val>
            <c:numRef>
              <c:f>Sayfa1!$B$2:$B$18</c:f>
              <c:numCache>
                <c:formatCode>General</c:formatCode>
                <c:ptCount val="17"/>
                <c:pt idx="0" formatCode="#,##0">
                  <c:v>1</c:v>
                </c:pt>
                <c:pt idx="1">
                  <c:v>1</c:v>
                </c:pt>
                <c:pt idx="2" formatCode="#,##0">
                  <c:v>1</c:v>
                </c:pt>
                <c:pt idx="3" formatCode="#,##0">
                  <c:v>1</c:v>
                </c:pt>
                <c:pt idx="4" formatCode="#,##0">
                  <c:v>1</c:v>
                </c:pt>
                <c:pt idx="5" formatCode="#,##0">
                  <c:v>1</c:v>
                </c:pt>
                <c:pt idx="6" formatCode="#,##0">
                  <c:v>1</c:v>
                </c:pt>
                <c:pt idx="7" formatCode="#,##0">
                  <c:v>1</c:v>
                </c:pt>
                <c:pt idx="8" formatCode="#,##0">
                  <c:v>1</c:v>
                </c:pt>
                <c:pt idx="9" formatCode="#,##0">
                  <c:v>1</c:v>
                </c:pt>
                <c:pt idx="10" formatCode="#,##0">
                  <c:v>1</c:v>
                </c:pt>
                <c:pt idx="11" formatCode="#,##0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82964336"/>
        <c:axId val="382958064"/>
      </c:barChart>
      <c:catAx>
        <c:axId val="38296433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58064"/>
        <c:crosses val="autoZero"/>
        <c:auto val="1"/>
        <c:lblAlgn val="ctr"/>
        <c:lblOffset val="100"/>
        <c:noMultiLvlLbl val="0"/>
      </c:catAx>
      <c:valAx>
        <c:axId val="382958064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8296433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3444268537815688"/>
          <c:y val="2.7838199190675501E-2"/>
          <c:w val="0.74052506844453825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7264351422324626E-2"/>
                      <c:h val="5.66036152944053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2BED-4D5B-90BE-2A2FF8739C1A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Sayfa1!$A$2:$A$8</c:f>
              <c:strCache>
                <c:ptCount val="7"/>
                <c:pt idx="0">
                  <c:v>Nasıl Bir Ekonomi</c:v>
                </c:pt>
                <c:pt idx="1">
                  <c:v>L’Officiel Türkiye</c:v>
                </c:pt>
                <c:pt idx="2">
                  <c:v>Vogue Türkiye</c:v>
                </c:pt>
                <c:pt idx="3">
                  <c:v>Cosmopolitan Türkiye</c:v>
                </c:pt>
                <c:pt idx="4">
                  <c:v>Newtech</c:v>
                </c:pt>
                <c:pt idx="5">
                  <c:v>Re Touch Mag</c:v>
                </c:pt>
                <c:pt idx="6">
                  <c:v>Women's Shine</c:v>
                </c:pt>
              </c:strCache>
            </c:strRef>
          </c:cat>
          <c:val>
            <c:numRef>
              <c:f>Sayfa1!$B$2:$B$8</c:f>
              <c:numCache>
                <c:formatCode>#,##0</c:formatCode>
                <c:ptCount val="7"/>
                <c:pt idx="0">
                  <c:v>3</c:v>
                </c:pt>
                <c:pt idx="1">
                  <c:v>3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82964336"/>
        <c:axId val="382958064"/>
      </c:barChart>
      <c:catAx>
        <c:axId val="38296433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58064"/>
        <c:crosses val="autoZero"/>
        <c:auto val="1"/>
        <c:lblAlgn val="ctr"/>
        <c:lblOffset val="100"/>
        <c:noMultiLvlLbl val="0"/>
      </c:catAx>
      <c:valAx>
        <c:axId val="382958064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8296433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712655886865351"/>
          <c:y val="2.7838199190675501E-2"/>
          <c:w val="0.7878411949540415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7264351422324626E-2"/>
                      <c:h val="5.66036152944053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B9A6-41B1-AAFE-EFF27D01E5F5}"/>
                </c:ext>
              </c:extLst>
            </c:dLbl>
            <c:dLbl>
              <c:idx val="1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2.8339717933904249E-2"/>
                      <c:h val="5.433669325688867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9A6-41B1-AAFE-EFF27D01E5F5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Sayfa1!$A$2:$A$9</c:f>
              <c:strCache>
                <c:ptCount val="8"/>
                <c:pt idx="0">
                  <c:v>Newtech</c:v>
                </c:pt>
                <c:pt idx="1">
                  <c:v>Hafta</c:v>
                </c:pt>
                <c:pt idx="2">
                  <c:v>Evim</c:v>
                </c:pt>
                <c:pt idx="3">
                  <c:v>Nasıl Bir Ekonomi</c:v>
                </c:pt>
                <c:pt idx="4">
                  <c:v>Oto Haber Crossover Suv</c:v>
                </c:pt>
                <c:pt idx="5">
                  <c:v>Marketing Türkiye</c:v>
                </c:pt>
                <c:pt idx="6">
                  <c:v>Business Türkiye Challenge</c:v>
                </c:pt>
                <c:pt idx="7">
                  <c:v>Dağıtım Kanalı</c:v>
                </c:pt>
              </c:strCache>
            </c:strRef>
          </c:cat>
          <c:val>
            <c:numRef>
              <c:f>Sayfa1!$B$2:$B$9</c:f>
              <c:numCache>
                <c:formatCode>#,##0</c:formatCode>
                <c:ptCount val="8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82964336"/>
        <c:axId val="382958064"/>
      </c:barChart>
      <c:catAx>
        <c:axId val="38296433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58064"/>
        <c:crosses val="autoZero"/>
        <c:auto val="1"/>
        <c:lblAlgn val="ctr"/>
        <c:lblOffset val="100"/>
        <c:noMultiLvlLbl val="0"/>
      </c:catAx>
      <c:valAx>
        <c:axId val="382958064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8296433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2.6188984910745002E-2"/>
                      <c:h val="5.887053733192201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BF54-4EE0-AAC7-7D190C5815AE}"/>
                </c:ext>
              </c:extLst>
            </c:dLbl>
            <c:dLbl>
              <c:idx val="1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2.6188984910745002E-2"/>
                      <c:h val="6.113745936943866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9B8-4893-8341-2EABA750D70E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Sayfa1!$A$2:$A$7</c:f>
              <c:strCache>
                <c:ptCount val="6"/>
                <c:pt idx="0">
                  <c:v>Hürriyet İzmir Ege</c:v>
                </c:pt>
                <c:pt idx="1">
                  <c:v>Media Cat</c:v>
                </c:pt>
                <c:pt idx="2">
                  <c:v>Yeni İzmir</c:v>
                </c:pt>
                <c:pt idx="3">
                  <c:v>Ordu Yorum</c:v>
                </c:pt>
                <c:pt idx="4">
                  <c:v>Körfez Star</c:v>
                </c:pt>
                <c:pt idx="5">
                  <c:v>Salihli Sektör</c:v>
                </c:pt>
              </c:strCache>
            </c:strRef>
          </c:cat>
          <c:val>
            <c:numRef>
              <c:f>Sayfa1!$B$2:$B$7</c:f>
              <c:numCache>
                <c:formatCode>#,##0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 formatCode="General">
                  <c:v>1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82964336"/>
        <c:axId val="382958064"/>
      </c:barChart>
      <c:catAx>
        <c:axId val="38296433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58064"/>
        <c:crosses val="autoZero"/>
        <c:auto val="1"/>
        <c:lblAlgn val="ctr"/>
        <c:lblOffset val="100"/>
        <c:noMultiLvlLbl val="0"/>
      </c:catAx>
      <c:valAx>
        <c:axId val="382958064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8296433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5272391607501044"/>
          <c:y val="2.7838199190675501E-2"/>
          <c:w val="0.72224383774768464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Lbls>
            <c:dLbl>
              <c:idx val="2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2.4038251887585758E-2"/>
                      <c:h val="6.567130344447200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8B16-4EEC-8403-4CB62D41755E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Sayfa1!$A$2:$A$5</c:f>
              <c:strCache>
                <c:ptCount val="4"/>
                <c:pt idx="0">
                  <c:v>Hafta</c:v>
                </c:pt>
                <c:pt idx="1">
                  <c:v>Mothers'Life</c:v>
                </c:pt>
                <c:pt idx="2">
                  <c:v>Marketing Türkiye</c:v>
                </c:pt>
                <c:pt idx="3">
                  <c:v>Mag</c:v>
                </c:pt>
              </c:strCache>
            </c:strRef>
          </c:cat>
          <c:val>
            <c:numRef>
              <c:f>Sayfa1!$B$2:$B$5</c:f>
              <c:numCache>
                <c:formatCode>#,##0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82964336"/>
        <c:axId val="382958064"/>
      </c:barChart>
      <c:catAx>
        <c:axId val="38296433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58064"/>
        <c:crosses val="autoZero"/>
        <c:auto val="1"/>
        <c:lblAlgn val="ctr"/>
        <c:lblOffset val="100"/>
        <c:noMultiLvlLbl val="0"/>
      </c:catAx>
      <c:valAx>
        <c:axId val="382958064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8296433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2.8339717933904249E-2"/>
                      <c:h val="6.113745936943866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113A-48C9-B535-D008289A607B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Sayfa1!$A$2:$A$6</c:f>
              <c:strCache>
                <c:ptCount val="5"/>
                <c:pt idx="0">
                  <c:v>Bizden Haberler</c:v>
                </c:pt>
                <c:pt idx="1">
                  <c:v>Nasıl Bir Ekonomi</c:v>
                </c:pt>
                <c:pt idx="2">
                  <c:v>Posta</c:v>
                </c:pt>
                <c:pt idx="3">
                  <c:v>Analiz</c:v>
                </c:pt>
                <c:pt idx="4">
                  <c:v>Hürses</c:v>
                </c:pt>
              </c:strCache>
            </c:strRef>
          </c:cat>
          <c:val>
            <c:numRef>
              <c:f>Sayfa1!$B$2:$B$6</c:f>
              <c:numCache>
                <c:formatCode>#,##0</c:formatCode>
                <c:ptCount val="5"/>
                <c:pt idx="0">
                  <c:v>6</c:v>
                </c:pt>
                <c:pt idx="1">
                  <c:v>5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82964336"/>
        <c:axId val="382958064"/>
      </c:barChart>
      <c:catAx>
        <c:axId val="38296433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58064"/>
        <c:crosses val="autoZero"/>
        <c:auto val="1"/>
        <c:lblAlgn val="ctr"/>
        <c:lblOffset val="100"/>
        <c:noMultiLvlLbl val="0"/>
      </c:catAx>
      <c:valAx>
        <c:axId val="382958064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8296433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2.8339717933904249E-2"/>
                      <c:h val="6.113745936943866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113A-48C9-B535-D008289A607B}"/>
                </c:ext>
              </c:extLst>
            </c:dLbl>
            <c:dLbl>
              <c:idx val="1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2.4655873863088814E-2"/>
                      <c:h val="6.113745936943866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0E25-4EED-9FDD-F399E2DD80E5}"/>
                </c:ext>
              </c:extLst>
            </c:dLbl>
            <c:dLbl>
              <c:idx val="2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3.017085498361486E-2"/>
                      <c:h val="7.473899159453868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E25-4EED-9FDD-F399E2DD80E5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Sayfa1!$A$2:$A$4</c:f>
              <c:strCache>
                <c:ptCount val="3"/>
                <c:pt idx="0">
                  <c:v>Bloomberg Businessweek Türkiye</c:v>
                </c:pt>
                <c:pt idx="1">
                  <c:v>Business Türkiye Challenge</c:v>
                </c:pt>
                <c:pt idx="2">
                  <c:v>Dağıtım Kanalı</c:v>
                </c:pt>
              </c:strCache>
            </c:strRef>
          </c:cat>
          <c:val>
            <c:numRef>
              <c:f>Sayfa1!$B$2:$B$4</c:f>
              <c:numCache>
                <c:formatCode>#,##0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82964336"/>
        <c:axId val="382958064"/>
      </c:barChart>
      <c:catAx>
        <c:axId val="38296433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58064"/>
        <c:crosses val="autoZero"/>
        <c:auto val="1"/>
        <c:lblAlgn val="ctr"/>
        <c:lblOffset val="100"/>
        <c:noMultiLvlLbl val="0"/>
      </c:catAx>
      <c:valAx>
        <c:axId val="382958064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8296433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2.8339717933904249E-2"/>
                      <c:h val="6.113745936943866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113A-48C9-B535-D008289A607B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Sayfa1!$A$2:$A$5</c:f>
              <c:strCache>
                <c:ptCount val="4"/>
                <c:pt idx="0">
                  <c:v>Business Türkiye Challenge</c:v>
                </c:pt>
                <c:pt idx="1">
                  <c:v>Bizden Haberler</c:v>
                </c:pt>
                <c:pt idx="2">
                  <c:v>Steeltürk</c:v>
                </c:pt>
                <c:pt idx="3">
                  <c:v>Home Appliances Turkey</c:v>
                </c:pt>
              </c:strCache>
            </c:strRef>
          </c:cat>
          <c:val>
            <c:numRef>
              <c:f>Sayfa1!$B$2:$B$5</c:f>
              <c:numCache>
                <c:formatCode>#,##0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82964336"/>
        <c:axId val="382958064"/>
      </c:barChart>
      <c:catAx>
        <c:axId val="38296433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58064"/>
        <c:crosses val="autoZero"/>
        <c:auto val="1"/>
        <c:lblAlgn val="ctr"/>
        <c:lblOffset val="100"/>
        <c:noMultiLvlLbl val="0"/>
      </c:catAx>
      <c:valAx>
        <c:axId val="382958064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8296433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2.8339717933904249E-2"/>
                      <c:h val="6.113745936943866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113A-48C9-B535-D008289A607B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Sayfa1!$A$2:$A$7</c:f>
              <c:strCache>
                <c:ptCount val="6"/>
                <c:pt idx="0">
                  <c:v>Milat</c:v>
                </c:pt>
                <c:pt idx="1">
                  <c:v>Analiz</c:v>
                </c:pt>
                <c:pt idx="2">
                  <c:v>Marketing Türkiye</c:v>
                </c:pt>
                <c:pt idx="3">
                  <c:v>Media Trend</c:v>
                </c:pt>
                <c:pt idx="4">
                  <c:v>Home Appliances Turkey</c:v>
                </c:pt>
                <c:pt idx="5">
                  <c:v>Çukurova Press</c:v>
                </c:pt>
              </c:strCache>
            </c:strRef>
          </c:cat>
          <c:val>
            <c:numRef>
              <c:f>Sayfa1!$B$2:$B$7</c:f>
              <c:numCache>
                <c:formatCode>#,##0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82964336"/>
        <c:axId val="382958064"/>
      </c:barChart>
      <c:catAx>
        <c:axId val="38296433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58064"/>
        <c:crosses val="autoZero"/>
        <c:auto val="1"/>
        <c:lblAlgn val="ctr"/>
        <c:lblOffset val="100"/>
        <c:noMultiLvlLbl val="0"/>
      </c:catAx>
      <c:valAx>
        <c:axId val="382958064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8296433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5280855766765873"/>
          <c:y val="2.7838199190675501E-2"/>
          <c:w val="0.62215923331320833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B95-4288-8CD9-2770D13B7D7C}"/>
              </c:ext>
            </c:extLst>
          </c:dPt>
          <c:dLbls>
            <c:dLbl>
              <c:idx val="0"/>
              <c:layout>
                <c:manualLayout>
                  <c:x val="1.1231333545755036E-3"/>
                  <c:y val="4.66302448134896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23228201860846E-2"/>
                      <c:h val="5.777266438018511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B95-4288-8CD9-2770D13B7D7C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32946205599289E-2"/>
                      <c:h val="5.2977968016764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BB95-4288-8CD9-2770D13B7D7C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32946205599289E-2"/>
                      <c:h val="4.844412394173117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583C-4504-BF39-EF0C4822C15D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32946205599289E-2"/>
                      <c:h val="4.617720190421450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583C-4504-BF39-EF0C4822C15D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498180846036375E-2"/>
                      <c:h val="4.391027986669784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583C-4504-BF39-EF0C4822C15D}"/>
                </c:ext>
              </c:extLst>
            </c:dLbl>
            <c:dLbl>
              <c:idx val="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498180846036375E-2"/>
                      <c:h val="4.391027986669784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583C-4504-BF39-EF0C4822C15D}"/>
                </c:ext>
              </c:extLst>
            </c:dLbl>
            <c:dLbl>
              <c:idx val="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2689588688658897E-2"/>
                      <c:h val="3.937643579166450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583C-4504-BF39-EF0C4822C15D}"/>
                </c:ext>
              </c:extLst>
            </c:dLbl>
            <c:dLbl>
              <c:idx val="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2689588688658897E-2"/>
                      <c:h val="4.164335782918117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583C-4504-BF39-EF0C4822C15D}"/>
                </c:ext>
              </c:extLst>
            </c:dLbl>
            <c:dLbl>
              <c:idx val="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2689588688658897E-2"/>
                      <c:h val="4.391027986669784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583C-4504-BF39-EF0C4822C15D}"/>
                </c:ext>
              </c:extLst>
            </c:dLbl>
            <c:dLbl>
              <c:idx val="9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824354048221811E-2"/>
                      <c:h val="4.844412394173117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583C-4504-BF39-EF0C4822C15D}"/>
                </c:ext>
              </c:extLst>
            </c:dLbl>
            <c:dLbl>
              <c:idx val="1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2689588688658897E-2"/>
                      <c:h val="4.844412394173117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583C-4504-BF39-EF0C4822C15D}"/>
                </c:ext>
              </c:extLst>
            </c:dLbl>
            <c:dLbl>
              <c:idx val="1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0420057969533067E-2"/>
                      <c:h val="4.164335782918117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583C-4504-BF39-EF0C4822C15D}"/>
                </c:ext>
              </c:extLst>
            </c:dLbl>
            <c:dLbl>
              <c:idx val="1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2689588688658897E-2"/>
                      <c:h val="3.937643579166450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583C-4504-BF39-EF0C4822C15D}"/>
                </c:ext>
              </c:extLst>
            </c:dLbl>
            <c:dLbl>
              <c:idx val="1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824354048221811E-2"/>
                      <c:h val="4.391027986669784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583C-4504-BF39-EF0C4822C15D}"/>
                </c:ext>
              </c:extLst>
            </c:dLbl>
            <c:spPr>
              <a:noFill/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/>
              <a:lstStyle/>
              <a:p>
                <a:pPr>
                  <a:defRPr sz="1100" b="0">
                    <a:solidFill>
                      <a:schemeClr val="tx1"/>
                    </a:solidFill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Sayfa1!$A$2:$A$15</c:f>
              <c:strCache>
                <c:ptCount val="14"/>
                <c:pt idx="0">
                  <c:v>Enerji Verimli Ürünler ile Hem Haneye Hem Cari Açığa Destek - TÜRKBESD Basın Bülteni</c:v>
                </c:pt>
                <c:pt idx="1">
                  <c:v>Türkiye'nin En Büyük Şirketlerinden Biri Olan BSH’ın Sömürü Oranının 15 Yılda Yüzde 500'den Yüzde 800'e Yükselmesi</c:v>
                </c:pt>
                <c:pt idx="2">
                  <c:v>BSH Ev Aletleri, IFA’da en yeni ürünlerini sergiledi - Basın Bülteni</c:v>
                </c:pt>
                <c:pt idx="3">
                  <c:v>BSH Türkiye’den Gelecek Nesillere Yeşil Bir Miras: 22 Yılda 24 Bin Ağaç - Basın Bülteni</c:v>
                </c:pt>
                <c:pt idx="4">
                  <c:v>S 500 Yeşil İzlenebilirlik Listesinde Net Sıfır Taahhüdünde Bulunan Firmalar</c:v>
                </c:pt>
                <c:pt idx="5">
                  <c:v>Fabrika Otomasyon Çözümleri Etkinliğine Katılacak Olan Markalar</c:v>
                </c:pt>
                <c:pt idx="6">
                  <c:v>BSH Türkiye İnsan Kaynakları Kıdemli Direktörü Hüseyin Coşkun'un Firmanın Çalışanlarının Değerini Eşit Şekilde Ele Aldıklarını Belirtmesi</c:v>
                </c:pt>
                <c:pt idx="7">
                  <c:v>Türkiye'nin En Büyük Şirketlerden Biri Olan Arçelik'te Sömürü Oranının Yüzde 722 Olması</c:v>
                </c:pt>
                <c:pt idx="8">
                  <c:v>Firma Yetkililerinin Katıldığı Konferans Ve Toplantılar</c:v>
                </c:pt>
                <c:pt idx="9">
                  <c:v>BSH Dijital Platform Hizmetleri Küresel Başkan Yardımcısı Berke Menekli'nin Firmanın İnovasyon Çalışmaları Hakkında Açıklamaları</c:v>
                </c:pt>
                <c:pt idx="10">
                  <c:v>BSH Türkiye, Ar-Ge Merkezi’nin 15. Yılında Geleceğin Mucitleriyle Buluştu - Basın Bülteni</c:v>
                </c:pt>
                <c:pt idx="11">
                  <c:v>BSH'nin Kadınlar İçin Eşitlikçi Şirketler Araştırma Tablosunda Yer Alması Ve Kadın İstihdamı Oranları</c:v>
                </c:pt>
                <c:pt idx="12">
                  <c:v>Alper Şengül'ün Transformation Now! 2024'te BSH İçin Türkiye'nin Önemini Anlatması</c:v>
                </c:pt>
                <c:pt idx="13">
                  <c:v>BSH Türkiye’nin Eşitlik Odaklı We Power Kariyer Programının Yeni Dönem Başvuruları Başladı - Basın Bülteni</c:v>
                </c:pt>
              </c:strCache>
            </c:strRef>
          </c:cat>
          <c:val>
            <c:numRef>
              <c:f>Sayfa1!$B$2:$B$15</c:f>
              <c:numCache>
                <c:formatCode>#,##0</c:formatCode>
                <c:ptCount val="14"/>
                <c:pt idx="0">
                  <c:v>9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 formatCode="General">
                  <c:v>1</c:v>
                </c:pt>
                <c:pt idx="6">
                  <c:v>1</c:v>
                </c:pt>
                <c:pt idx="7">
                  <c:v>1</c:v>
                </c:pt>
                <c:pt idx="8" formatCode="General">
                  <c:v>1</c:v>
                </c:pt>
                <c:pt idx="9" formatCode="General">
                  <c:v>1</c:v>
                </c:pt>
                <c:pt idx="10" formatCode="General">
                  <c:v>1</c:v>
                </c:pt>
                <c:pt idx="11" formatCode="General">
                  <c:v>1</c:v>
                </c:pt>
                <c:pt idx="12" formatCode="General">
                  <c:v>1</c:v>
                </c:pt>
                <c:pt idx="13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95-4288-8CD9-2770D13B7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82955712"/>
        <c:axId val="382960416"/>
      </c:barChart>
      <c:catAx>
        <c:axId val="38295571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60416"/>
        <c:crosses val="autoZero"/>
        <c:auto val="1"/>
        <c:lblAlgn val="ctr"/>
        <c:lblOffset val="100"/>
        <c:noMultiLvlLbl val="0"/>
      </c:catAx>
      <c:valAx>
        <c:axId val="382960416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82955712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7677927857694345"/>
          <c:y val="2.7838199190675501E-2"/>
          <c:w val="0.69818851240392354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B95-4288-8CD9-2770D13B7D7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B95-4288-8CD9-2770D13B7D7C}"/>
              </c:ext>
            </c:extLst>
          </c:dPt>
          <c:dLbls>
            <c:dLbl>
              <c:idx val="0"/>
              <c:layout>
                <c:manualLayout>
                  <c:x val="-4.4217848767496432E-8"/>
                  <c:y val="3.48614661610492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09148664032877E-2"/>
                      <c:h val="6.012588195652556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B95-4288-8CD9-2770D13B7D7C}"/>
                </c:ext>
              </c:extLst>
            </c:dLbl>
            <c:dLbl>
              <c:idx val="1"/>
              <c:layout>
                <c:manualLayout>
                  <c:x val="1.1231333545755036E-3"/>
                  <c:y val="4.66302448134896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23228201860846E-2"/>
                      <c:h val="5.777266438018511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BB95-4288-8CD9-2770D13B7D7C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30677300341386E-2"/>
                      <c:h val="5.97787341293145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EC91-4D9A-B155-95091818E458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857630372253968E-2"/>
                      <c:h val="5.75118120917978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EC91-4D9A-B155-95091818E458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30677300341386E-2"/>
                      <c:h val="6.657950024186451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EC91-4D9A-B155-95091818E458}"/>
                </c:ext>
              </c:extLst>
            </c:dLbl>
            <c:dLbl>
              <c:idx val="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66378492854686E-2"/>
                      <c:h val="5.97787341293145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82BE-431E-81B6-3542CF4C89CD}"/>
                </c:ext>
              </c:extLst>
            </c:dLbl>
            <c:dLbl>
              <c:idx val="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902476924725116E-2"/>
                      <c:h val="5.2977968016764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00CC-46C9-985C-B4FB2272DA3F}"/>
                </c:ext>
              </c:extLst>
            </c:dLbl>
            <c:dLbl>
              <c:idx val="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4037242284288033E-2"/>
                      <c:h val="6.204565616683118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00CC-46C9-985C-B4FB2272DA3F}"/>
                </c:ext>
              </c:extLst>
            </c:dLbl>
            <c:dLbl>
              <c:idx val="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72007643850943E-2"/>
                      <c:h val="6.204565616683118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00CC-46C9-985C-B4FB2272DA3F}"/>
                </c:ext>
              </c:extLst>
            </c:dLbl>
            <c:dLbl>
              <c:idx val="9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30677300341386E-2"/>
                      <c:h val="5.97787341293145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00CC-46C9-985C-B4FB2272DA3F}"/>
                </c:ext>
              </c:extLst>
            </c:dLbl>
            <c:spPr>
              <a:noFill/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/>
              <a:lstStyle/>
              <a:p>
                <a:pPr>
                  <a:defRPr sz="1100" b="0">
                    <a:solidFill>
                      <a:schemeClr val="tx1"/>
                    </a:solidFill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Sayfa1!$A$2:$A$11</c:f>
              <c:strCache>
                <c:ptCount val="10"/>
                <c:pt idx="0">
                  <c:v>Borsa Haberleri</c:v>
                </c:pt>
                <c:pt idx="1">
                  <c:v>Mehmet Tüfekçi'nin AI Day/Yapay Zeka Günü Etkinliğinde Sunum Yapması</c:v>
                </c:pt>
                <c:pt idx="2">
                  <c:v>TÜRKBESD Derneği Üyesi Firmalar</c:v>
                </c:pt>
                <c:pt idx="3">
                  <c:v>Kısa Bahis - Referans Haberleri</c:v>
                </c:pt>
                <c:pt idx="4">
                  <c:v>Arçelik Solar Enerji İle Yapı Kredi Leasing'in Güneş Enerji Sistemleri Konusunda İşbirliğine Gitmesi</c:v>
                </c:pt>
                <c:pt idx="5">
                  <c:v>Arçelik'in İtalya'da 110 Milyon Avroluk Yatırım Yapmayı Hedeflemesi Ve Bu Süreçte Etkilenebilecek 2 Bin Çalışan İçin Sendikalar Ve Temsilcilerle Görüşmeleri Devam Ettirmesi</c:v>
                </c:pt>
                <c:pt idx="6">
                  <c:v>Anadolu Üniversitesi Güzel Sanatlar Fakültesi Heykel Bölümü Ve Arçelik Back2life Sürdürülebilir Sanat Atölyesi İş Birliği İle Rahmi Koç Müzesi'nde Sanat Ve Dönüşüm Sergisi Düzenlenmesi</c:v>
                </c:pt>
                <c:pt idx="7">
                  <c:v>Eski Çalışan Haberleri</c:v>
                </c:pt>
                <c:pt idx="8">
                  <c:v>Arçelik'in Aselsan İşbirliği İle Ürettiği Solunum Cihazlarından Bahsedilmesi</c:v>
                </c:pt>
                <c:pt idx="9">
                  <c:v>Borsada Hissesi Düşen Şirketler</c:v>
                </c:pt>
              </c:strCache>
            </c:strRef>
          </c:cat>
          <c:val>
            <c:numRef>
              <c:f>Sayfa1!$B$2:$B$11</c:f>
              <c:numCache>
                <c:formatCode>#,##0</c:formatCode>
                <c:ptCount val="10"/>
                <c:pt idx="0">
                  <c:v>11</c:v>
                </c:pt>
                <c:pt idx="1">
                  <c:v>9</c:v>
                </c:pt>
                <c:pt idx="2">
                  <c:v>9</c:v>
                </c:pt>
                <c:pt idx="3">
                  <c:v>8</c:v>
                </c:pt>
                <c:pt idx="4">
                  <c:v>7</c:v>
                </c:pt>
                <c:pt idx="5">
                  <c:v>7</c:v>
                </c:pt>
                <c:pt idx="6">
                  <c:v>5</c:v>
                </c:pt>
                <c:pt idx="7">
                  <c:v>5</c:v>
                </c:pt>
                <c:pt idx="8" formatCode="General">
                  <c:v>3</c:v>
                </c:pt>
                <c:pt idx="9" formatCode="General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95-4288-8CD9-2770D13B7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82954144"/>
        <c:axId val="382950224"/>
      </c:barChart>
      <c:catAx>
        <c:axId val="38295414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50224"/>
        <c:crosses val="autoZero"/>
        <c:auto val="1"/>
        <c:lblAlgn val="ctr"/>
        <c:lblOffset val="100"/>
        <c:noMultiLvlLbl val="0"/>
      </c:catAx>
      <c:valAx>
        <c:axId val="382950224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8295414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9039646289169846"/>
          <c:y val="2.7838199190675501E-2"/>
          <c:w val="0.68457132808916865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B95-4288-8CD9-2770D13B7D7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B95-4288-8CD9-2770D13B7D7C}"/>
              </c:ext>
            </c:extLst>
          </c:dPt>
          <c:dLbls>
            <c:dLbl>
              <c:idx val="0"/>
              <c:layout>
                <c:manualLayout>
                  <c:x val="-4.4217848767496432E-8"/>
                  <c:y val="3.48614661610492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09148664032877E-2"/>
                      <c:h val="6.012588195652556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B95-4288-8CD9-2770D13B7D7C}"/>
                </c:ext>
              </c:extLst>
            </c:dLbl>
            <c:dLbl>
              <c:idx val="1"/>
              <c:layout>
                <c:manualLayout>
                  <c:x val="1.1231333545755036E-3"/>
                  <c:y val="4.66302448134896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23228201860846E-2"/>
                      <c:h val="5.777266438018511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BB95-4288-8CD9-2770D13B7D7C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857630372253968E-2"/>
                      <c:h val="6.204565616683118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AAEE-436E-9647-7E368B6B681C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66378492854686E-2"/>
                      <c:h val="5.75118120917978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67EE-435A-BEE1-AEA473650F30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66378492854679E-2"/>
                      <c:h val="5.524489005428116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67EE-435A-BEE1-AEA473650F30}"/>
                </c:ext>
              </c:extLst>
            </c:dLbl>
            <c:dLbl>
              <c:idx val="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66378492854686E-2"/>
                      <c:h val="5.524489005428116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67EE-435A-BEE1-AEA473650F30}"/>
                </c:ext>
              </c:extLst>
            </c:dLbl>
            <c:dLbl>
              <c:idx val="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66378492854686E-2"/>
                      <c:h val="5.2977968016764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67EE-435A-BEE1-AEA473650F30}"/>
                </c:ext>
              </c:extLst>
            </c:dLbl>
            <c:dLbl>
              <c:idx val="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32946205599289E-2"/>
                      <c:h val="5.75118120917978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10F2-4D12-A8D2-844F8E12FB19}"/>
                </c:ext>
              </c:extLst>
            </c:dLbl>
            <c:dLbl>
              <c:idx val="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363415486473458E-2"/>
                      <c:h val="5.75118120917978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10F2-4D12-A8D2-844F8E12FB19}"/>
                </c:ext>
              </c:extLst>
            </c:dLbl>
            <c:dLbl>
              <c:idx val="9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363415486473458E-2"/>
                      <c:h val="5.2977968016764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E1E7-49A8-AA0B-3B5939B8B286}"/>
                </c:ext>
              </c:extLst>
            </c:dLbl>
            <c:dLbl>
              <c:idx val="1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7228650126910548E-2"/>
                      <c:h val="5.071104597924783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6511-4A04-8479-80221A93860D}"/>
                </c:ext>
              </c:extLst>
            </c:dLbl>
            <c:dLbl>
              <c:idx val="1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824354048221811E-2"/>
                      <c:h val="4.391027986669784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6511-4A04-8479-80221A93860D}"/>
                </c:ext>
              </c:extLst>
            </c:dLbl>
            <c:spPr>
              <a:noFill/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/>
              <a:lstStyle/>
              <a:p>
                <a:pPr>
                  <a:defRPr sz="1100" b="0">
                    <a:solidFill>
                      <a:schemeClr val="tx1"/>
                    </a:solidFill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Sayfa1!$A$2:$A$13</c:f>
              <c:strCache>
                <c:ptCount val="12"/>
                <c:pt idx="0">
                  <c:v>TÜRKBESD Derneği Üyesi Firmalar</c:v>
                </c:pt>
                <c:pt idx="1">
                  <c:v>Borsa Haberleri</c:v>
                </c:pt>
                <c:pt idx="2">
                  <c:v>Solis'in Vestel'in Manisa'daki Fabrikasında Solar İnverterlerini Üretecek Olması</c:v>
                </c:pt>
                <c:pt idx="3">
                  <c:v>Kıvılcımlar Hareketi'nin İçinde Yer Alan Vestel Gönüllülerinin Yunusemre İlçesindeki Çiftlik Park'ta Çevre Temizliği Etkinliği Düzenlemesi</c:v>
                </c:pt>
                <c:pt idx="4">
                  <c:v>Vestel'in Manisa'ya Yatırım Yapmayı Planladığından Bahsedilmesi</c:v>
                </c:pt>
                <c:pt idx="5">
                  <c:v>Kısa Bahis - Referans Haberleri</c:v>
                </c:pt>
                <c:pt idx="6">
                  <c:v>İzmir-Atatürk Voleybol Salonu Vestel Spor Kompleksi Haberleri</c:v>
                </c:pt>
                <c:pt idx="7">
                  <c:v>Bilime Dayalı Hedefler Girişimi'nin Vestel'in 2030'a Kadar Emisyon Azaltma Hedefine Ulaşmak Amacıyla Verdiği Taahhütlerini Onaylaması</c:v>
                </c:pt>
                <c:pt idx="8">
                  <c:v>Vestel İnsan Kaynakları Genel Müdürlüğüne Zeynep Tarhan'ın Atanması</c:v>
                </c:pt>
                <c:pt idx="9">
                  <c:v>Türkiye'nin En Değerli Markaları Listesi</c:v>
                </c:pt>
                <c:pt idx="10">
                  <c:v>Bayii Yetkililerinin Açıklamaları</c:v>
                </c:pt>
                <c:pt idx="11">
                  <c:v>Vestel'in 3 Milyar Liralık Borçlanma Aracı İhraç Başvurusuna SPK’dan İzin Çıkması</c:v>
                </c:pt>
              </c:strCache>
            </c:strRef>
          </c:cat>
          <c:val>
            <c:numRef>
              <c:f>Sayfa1!$B$2:$B$13</c:f>
              <c:numCache>
                <c:formatCode>#,##0</c:formatCode>
                <c:ptCount val="12"/>
                <c:pt idx="0">
                  <c:v>9</c:v>
                </c:pt>
                <c:pt idx="1">
                  <c:v>9</c:v>
                </c:pt>
                <c:pt idx="2">
                  <c:v>4</c:v>
                </c:pt>
                <c:pt idx="3">
                  <c:v>4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2</c:v>
                </c:pt>
                <c:pt idx="9">
                  <c:v>2</c:v>
                </c:pt>
                <c:pt idx="10" formatCode="General">
                  <c:v>2</c:v>
                </c:pt>
                <c:pt idx="11" formatCode="General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95-4288-8CD9-2770D13B7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82958848"/>
        <c:axId val="382956104"/>
      </c:barChart>
      <c:catAx>
        <c:axId val="3829588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56104"/>
        <c:crosses val="autoZero"/>
        <c:auto val="1"/>
        <c:lblAlgn val="ctr"/>
        <c:lblOffset val="100"/>
        <c:noMultiLvlLbl val="0"/>
      </c:catAx>
      <c:valAx>
        <c:axId val="382956104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8295884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5521873674524814"/>
          <c:y val="2.7838199190675501E-2"/>
          <c:w val="0.71974905423561897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B95-4288-8CD9-2770D13B7D7C}"/>
              </c:ext>
            </c:extLst>
          </c:dPt>
          <c:dLbls>
            <c:dLbl>
              <c:idx val="0"/>
              <c:layout>
                <c:manualLayout>
                  <c:x val="6.2411648017944672E-3"/>
                  <c:y val="2.353047225162475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3052461632198238E-2"/>
                      <c:h val="6.239283438438785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B95-4288-8CD9-2770D13B7D7C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32946205599289E-2"/>
                      <c:h val="5.75118120917978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BFBE-41A3-88CB-8C7322EF36B0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32946205599289E-2"/>
                      <c:h val="5.97787341293145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BFBE-41A3-88CB-8C7322EF36B0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72007643850943E-2"/>
                      <c:h val="5.97787341293145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BFBE-41A3-88CB-8C7322EF36B0}"/>
                </c:ext>
              </c:extLst>
            </c:dLbl>
            <c:spPr>
              <a:noFill/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/>
              <a:lstStyle/>
              <a:p>
                <a:pPr>
                  <a:defRPr sz="1100" b="0">
                    <a:solidFill>
                      <a:schemeClr val="tx1"/>
                    </a:solidFill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Sayfa1!$A$2:$A$5</c:f>
              <c:strCache>
                <c:ptCount val="4"/>
                <c:pt idx="0">
                  <c:v>Siemens'in IFA 2024'te Yeni Ocaklarını Tanıtması</c:v>
                </c:pt>
                <c:pt idx="1">
                  <c:v>S-500 Listesinde Yer Alan Kurumlar</c:v>
                </c:pt>
                <c:pt idx="2">
                  <c:v>BSH’ın IFA 2024'te Dijitalleşme Ve Sürdürülebilirlik Odaklı Dayanıklı Ürünlerini Tanıtması</c:v>
                </c:pt>
                <c:pt idx="3">
                  <c:v>Gençlerin Çalışmak İstediği İlk 10 Şirket</c:v>
                </c:pt>
              </c:strCache>
            </c:strRef>
          </c:cat>
          <c:val>
            <c:numRef>
              <c:f>Sayfa1!$B$2:$B$5</c:f>
              <c:numCache>
                <c:formatCode>#,##0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95-4288-8CD9-2770D13B7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16610816"/>
        <c:axId val="416608072"/>
      </c:barChart>
      <c:catAx>
        <c:axId val="41661081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416608072"/>
        <c:crosses val="autoZero"/>
        <c:auto val="1"/>
        <c:lblAlgn val="ctr"/>
        <c:lblOffset val="100"/>
        <c:noMultiLvlLbl val="0"/>
      </c:catAx>
      <c:valAx>
        <c:axId val="416608072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41661081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571483739661238"/>
          <c:y val="2.7838199190675501E-2"/>
          <c:w val="0.7492529535842547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B95-4288-8CD9-2770D13B7D7C}"/>
              </c:ext>
            </c:extLst>
          </c:dPt>
          <c:dLbls>
            <c:dLbl>
              <c:idx val="0"/>
              <c:layout>
                <c:manualLayout>
                  <c:x val="-4.4217848767496432E-8"/>
                  <c:y val="3.48614661610492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09148664032877E-2"/>
                      <c:h val="6.012588195652556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B95-4288-8CD9-2770D13B7D7C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4037242284288033E-2"/>
                      <c:h val="6.204565616683118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BB95-4288-8CD9-2770D13B7D7C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7228650126910548E-2"/>
                      <c:h val="4.391027986669784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2334-414E-B7E7-445875C4A5BB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498180846036375E-2"/>
                      <c:h val="4.617720190421450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2334-414E-B7E7-445875C4A5BB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498180846036375E-2"/>
                      <c:h val="4.844412394173117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02A-4217-9EE5-03036B20CA45}"/>
                </c:ext>
              </c:extLst>
            </c:dLbl>
            <c:spPr>
              <a:noFill/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/>
              <a:lstStyle/>
              <a:p>
                <a:pPr>
                  <a:defRPr sz="1100" b="0">
                    <a:solidFill>
                      <a:schemeClr val="tx1"/>
                    </a:solidFill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Sayfa1!$A$2:$A$6</c:f>
              <c:strCache>
                <c:ptCount val="5"/>
                <c:pt idx="0">
                  <c:v>TÜRKBESD Derneği Üyesi Firmalar</c:v>
                </c:pt>
                <c:pt idx="1">
                  <c:v>Eski Çalışan Haberleri</c:v>
                </c:pt>
                <c:pt idx="2">
                  <c:v>Ürün Hediye Kampanya Haberleri</c:v>
                </c:pt>
                <c:pt idx="3">
                  <c:v>Hepsiburada Efsane Kasım Kampanyalarında Philips'in Kablosuz Süpürge Ve Saç Bakım Ürünlerinin Yer Alması</c:v>
                </c:pt>
                <c:pt idx="4">
                  <c:v>Ürün Fiyat Bilgilerinin Verilmesi</c:v>
                </c:pt>
              </c:strCache>
            </c:strRef>
          </c:cat>
          <c:val>
            <c:numRef>
              <c:f>Sayfa1!$B$2:$B$6</c:f>
              <c:numCache>
                <c:formatCode>#,##0</c:formatCode>
                <c:ptCount val="5"/>
                <c:pt idx="0">
                  <c:v>8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 formatCode="General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95-4288-8CD9-2770D13B7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16606504"/>
        <c:axId val="416606896"/>
      </c:barChart>
      <c:catAx>
        <c:axId val="41660650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416606896"/>
        <c:crosses val="autoZero"/>
        <c:auto val="1"/>
        <c:lblAlgn val="ctr"/>
        <c:lblOffset val="100"/>
        <c:noMultiLvlLbl val="0"/>
      </c:catAx>
      <c:valAx>
        <c:axId val="416606896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41660650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7110545177912893"/>
          <c:y val="2.7838199190675501E-2"/>
          <c:w val="0.70386233920173813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B95-4288-8CD9-2770D13B7D7C}"/>
              </c:ext>
            </c:extLst>
          </c:dPt>
          <c:dLbls>
            <c:dLbl>
              <c:idx val="0"/>
              <c:layout>
                <c:manualLayout>
                  <c:x val="-4.4217848767496432E-8"/>
                  <c:y val="3.48614661610492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09148664032877E-2"/>
                      <c:h val="6.012588195652556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B95-4288-8CD9-2770D13B7D7C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30677300341386E-2"/>
                      <c:h val="6.204565616683118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083-410A-B445-3B0A075FDC77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32946205599289E-2"/>
                      <c:h val="5.97787341293145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4455-4D53-A776-1B9E5562BCBA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32946205599289E-2"/>
                      <c:h val="6.204565616683118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63B9-4EF1-BF7A-C828F8AE0353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32946205599289E-2"/>
                      <c:h val="5.524489005428116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63B9-4EF1-BF7A-C828F8AE0353}"/>
                </c:ext>
              </c:extLst>
            </c:dLbl>
            <c:dLbl>
              <c:idx val="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32946205599289E-2"/>
                      <c:h val="5.97787341293145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63B9-4EF1-BF7A-C828F8AE0353}"/>
                </c:ext>
              </c:extLst>
            </c:dLbl>
            <c:dLbl>
              <c:idx val="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824354048221811E-2"/>
                      <c:h val="4.391027986669784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BB7B-4DCA-A00A-F42D55A67571}"/>
                </c:ext>
              </c:extLst>
            </c:dLbl>
            <c:dLbl>
              <c:idx val="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093884767347635E-2"/>
                      <c:h val="4.844412394173117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BB7B-4DCA-A00A-F42D55A67571}"/>
                </c:ext>
              </c:extLst>
            </c:dLbl>
            <c:spPr>
              <a:noFill/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/>
              <a:lstStyle/>
              <a:p>
                <a:pPr>
                  <a:defRPr sz="1100" b="0">
                    <a:solidFill>
                      <a:schemeClr val="tx1"/>
                    </a:solidFill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Sayfa1!$A$2:$A$9</c:f>
              <c:strCache>
                <c:ptCount val="8"/>
                <c:pt idx="0">
                  <c:v>TÜRKBESD Derneği Üyesi Firmalar</c:v>
                </c:pt>
                <c:pt idx="1">
                  <c:v>Samsung'un Smartthings Uygulaması İle Beyaz Eşya Ve Klima Ürünlerinde YZ Enerji Modu İle %70 Enerji Tasarrufu Sağlaması Ve Bu Tasarruflarının Puana Çevrilip Online Sitesindeki Alışverişlerde Kullanılabiliyor Olması</c:v>
                </c:pt>
                <c:pt idx="2">
                  <c:v>Yorumun Gücüyle Fark Yaratan Markalar</c:v>
                </c:pt>
                <c:pt idx="3">
                  <c:v>Dünyanın En İyi 10 İşvereni Listesi</c:v>
                </c:pt>
                <c:pt idx="4">
                  <c:v>Türkiye'nin En İtibarlı Şirketleri Listesi</c:v>
                </c:pt>
                <c:pt idx="5">
                  <c:v>Kısa Bahis - Referans Haberleri</c:v>
                </c:pt>
                <c:pt idx="6">
                  <c:v>Çamaşır Makinesi Tanıtımı</c:v>
                </c:pt>
                <c:pt idx="7">
                  <c:v>Samsung'un Cosmopolitan Türkiye İle Dünyanı Büyüt Kapakta Kendi Hikayeni Yaz İsimli Selfie Yarışması Düzenlemesi</c:v>
                </c:pt>
              </c:strCache>
            </c:strRef>
          </c:cat>
          <c:val>
            <c:numRef>
              <c:f>Sayfa1!$B$2:$B$9</c:f>
              <c:numCache>
                <c:formatCode>#,##0</c:formatCode>
                <c:ptCount val="8"/>
                <c:pt idx="0">
                  <c:v>8</c:v>
                </c:pt>
                <c:pt idx="1">
                  <c:v>3</c:v>
                </c:pt>
                <c:pt idx="2" formatCode="General">
                  <c:v>1</c:v>
                </c:pt>
                <c:pt idx="3">
                  <c:v>1</c:v>
                </c:pt>
                <c:pt idx="4" formatCode="General">
                  <c:v>1</c:v>
                </c:pt>
                <c:pt idx="5" formatCode="General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95-4288-8CD9-2770D13B7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16601800"/>
        <c:axId val="416602976"/>
      </c:barChart>
      <c:catAx>
        <c:axId val="41660180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416602976"/>
        <c:crosses val="autoZero"/>
        <c:auto val="1"/>
        <c:lblAlgn val="ctr"/>
        <c:lblOffset val="100"/>
        <c:noMultiLvlLbl val="0"/>
      </c:catAx>
      <c:valAx>
        <c:axId val="416602976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41660180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B95-4288-8CD9-2770D13B7D7C}"/>
              </c:ext>
            </c:extLst>
          </c:dPt>
          <c:dLbls>
            <c:dLbl>
              <c:idx val="0"/>
              <c:layout>
                <c:manualLayout>
                  <c:x val="-4.4217848767496432E-8"/>
                  <c:y val="3.48614661610492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09148664032877E-2"/>
                      <c:h val="6.012588195652556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B95-4288-8CD9-2770D13B7D7C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30677300341386E-2"/>
                      <c:h val="6.884642227938118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B0C-43E4-99BA-AAE0AB464CA0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498180846036375E-2"/>
                      <c:h val="5.75118120917978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8311-4740-96CA-C34D5E47FBE7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498180846036375E-2"/>
                      <c:h val="6.204565616683118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8311-4740-96CA-C34D5E47FBE7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902476924725116E-2"/>
                      <c:h val="5.071104597924783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F5D7-4371-8013-460D6EB9F029}"/>
                </c:ext>
              </c:extLst>
            </c:dLbl>
            <c:dLbl>
              <c:idx val="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767711565162206E-2"/>
                      <c:h val="5.97787341293145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1FD-409C-AF16-D9774EC5BEEB}"/>
                </c:ext>
              </c:extLst>
            </c:dLbl>
            <c:spPr>
              <a:noFill/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/>
              <a:lstStyle/>
              <a:p>
                <a:pPr>
                  <a:defRPr sz="1100" b="0">
                    <a:solidFill>
                      <a:schemeClr val="tx1"/>
                    </a:solidFill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Sayfa1!$A$2:$A$7</c:f>
              <c:strCache>
                <c:ptCount val="6"/>
                <c:pt idx="0">
                  <c:v>TÜRKBESD Derneği Üyesi Firmalar</c:v>
                </c:pt>
                <c:pt idx="1">
                  <c:v>Almanya'da Kaynaklarını Ülke Dışına Kaydıran Şirketler</c:v>
                </c:pt>
                <c:pt idx="2">
                  <c:v>Miele'nin Yenilikçi Mutfak Ürünleri İle Günlük Kullanımda Kolaylık Sağlaması</c:v>
                </c:pt>
                <c:pt idx="3">
                  <c:v>Kahve Makinesi Tanıtımı</c:v>
                </c:pt>
                <c:pt idx="4">
                  <c:v>Miele'nin Üretiminin Bir Kısmını Polonya'ya Taşımayı Hedeflemesi</c:v>
                </c:pt>
                <c:pt idx="5">
                  <c:v>Almanya'dan Sermayelerini Çeken Şirketler</c:v>
                </c:pt>
              </c:strCache>
            </c:strRef>
          </c:cat>
          <c:val>
            <c:numRef>
              <c:f>Sayfa1!$B$2:$B$7</c:f>
              <c:numCache>
                <c:formatCode>#,##0</c:formatCode>
                <c:ptCount val="6"/>
                <c:pt idx="0">
                  <c:v>8</c:v>
                </c:pt>
                <c:pt idx="1">
                  <c:v>3</c:v>
                </c:pt>
                <c:pt idx="2" formatCode="General">
                  <c:v>2</c:v>
                </c:pt>
                <c:pt idx="3">
                  <c:v>2</c:v>
                </c:pt>
                <c:pt idx="4">
                  <c:v>1</c:v>
                </c:pt>
                <c:pt idx="5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95-4288-8CD9-2770D13B7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16600624"/>
        <c:axId val="416604544"/>
      </c:barChart>
      <c:catAx>
        <c:axId val="41660062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416604544"/>
        <c:crosses val="autoZero"/>
        <c:auto val="1"/>
        <c:lblAlgn val="ctr"/>
        <c:lblOffset val="100"/>
        <c:noMultiLvlLbl val="0"/>
      </c:catAx>
      <c:valAx>
        <c:axId val="416604544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41660062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B95-4288-8CD9-2770D13B7D7C}"/>
              </c:ext>
            </c:extLst>
          </c:dPt>
          <c:dLbls>
            <c:dLbl>
              <c:idx val="0"/>
              <c:layout>
                <c:manualLayout>
                  <c:x val="-4.4217848767496432E-8"/>
                  <c:y val="3.48614661610492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09148664032877E-2"/>
                      <c:h val="6.012588195652556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B95-4288-8CD9-2770D13B7D7C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72007643850943E-2"/>
                      <c:h val="6.204565616683118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40B8-4E4E-8C1C-6C4AB521572C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32946205599289E-2"/>
                      <c:h val="5.75118120917978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40B8-4E4E-8C1C-6C4AB521572C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32946205599289E-2"/>
                      <c:h val="6.204565616683118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40B8-4E4E-8C1C-6C4AB521572C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767711565162206E-2"/>
                      <c:h val="5.97787341293145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40B8-4E4E-8C1C-6C4AB521572C}"/>
                </c:ext>
              </c:extLst>
            </c:dLbl>
            <c:spPr>
              <a:noFill/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/>
              <a:lstStyle/>
              <a:p>
                <a:pPr>
                  <a:defRPr sz="1100" b="0">
                    <a:solidFill>
                      <a:schemeClr val="tx1"/>
                    </a:solidFill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Sayfa1!$A$2:$A$6</c:f>
              <c:strCache>
                <c:ptCount val="5"/>
                <c:pt idx="0">
                  <c:v>Mağaza Açılışı Haberleri</c:v>
                </c:pt>
                <c:pt idx="1">
                  <c:v>Çamaşır Makinesi Tanıtımı</c:v>
                </c:pt>
                <c:pt idx="2">
                  <c:v>LG’nin IFA 2024 Fuarında Yeni Nesil Çamaşır Makinesini Tanıtması</c:v>
                </c:pt>
                <c:pt idx="3">
                  <c:v>Kısa Bahis - Referans Haberleri</c:v>
                </c:pt>
                <c:pt idx="4">
                  <c:v>LG’nin 2024 Yılı 3. Çeyrek Konsolide Gelirini 22.18 Trilyon Krw Ve Faaliyet Karını 751,9 Milyar Krw Olarak Açıklaması</c:v>
                </c:pt>
              </c:strCache>
            </c:strRef>
          </c:cat>
          <c:val>
            <c:numRef>
              <c:f>Sayfa1!$B$2:$B$6</c:f>
              <c:numCache>
                <c:formatCode>#,##0</c:formatCode>
                <c:ptCount val="5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95-4288-8CD9-2770D13B7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16607680"/>
        <c:axId val="416615520"/>
      </c:barChart>
      <c:catAx>
        <c:axId val="41660768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416615520"/>
        <c:crosses val="autoZero"/>
        <c:auto val="1"/>
        <c:lblAlgn val="ctr"/>
        <c:lblOffset val="100"/>
        <c:noMultiLvlLbl val="0"/>
      </c:catAx>
      <c:valAx>
        <c:axId val="416615520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41660768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B95-4288-8CD9-2770D13B7D7C}"/>
              </c:ext>
            </c:extLst>
          </c:dPt>
          <c:dLbls>
            <c:dLbl>
              <c:idx val="0"/>
              <c:layout>
                <c:manualLayout>
                  <c:x val="5.6731618754517254E-4"/>
                  <c:y val="3.486161811277732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243869474820757E-2"/>
                      <c:h val="6.012591234687118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B95-4288-8CD9-2770D13B7D7C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30677300341386E-2"/>
                      <c:h val="6.657950024186451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E1D6-4C34-B2AD-A8D0CB212F7C}"/>
                </c:ext>
              </c:extLst>
            </c:dLbl>
            <c:spPr>
              <a:noFill/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/>
              <a:lstStyle/>
              <a:p>
                <a:pPr>
                  <a:defRPr sz="1100" b="0">
                    <a:solidFill>
                      <a:schemeClr val="tx1"/>
                    </a:solidFill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Sayfa1!$A$2:$A$3</c:f>
              <c:strCache>
                <c:ptCount val="2"/>
                <c:pt idx="0">
                  <c:v>Gaggenau'nun Gizli İndüksiyonlu Ocağını Cosentino City'de Gerçekleştirdiği Gecede Tanıtması</c:v>
                </c:pt>
                <c:pt idx="1">
                  <c:v>Gaggenau Yemek Kitabı Haberleri</c:v>
                </c:pt>
              </c:strCache>
            </c:strRef>
          </c:cat>
          <c:val>
            <c:numRef>
              <c:f>Sayfa1!$B$2:$B$3</c:f>
              <c:numCache>
                <c:formatCode>#,##0</c:formatCode>
                <c:ptCount val="2"/>
                <c:pt idx="0">
                  <c:v>4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95-4288-8CD9-2770D13B7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16614344"/>
        <c:axId val="382961592"/>
      </c:barChart>
      <c:catAx>
        <c:axId val="41661434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61592"/>
        <c:crosses val="autoZero"/>
        <c:auto val="1"/>
        <c:lblAlgn val="ctr"/>
        <c:lblOffset val="100"/>
        <c:noMultiLvlLbl val="0"/>
      </c:catAx>
      <c:valAx>
        <c:axId val="382961592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41661434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733749824982547"/>
          <c:y val="2.7838199190675501E-2"/>
          <c:w val="0.70159280848261241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ED2-4955-9B8B-5A3A8CB82DAC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1980599801228431E-2"/>
                      <c:h val="6.657950024186451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B95-4288-8CD9-2770D13B7D7C}"/>
                </c:ext>
              </c:extLst>
            </c:dLbl>
            <c:dLbl>
              <c:idx val="1"/>
              <c:layout>
                <c:manualLayout>
                  <c:x val="3.4042067270856234E-3"/>
                  <c:y val="8.6303685444040045E-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7378634834383674E-2"/>
                      <c:h val="6.239283438438785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ED2-4955-9B8B-5A3A8CB82DAC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310973600979507E-2"/>
                      <c:h val="6.657950024186451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667E-471D-9A9F-05A0F4C35673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0845834441665507E-2"/>
                      <c:h val="6.204565616683118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24ED-4F44-803C-FFC6221E32A5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857630372253968E-2"/>
                      <c:h val="6.431257820434785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24ED-4F44-803C-FFC6221E32A5}"/>
                </c:ext>
              </c:extLst>
            </c:dLbl>
            <c:dLbl>
              <c:idx val="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902476924725116E-2"/>
                      <c:h val="5.524489005428116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24ED-4F44-803C-FFC6221E32A5}"/>
                </c:ext>
              </c:extLst>
            </c:dLbl>
            <c:dLbl>
              <c:idx val="6"/>
              <c:layout>
                <c:manualLayout>
                  <c:x val="-5.6733800397989554E-4"/>
                  <c:y val="4.533754826134300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767711565162206E-2"/>
                      <c:h val="5.97787341293145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24ED-4F44-803C-FFC6221E32A5}"/>
                </c:ext>
              </c:extLst>
            </c:dLbl>
            <c:dLbl>
              <c:idx val="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093884767347635E-2"/>
                      <c:h val="5.2977968016764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680E-4B63-ADC2-F318A52BBB11}"/>
                </c:ext>
              </c:extLst>
            </c:dLbl>
            <c:spPr>
              <a:noFill/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/>
              <a:lstStyle/>
              <a:p>
                <a:pPr>
                  <a:defRPr sz="1100" b="0">
                    <a:solidFill>
                      <a:schemeClr val="tx1"/>
                    </a:solidFill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Sayfa1!$A$2:$A$9</c:f>
              <c:strCache>
                <c:ptCount val="8"/>
                <c:pt idx="0">
                  <c:v>Arzum Genel Müdürü Ve İcra Kurulu Başkanlığına Evren Albaş'ın Getirilmesi</c:v>
                </c:pt>
                <c:pt idx="1">
                  <c:v>Ürün Hediye Kampanya Haberleri</c:v>
                </c:pt>
                <c:pt idx="2">
                  <c:v>Arzum CFO’su Arda Altınok'un Firmanın Finansal Kar Açıklamalarına Yer Verilmesi</c:v>
                </c:pt>
                <c:pt idx="3">
                  <c:v>Borsa Haberleri</c:v>
                </c:pt>
                <c:pt idx="4">
                  <c:v>Saç Düzleştirici Tanıtımı</c:v>
                </c:pt>
                <c:pt idx="5">
                  <c:v>Kahve Makinesi Tanıtımı</c:v>
                </c:pt>
                <c:pt idx="6">
                  <c:v>Süpürge Tanıtımı</c:v>
                </c:pt>
                <c:pt idx="7">
                  <c:v>Arzum'un Yeni Kahve Makinelerini 136. Canton Fuarı'nda Tanıtması</c:v>
                </c:pt>
              </c:strCache>
            </c:strRef>
          </c:cat>
          <c:val>
            <c:numRef>
              <c:f>Sayfa1!$B$2:$B$9</c:f>
              <c:numCache>
                <c:formatCode>#,##0</c:formatCode>
                <c:ptCount val="8"/>
                <c:pt idx="0">
                  <c:v>10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 formatCode="General">
                  <c:v>3</c:v>
                </c:pt>
                <c:pt idx="5">
                  <c:v>3</c:v>
                </c:pt>
                <c:pt idx="6" formatCode="General">
                  <c:v>2</c:v>
                </c:pt>
                <c:pt idx="7" formatCode="General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95-4288-8CD9-2770D13B7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16614344"/>
        <c:axId val="382961592"/>
      </c:barChart>
      <c:catAx>
        <c:axId val="41661434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61592"/>
        <c:crosses val="autoZero"/>
        <c:auto val="1"/>
        <c:lblAlgn val="ctr"/>
        <c:lblOffset val="100"/>
        <c:noMultiLvlLbl val="0"/>
      </c:catAx>
      <c:valAx>
        <c:axId val="382961592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41661434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ED2-4955-9B8B-5A3A8CB82DAC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1980599801228431E-2"/>
                      <c:h val="6.884642227938118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B95-4288-8CD9-2770D13B7D7C}"/>
                </c:ext>
              </c:extLst>
            </c:dLbl>
            <c:dLbl>
              <c:idx val="1"/>
              <c:layout>
                <c:manualLayout>
                  <c:x val="-4.4217848767496432E-8"/>
                  <c:y val="3.48614661610492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09148664032877E-2"/>
                      <c:h val="6.012588195652556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ED2-4955-9B8B-5A3A8CB82DAC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30677300341386E-2"/>
                      <c:h val="6.431257820434785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7EAC-42AD-8691-FBCA29C86BF1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767711565162206E-2"/>
                      <c:h val="5.97787341293145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B13A-44C1-A244-6604C6E7EBDE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767711565162206E-2"/>
                      <c:h val="5.2977968016764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A869-4F67-8E5B-A2F47870A242}"/>
                </c:ext>
              </c:extLst>
            </c:dLbl>
            <c:spPr>
              <a:noFill/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/>
              <a:lstStyle/>
              <a:p>
                <a:pPr>
                  <a:defRPr sz="1100" b="0">
                    <a:solidFill>
                      <a:schemeClr val="tx1"/>
                    </a:solidFill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Sayfa1!$A$2:$A$6</c:f>
              <c:strCache>
                <c:ptCount val="5"/>
                <c:pt idx="0">
                  <c:v>TÜRKBESD Derneği Üyesi Firmalar</c:v>
                </c:pt>
                <c:pt idx="1">
                  <c:v>Dyson Supersonic Nural Saç Kurutma Makinesi Tanıtımı</c:v>
                </c:pt>
                <c:pt idx="2">
                  <c:v>Dyson'ın Saç Şekillendirici Ürünlerine Yeni Çilek Pembesi Rengini Sunması</c:v>
                </c:pt>
                <c:pt idx="3">
                  <c:v>Eski Çalışan Haberleri</c:v>
                </c:pt>
                <c:pt idx="4">
                  <c:v>Tohum Otizm Vakfı Alışveriş Festivali'nde Ziyaretçilerin Çekiliş İle Dyson Airwrap Complete Long Saç Şekillendiriciye Sahip Olabileceğinin Belirtilmesi</c:v>
                </c:pt>
              </c:strCache>
            </c:strRef>
          </c:cat>
          <c:val>
            <c:numRef>
              <c:f>Sayfa1!$B$2:$B$6</c:f>
              <c:numCache>
                <c:formatCode>#,##0</c:formatCode>
                <c:ptCount val="5"/>
                <c:pt idx="0">
                  <c:v>9</c:v>
                </c:pt>
                <c:pt idx="1">
                  <c:v>7</c:v>
                </c:pt>
                <c:pt idx="2">
                  <c:v>6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95-4288-8CD9-2770D13B7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16614344"/>
        <c:axId val="382961592"/>
      </c:barChart>
      <c:catAx>
        <c:axId val="41661434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61592"/>
        <c:crosses val="autoZero"/>
        <c:auto val="1"/>
        <c:lblAlgn val="ctr"/>
        <c:lblOffset val="100"/>
        <c:noMultiLvlLbl val="0"/>
      </c:catAx>
      <c:valAx>
        <c:axId val="382961592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41661434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7677927857694345"/>
          <c:y val="2.7838199190675501E-2"/>
          <c:w val="0.69818851240392354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744153836297677E-2"/>
                      <c:h val="7.338026635441451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B95-4288-8CD9-2770D13B7D7C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093884767347635E-2"/>
                      <c:h val="5.524489005428116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9EF4-495A-84ED-35626A5B6737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363415486473458E-2"/>
                      <c:h val="5.2977968016764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9EF4-495A-84ED-35626A5B6737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498180846036375E-2"/>
                      <c:h val="5.2977968016764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9EF4-495A-84ED-35626A5B6737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767711565162206E-2"/>
                      <c:h val="5.75118120917978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9EF4-495A-84ED-35626A5B6737}"/>
                </c:ext>
              </c:extLst>
            </c:dLbl>
            <c:dLbl>
              <c:idx val="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498180846036375E-2"/>
                      <c:h val="5.2977968016764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9EF4-495A-84ED-35626A5B6737}"/>
                </c:ext>
              </c:extLst>
            </c:dLbl>
            <c:dLbl>
              <c:idx val="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959119407784721E-2"/>
                      <c:h val="5.2977968016764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9EF4-495A-84ED-35626A5B6737}"/>
                </c:ext>
              </c:extLst>
            </c:dLbl>
            <c:spPr>
              <a:noFill/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/>
              <a:lstStyle/>
              <a:p>
                <a:pPr>
                  <a:defRPr sz="1100" b="0">
                    <a:solidFill>
                      <a:schemeClr val="tx1"/>
                    </a:solidFill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Sayfa1!$A$2:$A$8</c:f>
              <c:strCache>
                <c:ptCount val="7"/>
                <c:pt idx="0">
                  <c:v>Ürün Hediye Kampanya Haberleri</c:v>
                </c:pt>
                <c:pt idx="1">
                  <c:v>Hava Temizleyici Tanıtımı</c:v>
                </c:pt>
                <c:pt idx="2">
                  <c:v>Fakir Hausgerate Tedarik Zinciri Grup Başkanı Furkan Saruhan'ın Kurumsal Hedeflere Yönelik Açıklamalarından Bahsedilmesi</c:v>
                </c:pt>
                <c:pt idx="3">
                  <c:v>Fakir İhracat Müdürü Levent Ay'ın Firmanın Yatırımları Ve Büyüme Stratejisini Açıklaması</c:v>
                </c:pt>
                <c:pt idx="4">
                  <c:v>Yorumun Gücüyle Fark Yaratan Markalar</c:v>
                </c:pt>
                <c:pt idx="5">
                  <c:v>Buharlı Pişirici Tanıtımı</c:v>
                </c:pt>
                <c:pt idx="6">
                  <c:v>Robot Süpürge Tanıtımı</c:v>
                </c:pt>
              </c:strCache>
            </c:strRef>
          </c:cat>
          <c:val>
            <c:numRef>
              <c:f>Sayfa1!$B$2:$B$8</c:f>
              <c:numCache>
                <c:formatCode>#,##0</c:formatCode>
                <c:ptCount val="7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 formatCode="General">
                  <c:v>1</c:v>
                </c:pt>
                <c:pt idx="6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95-4288-8CD9-2770D13B7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16614344"/>
        <c:axId val="382961592"/>
      </c:barChart>
      <c:catAx>
        <c:axId val="41661434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61592"/>
        <c:crosses val="autoZero"/>
        <c:auto val="1"/>
        <c:lblAlgn val="ctr"/>
        <c:lblOffset val="100"/>
        <c:noMultiLvlLbl val="0"/>
      </c:catAx>
      <c:valAx>
        <c:axId val="382961592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41661434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B95-4288-8CD9-2770D13B7D7C}"/>
              </c:ext>
            </c:extLst>
          </c:dPt>
          <c:dLbls>
            <c:dLbl>
              <c:idx val="0"/>
              <c:layout>
                <c:manualLayout>
                  <c:x val="-4.4217848767496432E-8"/>
                  <c:y val="3.48614661610492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09148664032877E-2"/>
                      <c:h val="6.012588195652556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B95-4288-8CD9-2770D13B7D7C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744153836297677E-2"/>
                      <c:h val="6.657950024186451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F720-4A0B-BB6B-1CA5E80BC93F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902476924725116E-2"/>
                      <c:h val="5.97787341293145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50BC-4E46-9C53-019F76349B06}"/>
                </c:ext>
              </c:extLst>
            </c:dLbl>
            <c:spPr>
              <a:noFill/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/>
              <a:lstStyle/>
              <a:p>
                <a:pPr>
                  <a:defRPr sz="1100" b="0">
                    <a:solidFill>
                      <a:schemeClr val="tx1"/>
                    </a:solidFill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Sayfa1!$A$2:$A$4</c:f>
              <c:strCache>
                <c:ptCount val="3"/>
                <c:pt idx="0">
                  <c:v>Profilo'nun Eski CEO’su Nesim Levi'nin Doğu Akdeniz Üniversitesi Turizm Fakültesi'nde Seminer Verecek Olması</c:v>
                </c:pt>
                <c:pt idx="1">
                  <c:v>Yorumun Gücüyle Fark Yaratan Markalar</c:v>
                </c:pt>
                <c:pt idx="2">
                  <c:v>Su Arıtma Cihazı Tanıtımı</c:v>
                </c:pt>
              </c:strCache>
            </c:strRef>
          </c:cat>
          <c:val>
            <c:numRef>
              <c:f>Sayfa1!$B$2:$B$4</c:f>
              <c:numCache>
                <c:formatCode>#,##0</c:formatCode>
                <c:ptCount val="3"/>
                <c:pt idx="0">
                  <c:v>3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95-4288-8CD9-2770D13B7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16614344"/>
        <c:axId val="382961592"/>
      </c:barChart>
      <c:catAx>
        <c:axId val="41661434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61592"/>
        <c:crosses val="autoZero"/>
        <c:auto val="1"/>
        <c:lblAlgn val="ctr"/>
        <c:lblOffset val="100"/>
        <c:noMultiLvlLbl val="0"/>
      </c:catAx>
      <c:valAx>
        <c:axId val="382961592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41661434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B95-4288-8CD9-2770D13B7D7C}"/>
              </c:ext>
            </c:extLst>
          </c:dPt>
          <c:dLbls>
            <c:dLbl>
              <c:idx val="0"/>
              <c:layout>
                <c:manualLayout>
                  <c:x val="-4.4217848767496432E-8"/>
                  <c:y val="3.48614661610492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09148664032877E-2"/>
                      <c:h val="6.012588195652556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B95-4288-8CD9-2770D13B7D7C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498180846036375E-2"/>
                      <c:h val="5.524489005428116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F589-42C7-A323-939972497FAE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363415486473458E-2"/>
                      <c:h val="6.431257820434785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F589-42C7-A323-939972497FAE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7228650126910548E-2"/>
                      <c:h val="5.97787341293145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89-42C7-A323-939972497FAE}"/>
                </c:ext>
              </c:extLst>
            </c:dLbl>
            <c:spPr>
              <a:noFill/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/>
              <a:lstStyle/>
              <a:p>
                <a:pPr>
                  <a:defRPr sz="1100" b="0">
                    <a:solidFill>
                      <a:schemeClr val="tx1"/>
                    </a:solidFill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Sayfa1!$A$2:$A$5</c:f>
              <c:strCache>
                <c:ptCount val="4"/>
                <c:pt idx="0">
                  <c:v>Ürün Hediye Kampanya Haberleri</c:v>
                </c:pt>
                <c:pt idx="1">
                  <c:v>Ürün Fiyat Bilgilerinin Verilmesi</c:v>
                </c:pt>
                <c:pt idx="2">
                  <c:v>Groupe Seb Bünyesinde Yer Alan Markalar</c:v>
                </c:pt>
                <c:pt idx="3">
                  <c:v>Süpürge Tanıtımı</c:v>
                </c:pt>
              </c:strCache>
            </c:strRef>
          </c:cat>
          <c:val>
            <c:numRef>
              <c:f>Sayfa1!$B$2:$B$5</c:f>
              <c:numCache>
                <c:formatCode>#,##0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95-4288-8CD9-2770D13B7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16614344"/>
        <c:axId val="382961592"/>
      </c:barChart>
      <c:catAx>
        <c:axId val="41661434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61592"/>
        <c:crosses val="autoZero"/>
        <c:auto val="1"/>
        <c:lblAlgn val="ctr"/>
        <c:lblOffset val="100"/>
        <c:noMultiLvlLbl val="0"/>
      </c:catAx>
      <c:valAx>
        <c:axId val="382961592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41661434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B95-4288-8CD9-2770D13B7D7C}"/>
              </c:ext>
            </c:extLst>
          </c:dPt>
          <c:dLbls>
            <c:dLbl>
              <c:idx val="0"/>
              <c:layout>
                <c:manualLayout>
                  <c:x val="-4.4217848767496432E-8"/>
                  <c:y val="3.48614661610492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09148664032877E-2"/>
                      <c:h val="6.012588195652556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B95-4288-8CD9-2770D13B7D7C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72007643850943E-2"/>
                      <c:h val="6.204565616683118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514A-4DDC-A482-83E99BE9BA96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767711565162206E-2"/>
                      <c:h val="5.97787341293145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514A-4DDC-A482-83E99BE9BA96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72007643850943E-2"/>
                      <c:h val="5.97787341293145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3594-41D0-A463-D8231FD59D44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767711565162206E-2"/>
                      <c:h val="5.75118120917978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3DB9-4F38-958F-83AF6CA87BA0}"/>
                </c:ext>
              </c:extLst>
            </c:dLbl>
            <c:dLbl>
              <c:idx val="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72007643850943E-2"/>
                      <c:h val="5.97787341293145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3DB9-4F38-958F-83AF6CA87BA0}"/>
                </c:ext>
              </c:extLst>
            </c:dLbl>
            <c:dLbl>
              <c:idx val="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902476924725116E-2"/>
                      <c:h val="6.431257820434785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2BCC-49FB-B541-41E63EBE74F1}"/>
                </c:ext>
              </c:extLst>
            </c:dLbl>
            <c:dLbl>
              <c:idx val="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30677300341386E-2"/>
                      <c:h val="6.204565616683118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2BCC-49FB-B541-41E63EBE74F1}"/>
                </c:ext>
              </c:extLst>
            </c:dLbl>
            <c:dLbl>
              <c:idx val="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4037242284288033E-2"/>
                      <c:h val="6.204565616683118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2BCC-49FB-B541-41E63EBE74F1}"/>
                </c:ext>
              </c:extLst>
            </c:dLbl>
            <c:dLbl>
              <c:idx val="9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4037242284288033E-2"/>
                      <c:h val="5.97787341293145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2BCC-49FB-B541-41E63EBE74F1}"/>
                </c:ext>
              </c:extLst>
            </c:dLbl>
            <c:dLbl>
              <c:idx val="1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767711565162206E-2"/>
                      <c:h val="5.75118120917978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78AD-4ACE-8938-C89E369F34E2}"/>
                </c:ext>
              </c:extLst>
            </c:dLbl>
            <c:spPr>
              <a:noFill/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/>
              <a:lstStyle/>
              <a:p>
                <a:pPr>
                  <a:defRPr sz="1100" b="0">
                    <a:solidFill>
                      <a:schemeClr val="tx1"/>
                    </a:solidFill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Sayfa1!$A$2:$A$12</c:f>
              <c:strCache>
                <c:ptCount val="11"/>
                <c:pt idx="0">
                  <c:v>Firma Logosuna Yer Verilmesi</c:v>
                </c:pt>
                <c:pt idx="1">
                  <c:v>Beko'nun Orta Doğu Ve Asya'da Yatırımlarını Büyütmesi</c:v>
                </c:pt>
                <c:pt idx="2">
                  <c:v>Beko'nun Bilim Temelli Hedefler Girişimi Tarafından Onaylanan Emisyon Azaltım Hedeflerinden Ve Koç Topluluğunda Küresel Taahhütlerde Bulunan Marka Olmasından Bahsedilmesi</c:v>
                </c:pt>
                <c:pt idx="3">
                  <c:v>Beko'nun Mısır'da 110 Milyon Dolarlık Yatırımla Fabrika Kurması</c:v>
                </c:pt>
                <c:pt idx="4">
                  <c:v>Beko'nun Ankara'daki Bulaşık Makinesi Fabrikasının Global Lighthouse Network'e Kabul Edilmesi</c:v>
                </c:pt>
                <c:pt idx="5">
                  <c:v>Fark Yaratan Kadınlar Seremonisi'nin 12'inci Yılının Beko'nun Katkılarıyla Gerçekleştirilmesi</c:v>
                </c:pt>
                <c:pt idx="6">
                  <c:v>Kısa Bahis - Referans Haberleri</c:v>
                </c:pt>
                <c:pt idx="7">
                  <c:v>İş Bankası Sürdürülebilir Tedarikçi Finansmanı Sistemi Hizmetinde İlk İş Birliğini Beko İle Gerçekleştirmesi</c:v>
                </c:pt>
                <c:pt idx="8">
                  <c:v>Arçelik A.Ş'nin Türkiye Dahil Tüm Coğrafyalardaki Kurumsal Markasının Adını Beko Olarak Değiştireceğini Açıklaması</c:v>
                </c:pt>
                <c:pt idx="9">
                  <c:v>Beko'nun Napoli Ve Milano'da Yaptığı Yatırımdan Bahsetmesi</c:v>
                </c:pt>
                <c:pt idx="10">
                  <c:v>Davetlere Katılan Firma Yetkilileri</c:v>
                </c:pt>
              </c:strCache>
            </c:strRef>
          </c:cat>
          <c:val>
            <c:numRef>
              <c:f>Sayfa1!$B$2:$B$12</c:f>
              <c:numCache>
                <c:formatCode>#,##0</c:formatCode>
                <c:ptCount val="11"/>
                <c:pt idx="0">
                  <c:v>12</c:v>
                </c:pt>
                <c:pt idx="1">
                  <c:v>9</c:v>
                </c:pt>
                <c:pt idx="2" formatCode="General">
                  <c:v>8</c:v>
                </c:pt>
                <c:pt idx="3" formatCode="General">
                  <c:v>8</c:v>
                </c:pt>
                <c:pt idx="4">
                  <c:v>6</c:v>
                </c:pt>
                <c:pt idx="5">
                  <c:v>5</c:v>
                </c:pt>
                <c:pt idx="6" formatCode="General">
                  <c:v>4</c:v>
                </c:pt>
                <c:pt idx="7" formatCode="General">
                  <c:v>4</c:v>
                </c:pt>
                <c:pt idx="8">
                  <c:v>3</c:v>
                </c:pt>
                <c:pt idx="9">
                  <c:v>2</c:v>
                </c:pt>
                <c:pt idx="10" formatCode="General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95-4288-8CD9-2770D13B7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16614344"/>
        <c:axId val="382961592"/>
      </c:barChart>
      <c:catAx>
        <c:axId val="41661434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61592"/>
        <c:crosses val="autoZero"/>
        <c:auto val="1"/>
        <c:lblAlgn val="ctr"/>
        <c:lblOffset val="100"/>
        <c:noMultiLvlLbl val="0"/>
      </c:catAx>
      <c:valAx>
        <c:axId val="382961592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41661434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B95-4288-8CD9-2770D13B7D7C}"/>
              </c:ext>
            </c:extLst>
          </c:dPt>
          <c:dLbls>
            <c:dLbl>
              <c:idx val="0"/>
              <c:layout>
                <c:manualLayout>
                  <c:x val="-4.4217848767496432E-8"/>
                  <c:y val="3.48614661610492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09148664032877E-2"/>
                      <c:h val="6.012588195652556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B95-4288-8CD9-2770D13B7D7C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32946205599289E-2"/>
                      <c:h val="5.75118120917978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10BF-4577-BAA3-BFA44F06FC58}"/>
                </c:ext>
              </c:extLst>
            </c:dLbl>
            <c:spPr>
              <a:noFill/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/>
              <a:lstStyle/>
              <a:p>
                <a:pPr>
                  <a:defRPr sz="1100" b="0">
                    <a:solidFill>
                      <a:schemeClr val="tx1"/>
                    </a:solidFill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Sayfa1!$A$2:$A$3</c:f>
              <c:strCache>
                <c:ptCount val="2"/>
                <c:pt idx="0">
                  <c:v>Kısa Bahis - Referans Haberleri</c:v>
                </c:pt>
                <c:pt idx="1">
                  <c:v>Saruhan Holding Bünyesinde Yer Alan Firmalar</c:v>
                </c:pt>
              </c:strCache>
            </c:strRef>
          </c:cat>
          <c:val>
            <c:numRef>
              <c:f>Sayfa1!$B$2:$B$3</c:f>
              <c:numCache>
                <c:formatCode>#,##0</c:formatCode>
                <c:ptCount val="2"/>
                <c:pt idx="0">
                  <c:v>2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95-4288-8CD9-2770D13B7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16614344"/>
        <c:axId val="382961592"/>
      </c:barChart>
      <c:catAx>
        <c:axId val="41661434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61592"/>
        <c:crosses val="autoZero"/>
        <c:auto val="1"/>
        <c:lblAlgn val="ctr"/>
        <c:lblOffset val="100"/>
        <c:noMultiLvlLbl val="0"/>
      </c:catAx>
      <c:valAx>
        <c:axId val="382961592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41661434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B95-4288-8CD9-2770D13B7D7C}"/>
              </c:ext>
            </c:extLst>
          </c:dPt>
          <c:dLbls>
            <c:dLbl>
              <c:idx val="0"/>
              <c:layout>
                <c:manualLayout>
                  <c:x val="-4.4217848767496432E-8"/>
                  <c:y val="3.48614661610492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09148664032877E-2"/>
                      <c:h val="6.012588195652556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B95-4288-8CD9-2770D13B7D7C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32946205599289E-2"/>
                      <c:h val="5.75118120917978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10BF-4577-BAA3-BFA44F06FC58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7228650126910548E-2"/>
                      <c:h val="5.2977968016764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487-4488-BD82-046010F733A6}"/>
                </c:ext>
              </c:extLst>
            </c:dLbl>
            <c:spPr>
              <a:noFill/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/>
              <a:lstStyle/>
              <a:p>
                <a:pPr>
                  <a:defRPr sz="1100" b="0">
                    <a:solidFill>
                      <a:schemeClr val="tx1"/>
                    </a:solidFill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Sayfa1!$A$2:$A$4</c:f>
              <c:strCache>
                <c:ptCount val="3"/>
                <c:pt idx="0">
                  <c:v>Beko'nun Mısır'daki Fabrikasında Indesit Ve Whirlpool Markalarına Üretim Gerçekleştirecek Olması</c:v>
                </c:pt>
                <c:pt idx="1">
                  <c:v>Beko İştiraki Olan Firmalar</c:v>
                </c:pt>
                <c:pt idx="2">
                  <c:v>Beko'nun Mısır'da Kurduğu Fabrikada Whirlpool, Ariston, Indesit Ve Hitachi Markalarına Soğutucu Ve Pişirici Ürünleri İle Bulaşık Makinesi Üretimi Yapması</c:v>
                </c:pt>
              </c:strCache>
            </c:strRef>
          </c:cat>
          <c:val>
            <c:numRef>
              <c:f>Sayfa1!$B$2:$B$4</c:f>
              <c:numCache>
                <c:formatCode>#,##0</c:formatCode>
                <c:ptCount val="3"/>
                <c:pt idx="0">
                  <c:v>2</c:v>
                </c:pt>
                <c:pt idx="1">
                  <c:v>1</c:v>
                </c:pt>
                <c:pt idx="2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95-4288-8CD9-2770D13B7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16614344"/>
        <c:axId val="382961592"/>
      </c:barChart>
      <c:catAx>
        <c:axId val="41661434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61592"/>
        <c:crosses val="autoZero"/>
        <c:auto val="1"/>
        <c:lblAlgn val="ctr"/>
        <c:lblOffset val="100"/>
        <c:noMultiLvlLbl val="0"/>
      </c:catAx>
      <c:valAx>
        <c:axId val="382961592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41661434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B95-4288-8CD9-2770D13B7D7C}"/>
              </c:ext>
            </c:extLst>
          </c:dPt>
          <c:dLbls>
            <c:dLbl>
              <c:idx val="0"/>
              <c:layout>
                <c:manualLayout>
                  <c:x val="-4.4217848767496432E-8"/>
                  <c:y val="3.48614661610492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09148664032877E-2"/>
                      <c:h val="6.012588195652556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B95-4288-8CD9-2770D13B7D7C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093884767347635E-2"/>
                      <c:h val="6.204565616683118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4B1-4EFA-9E00-F54C502CF5EF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959119407784721E-2"/>
                      <c:h val="4.617720190421450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C4B1-4EFA-9E00-F54C502CF5EF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959119407784721E-2"/>
                      <c:h val="5.2977968016764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C4B1-4EFA-9E00-F54C502CF5EF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824354048221811E-2"/>
                      <c:h val="4.844412394173117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8577-4CDE-B594-5E393441338D}"/>
                </c:ext>
              </c:extLst>
            </c:dLbl>
            <c:spPr>
              <a:noFill/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/>
              <a:lstStyle/>
              <a:p>
                <a:pPr>
                  <a:defRPr sz="1100" b="0">
                    <a:solidFill>
                      <a:schemeClr val="tx1"/>
                    </a:solidFill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Sayfa1!$A$2:$A$6</c:f>
              <c:strCache>
                <c:ptCount val="5"/>
                <c:pt idx="0">
                  <c:v>Ürün Hediye Kampanya Haberleri</c:v>
                </c:pt>
                <c:pt idx="1">
                  <c:v>Beko İştiraki Olan Firmalar</c:v>
                </c:pt>
                <c:pt idx="2">
                  <c:v>Yorumun Gücüyle Fark Yaratan Markalar</c:v>
                </c:pt>
                <c:pt idx="3">
                  <c:v>Kısa Bahis - Referans Haberleri</c:v>
                </c:pt>
                <c:pt idx="4">
                  <c:v>Kurutma Makinesi Tanıtımı</c:v>
                </c:pt>
              </c:strCache>
            </c:strRef>
          </c:cat>
          <c:val>
            <c:numRef>
              <c:f>Sayfa1!$B$2:$B$6</c:f>
              <c:numCache>
                <c:formatCode>#,##0</c:formatCode>
                <c:ptCount val="5"/>
                <c:pt idx="0">
                  <c:v>2</c:v>
                </c:pt>
                <c:pt idx="1">
                  <c:v>1</c:v>
                </c:pt>
                <c:pt idx="2" formatCode="General">
                  <c:v>1</c:v>
                </c:pt>
                <c:pt idx="3" formatCode="General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95-4288-8CD9-2770D13B7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16614344"/>
        <c:axId val="382961592"/>
      </c:barChart>
      <c:catAx>
        <c:axId val="41661434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61592"/>
        <c:crosses val="autoZero"/>
        <c:auto val="1"/>
        <c:lblAlgn val="ctr"/>
        <c:lblOffset val="100"/>
        <c:noMultiLvlLbl val="0"/>
      </c:catAx>
      <c:valAx>
        <c:axId val="382961592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41661434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DB6FA-291E-40BA-B648-FC410AF33B06}" type="datetimeFigureOut">
              <a:rPr lang="tr-TR" smtClean="0"/>
              <a:t>16.12.2024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96B421-F803-4578-ABF3-F76714F053A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042250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C2B48-4753-497A-9418-C58137984AC3}" type="datetimeFigureOut">
              <a:rPr lang="tr-TR" smtClean="0"/>
              <a:t>16.12.2024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A1986-89D7-44DF-8E95-DE8192908FA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88045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pic>
        <p:nvPicPr>
          <p:cNvPr id="3" name="Picture 2" descr="desibel-HR.gif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20" b="36955"/>
          <a:stretch/>
        </p:blipFill>
        <p:spPr>
          <a:xfrm>
            <a:off x="11237" y="6435725"/>
            <a:ext cx="1501525" cy="398271"/>
          </a:xfrm>
          <a:prstGeom prst="rect">
            <a:avLst/>
          </a:prstGeom>
        </p:spPr>
      </p:pic>
      <p:sp>
        <p:nvSpPr>
          <p:cNvPr id="10" name="Metin kutusu 9"/>
          <p:cNvSpPr txBox="1"/>
          <p:nvPr userDrawn="1"/>
        </p:nvSpPr>
        <p:spPr>
          <a:xfrm>
            <a:off x="1743075" y="4435177"/>
            <a:ext cx="806450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tr-TR" sz="4000" b="1" i="1" u="none" strike="noStrike" kern="0" cap="none" spc="0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ambria" panose="02040503050406030204" pitchFamily="18" charset="0"/>
                <a:ea typeface="+mj-ea"/>
                <a:cs typeface="+mj-cs"/>
              </a:rPr>
              <a:t>Aylık Medya Yansıma Raporu</a:t>
            </a:r>
          </a:p>
          <a:p>
            <a:pPr algn="ctr"/>
            <a:r>
              <a:rPr kumimoji="0" lang="tr-TR" sz="4000" b="1" i="1" u="none" strike="noStrike" kern="0" cap="none" spc="0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ambria" panose="02040503050406030204" pitchFamily="18" charset="0"/>
                <a:ea typeface="+mj-ea"/>
                <a:cs typeface="+mj-cs"/>
              </a:rPr>
              <a:t>Kasım 2024</a:t>
            </a:r>
          </a:p>
          <a:p>
            <a:pPr algn="ctr"/>
            <a:endParaRPr lang="tr-TR" sz="4400" b="1" i="1" baseline="0" dirty="0">
              <a:solidFill>
                <a:srgbClr val="002060"/>
              </a:solidFill>
            </a:endParaRPr>
          </a:p>
        </p:txBody>
      </p:sp>
      <p:pic>
        <p:nvPicPr>
          <p:cNvPr id="2" name="Resim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156" y="1298575"/>
            <a:ext cx="7542337" cy="232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87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C4FB6-D23A-416B-9A8F-45001C9119EB}" type="datetimeFigureOut">
              <a:rPr lang="tr-TR" smtClean="0"/>
              <a:t>16.12.2024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E17E1-F219-44CC-A8CC-4F60CFB52633}" type="slidenum">
              <a:rPr lang="tr-TR" smtClean="0"/>
              <a:t>‹#›</a:t>
            </a:fld>
            <a:endParaRPr lang="tr-TR"/>
          </a:p>
        </p:txBody>
      </p:sp>
      <p:cxnSp>
        <p:nvCxnSpPr>
          <p:cNvPr id="20" name="Düz Bağlayıcı 19"/>
          <p:cNvCxnSpPr/>
          <p:nvPr userDrawn="1"/>
        </p:nvCxnSpPr>
        <p:spPr>
          <a:xfrm>
            <a:off x="0" y="749300"/>
            <a:ext cx="12192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desibel-HR.gif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20" b="36955"/>
          <a:stretch/>
        </p:blipFill>
        <p:spPr>
          <a:xfrm>
            <a:off x="25400" y="6463660"/>
            <a:ext cx="1438025" cy="381428"/>
          </a:xfrm>
          <a:prstGeom prst="rect">
            <a:avLst/>
          </a:prstGeom>
        </p:spPr>
      </p:pic>
      <p:cxnSp>
        <p:nvCxnSpPr>
          <p:cNvPr id="7" name="Düz Bağlayıcı 6"/>
          <p:cNvCxnSpPr/>
          <p:nvPr userDrawn="1"/>
        </p:nvCxnSpPr>
        <p:spPr>
          <a:xfrm>
            <a:off x="622300" y="0"/>
            <a:ext cx="0" cy="10795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Resim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5900" y="6175396"/>
            <a:ext cx="1816100" cy="669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670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C4FB6-D23A-416B-9A8F-45001C9119EB}" type="datetimeFigureOut">
              <a:rPr lang="tr-TR" smtClean="0"/>
              <a:t>16.12.2024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E17E1-F219-44CC-A8CC-4F60CFB526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73000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C4FB6-D23A-416B-9A8F-45001C9119EB}" type="datetimeFigureOut">
              <a:rPr lang="tr-TR" smtClean="0"/>
              <a:t>16.12.2024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E17E1-F219-44CC-A8CC-4F60CFB526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100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C4FB6-D23A-416B-9A8F-45001C9119EB}" type="datetimeFigureOut">
              <a:rPr lang="tr-TR" smtClean="0"/>
              <a:t>16.12.2024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E17E1-F219-44CC-A8CC-4F60CFB526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8980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C4FB6-D23A-416B-9A8F-45001C9119EB}" type="datetimeFigureOut">
              <a:rPr lang="tr-TR" smtClean="0"/>
              <a:t>16.12.2024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E17E1-F219-44CC-A8CC-4F60CFB526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28653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C4FB6-D23A-416B-9A8F-45001C9119EB}" type="datetimeFigureOut">
              <a:rPr lang="tr-TR" smtClean="0"/>
              <a:t>16.12.2024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E17E1-F219-44CC-A8CC-4F60CFB526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49060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C4FB6-D23A-416B-9A8F-45001C9119EB}" type="datetimeFigureOut">
              <a:rPr lang="tr-TR" smtClean="0"/>
              <a:t>16.12.2024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E17E1-F219-44CC-A8CC-4F60CFB526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58987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C4FB6-D23A-416B-9A8F-45001C9119EB}" type="datetimeFigureOut">
              <a:rPr lang="tr-TR" smtClean="0"/>
              <a:t>16.12.2024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E17E1-F219-44CC-A8CC-4F60CFB526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06059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C4FB6-D23A-416B-9A8F-45001C9119EB}" type="datetimeFigureOut">
              <a:rPr lang="tr-TR" smtClean="0"/>
              <a:t>16.12.2024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E17E1-F219-44CC-A8CC-4F60CFB526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33963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C4FB6-D23A-416B-9A8F-45001C9119EB}" type="datetimeFigureOut">
              <a:rPr lang="tr-TR" smtClean="0"/>
              <a:t>16.12.2024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E17E1-F219-44CC-A8CC-4F60CFB526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59399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DC4FB6-D23A-416B-9A8F-45001C9119EB}" type="datetimeFigureOut">
              <a:rPr lang="tr-TR" smtClean="0"/>
              <a:t>16.12.2024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BE17E1-F219-44CC-A8CC-4F60CFB526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16610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0369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B7A07-A2C8-9272-E9A6-2B3BE61B6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>
            <a:extLst>
              <a:ext uri="{FF2B5EF4-FFF2-40B4-BE49-F238E27FC236}">
                <a16:creationId xmlns:a16="http://schemas.microsoft.com/office/drawing/2014/main" id="{77A71FEE-6DA2-EBCF-6AAA-19D5BF4E667C}"/>
              </a:ext>
            </a:extLst>
          </p:cNvPr>
          <p:cNvSpPr/>
          <p:nvPr/>
        </p:nvSpPr>
        <p:spPr>
          <a:xfrm>
            <a:off x="3048000" y="3429000"/>
            <a:ext cx="6096000" cy="0"/>
          </a:xfrm>
          <a:prstGeom prst="rect">
            <a:avLst/>
          </a:prstGeom>
        </p:spPr>
        <p:txBody>
          <a:bodyPr/>
          <a:lstStyle/>
          <a:p>
            <a:endParaRPr lang="tr-TR" dirty="0"/>
          </a:p>
        </p:txBody>
      </p:sp>
      <p:sp>
        <p:nvSpPr>
          <p:cNvPr id="6" name="Unvan 1">
            <a:extLst>
              <a:ext uri="{FF2B5EF4-FFF2-40B4-BE49-F238E27FC236}">
                <a16:creationId xmlns:a16="http://schemas.microsoft.com/office/drawing/2014/main" id="{CDB5B224-B3F8-4184-C300-A55D98EBF074}"/>
              </a:ext>
            </a:extLst>
          </p:cNvPr>
          <p:cNvSpPr txBox="1">
            <a:spLocks/>
          </p:cNvSpPr>
          <p:nvPr/>
        </p:nvSpPr>
        <p:spPr bwMode="auto">
          <a:xfrm>
            <a:off x="631162" y="237205"/>
            <a:ext cx="13481364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lvl="0"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Yönetici Özeti </a:t>
            </a:r>
          </a:p>
        </p:txBody>
      </p:sp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B130F5C2-362F-5506-535A-E225E07CAE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334897"/>
              </p:ext>
            </p:extLst>
          </p:nvPr>
        </p:nvGraphicFramePr>
        <p:xfrm>
          <a:off x="493427" y="1194318"/>
          <a:ext cx="11037193" cy="4730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5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4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93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85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653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9793">
                <a:tc rowSpan="2">
                  <a:txBody>
                    <a:bodyPr/>
                    <a:lstStyle/>
                    <a:p>
                      <a:r>
                        <a:rPr lang="tr-TR" sz="1050" b="1" i="1" dirty="0">
                          <a:solidFill>
                            <a:schemeClr val="bg1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Kurum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tr-TR" sz="1050" b="1" i="1" dirty="0">
                          <a:solidFill>
                            <a:schemeClr val="bg1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Haberlerin Dağılımı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tr-TR" sz="1100" b="1" i="1" dirty="0">
                          <a:solidFill>
                            <a:schemeClr val="bg1"/>
                          </a:solidFill>
                          <a:latin typeface="+mn-lt"/>
                        </a:rPr>
                        <a:t>                              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18">
                <a:tc vMerge="1"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050" b="1" i="1" dirty="0">
                          <a:solidFill>
                            <a:schemeClr val="bg1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Toplam</a:t>
                      </a:r>
                    </a:p>
                  </a:txBody>
                  <a:tcPr vert="vert270" anchor="ctr">
                    <a:lnL w="381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050" b="1" i="1" dirty="0">
                          <a:solidFill>
                            <a:schemeClr val="bg1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Pozitif</a:t>
                      </a:r>
                    </a:p>
                  </a:txBody>
                  <a:tcPr vert="vert27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050" b="1" i="1" dirty="0">
                          <a:solidFill>
                            <a:schemeClr val="bg1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Negatif</a:t>
                      </a:r>
                    </a:p>
                  </a:txBody>
                  <a:tcPr vert="vert27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050" b="1" i="1" dirty="0">
                          <a:solidFill>
                            <a:schemeClr val="bg1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Erişim</a:t>
                      </a:r>
                    </a:p>
                  </a:txBody>
                  <a:tcPr vert="vert27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050" b="1" i="1" dirty="0">
                          <a:solidFill>
                            <a:schemeClr val="bg1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STXCM</a:t>
                      </a:r>
                    </a:p>
                  </a:txBody>
                  <a:tcPr vert="vert27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1050" b="1" i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Reklam Eşdeğeri</a:t>
                      </a:r>
                    </a:p>
                  </a:txBody>
                  <a:tcPr marL="9525" marR="9525" marT="9525" marB="0" vert="vert27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Arçelik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112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103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8.241.037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1.959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195.611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Beko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85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83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8.276.764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11.922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556.603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427387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Vestel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81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80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5.810.061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4.345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339.232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678822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00" i="1" kern="1200" dirty="0" err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Dyson</a:t>
                      </a:r>
                      <a:endParaRPr lang="tr-TR" sz="1000" i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3.966.710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9.442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3.058.279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7058126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Arzum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2.931.962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2.557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200.006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855482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Philips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33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33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3.486.802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2.748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292.669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8438093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50" b="1" i="1" kern="1200" dirty="0">
                          <a:solidFill>
                            <a:schemeClr val="bg1"/>
                          </a:solidFill>
                          <a:latin typeface="+mn-lt"/>
                          <a:ea typeface="Verdana" panose="020B0604030504040204" pitchFamily="34" charset="0"/>
                          <a:cs typeface="+mn-cs"/>
                        </a:rPr>
                        <a:t>BSH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kern="1200" dirty="0">
                          <a:solidFill>
                            <a:schemeClr val="bg1"/>
                          </a:solidFill>
                          <a:latin typeface="+mn-lt"/>
                          <a:ea typeface="Verdana" panose="020B0604030504040204" pitchFamily="34" charset="0"/>
                          <a:cs typeface="+mn-cs"/>
                        </a:rPr>
                        <a:t>25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kern="1200">
                          <a:solidFill>
                            <a:schemeClr val="bg1"/>
                          </a:solidFill>
                          <a:latin typeface="+mn-lt"/>
                          <a:ea typeface="Verdana" panose="020B0604030504040204" pitchFamily="34" charset="0"/>
                          <a:cs typeface="+mn-cs"/>
                        </a:rPr>
                        <a:t>22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kern="1200">
                          <a:solidFill>
                            <a:schemeClr val="bg1"/>
                          </a:solidFill>
                          <a:latin typeface="+mn-lt"/>
                          <a:ea typeface="Verdana" panose="020B0604030504040204" pitchFamily="34" charset="0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kern="1200" dirty="0">
                          <a:solidFill>
                            <a:schemeClr val="bg1"/>
                          </a:solidFill>
                          <a:latin typeface="+mn-lt"/>
                          <a:ea typeface="Verdana" panose="020B0604030504040204" pitchFamily="34" charset="0"/>
                          <a:cs typeface="+mn-cs"/>
                        </a:rPr>
                        <a:t>1.182.395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kern="1200" dirty="0">
                          <a:solidFill>
                            <a:schemeClr val="bg1"/>
                          </a:solidFill>
                          <a:latin typeface="+mn-lt"/>
                          <a:ea typeface="Verdana" panose="020B0604030504040204" pitchFamily="34" charset="0"/>
                          <a:cs typeface="+mn-cs"/>
                        </a:rPr>
                        <a:t>1.205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kern="1200" dirty="0">
                          <a:solidFill>
                            <a:schemeClr val="bg1"/>
                          </a:solidFill>
                          <a:latin typeface="+mn-lt"/>
                          <a:ea typeface="Verdana" panose="020B0604030504040204" pitchFamily="34" charset="0"/>
                          <a:cs typeface="+mn-cs"/>
                        </a:rPr>
                        <a:t>53.859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791295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00" i="1" kern="1200" dirty="0" err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Miele</a:t>
                      </a:r>
                      <a:endParaRPr lang="tr-TR" sz="1000" i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17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17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2.250.367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745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20.572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013094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Samsung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17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17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1.428.653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509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42.268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799468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Bosch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607.548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412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11.683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373075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Fakir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983.299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1.450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67.949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7620573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00" i="1" kern="1200" dirty="0" err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Altus</a:t>
                      </a:r>
                      <a:endParaRPr lang="tr-TR" sz="1000" i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427.615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502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1.817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0233674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LG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220.720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748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14.518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5656783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Gaggenau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232.000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1.607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21.311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Profilo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114.096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388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7.156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00" i="1" kern="1200" dirty="0" err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Tefal</a:t>
                      </a:r>
                      <a:endParaRPr lang="tr-TR" sz="1000" i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562.000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98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1.537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Indesit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140.000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Siemens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131.900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85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1.525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00" i="1" kern="1200" dirty="0" err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Delonghi</a:t>
                      </a:r>
                      <a:endParaRPr lang="tr-TR" sz="1000" i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120.000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141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Metin kutusu 1">
            <a:extLst>
              <a:ext uri="{FF2B5EF4-FFF2-40B4-BE49-F238E27FC236}">
                <a16:creationId xmlns:a16="http://schemas.microsoft.com/office/drawing/2014/main" id="{9FD60D0A-0E04-97E7-17D8-A47DA573393C}"/>
              </a:ext>
            </a:extLst>
          </p:cNvPr>
          <p:cNvSpPr txBox="1"/>
          <p:nvPr/>
        </p:nvSpPr>
        <p:spPr>
          <a:xfrm>
            <a:off x="821093" y="6102221"/>
            <a:ext cx="93026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b="1" i="1" dirty="0"/>
              <a:t>BSH ve markaları toplamında bakıldığında 54 yansıma elde ederek ikinci sırada yer almaktadır.</a:t>
            </a:r>
          </a:p>
        </p:txBody>
      </p:sp>
    </p:spTree>
    <p:extLst>
      <p:ext uri="{BB962C8B-B14F-4D97-AF65-F5344CB8AC3E}">
        <p14:creationId xmlns:p14="http://schemas.microsoft.com/office/powerpoint/2010/main" val="396430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31064" y="238159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Kurumların Yansımalarının Kategori Bazında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3" name="Tablo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34869"/>
              </p:ext>
            </p:extLst>
          </p:nvPr>
        </p:nvGraphicFramePr>
        <p:xfrm>
          <a:off x="631064" y="1143000"/>
          <a:ext cx="10745147" cy="50560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4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167">
                  <a:extLst>
                    <a:ext uri="{9D8B030D-6E8A-4147-A177-3AD203B41FA5}">
                      <a16:colId xmlns:a16="http://schemas.microsoft.com/office/drawing/2014/main" val="3892250688"/>
                    </a:ext>
                  </a:extLst>
                </a:gridCol>
                <a:gridCol w="2448167">
                  <a:extLst>
                    <a:ext uri="{9D8B030D-6E8A-4147-A177-3AD203B41FA5}">
                      <a16:colId xmlns:a16="http://schemas.microsoft.com/office/drawing/2014/main" val="3071903157"/>
                    </a:ext>
                  </a:extLst>
                </a:gridCol>
                <a:gridCol w="2448167">
                  <a:extLst>
                    <a:ext uri="{9D8B030D-6E8A-4147-A177-3AD203B41FA5}">
                      <a16:colId xmlns:a16="http://schemas.microsoft.com/office/drawing/2014/main" val="348140338"/>
                    </a:ext>
                  </a:extLst>
                </a:gridCol>
                <a:gridCol w="21761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9765">
                <a:tc>
                  <a:txBody>
                    <a:bodyPr/>
                    <a:lstStyle/>
                    <a:p>
                      <a:pPr algn="l" fontAlgn="b"/>
                      <a:endParaRPr lang="tr-T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Ankastre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Beyaz Eşya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Küçük Ev Aletleri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Kurumsal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Arçelik</a:t>
                      </a:r>
                      <a:endParaRPr lang="tr-TR" sz="1100" i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107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13813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Beko</a:t>
                      </a:r>
                      <a:endParaRPr lang="tr-TR" sz="1100" i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85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272627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Vestel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78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3417847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BSH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694398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Arzum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547937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Philips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243497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Dyson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1959023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 dirty="0" err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Miele</a:t>
                      </a:r>
                      <a:endParaRPr lang="tr-TR" sz="1100" i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529259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Samsung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375651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Bosch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112436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LG</a:t>
                      </a:r>
                      <a:endParaRPr lang="tr-TR" sz="1100" i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1581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Indesit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852735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Profilo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627128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Siemens</a:t>
                      </a:r>
                      <a:endParaRPr lang="tr-TR" sz="1100" i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Delonghi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Fakir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 dirty="0" err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Altus</a:t>
                      </a:r>
                      <a:endParaRPr lang="tr-TR" sz="1100" i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Gaggenau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 dirty="0" err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Tefal</a:t>
                      </a:r>
                      <a:endParaRPr lang="tr-TR" sz="1100" i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13338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31064" y="238159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Kurumların Yansımalarının Ürün Bazında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4" name="Tablo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566109"/>
              </p:ext>
            </p:extLst>
          </p:nvPr>
        </p:nvGraphicFramePr>
        <p:xfrm>
          <a:off x="631064" y="1153963"/>
          <a:ext cx="11256137" cy="49913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878">
                  <a:extLst>
                    <a:ext uri="{9D8B030D-6E8A-4147-A177-3AD203B41FA5}">
                      <a16:colId xmlns:a16="http://schemas.microsoft.com/office/drawing/2014/main" val="77311749"/>
                    </a:ext>
                  </a:extLst>
                </a:gridCol>
                <a:gridCol w="542449">
                  <a:extLst>
                    <a:ext uri="{9D8B030D-6E8A-4147-A177-3AD203B41FA5}">
                      <a16:colId xmlns:a16="http://schemas.microsoft.com/office/drawing/2014/main" val="3599253154"/>
                    </a:ext>
                  </a:extLst>
                </a:gridCol>
                <a:gridCol w="443753">
                  <a:extLst>
                    <a:ext uri="{9D8B030D-6E8A-4147-A177-3AD203B41FA5}">
                      <a16:colId xmlns:a16="http://schemas.microsoft.com/office/drawing/2014/main" val="3031494105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504633916"/>
                    </a:ext>
                  </a:extLst>
                </a:gridCol>
                <a:gridCol w="591671">
                  <a:extLst>
                    <a:ext uri="{9D8B030D-6E8A-4147-A177-3AD203B41FA5}">
                      <a16:colId xmlns:a16="http://schemas.microsoft.com/office/drawing/2014/main" val="1685639048"/>
                    </a:ext>
                  </a:extLst>
                </a:gridCol>
                <a:gridCol w="524435">
                  <a:extLst>
                    <a:ext uri="{9D8B030D-6E8A-4147-A177-3AD203B41FA5}">
                      <a16:colId xmlns:a16="http://schemas.microsoft.com/office/drawing/2014/main" val="3992023453"/>
                    </a:ext>
                  </a:extLst>
                </a:gridCol>
                <a:gridCol w="510989">
                  <a:extLst>
                    <a:ext uri="{9D8B030D-6E8A-4147-A177-3AD203B41FA5}">
                      <a16:colId xmlns:a16="http://schemas.microsoft.com/office/drawing/2014/main" val="4227866695"/>
                    </a:ext>
                  </a:extLst>
                </a:gridCol>
                <a:gridCol w="524435">
                  <a:extLst>
                    <a:ext uri="{9D8B030D-6E8A-4147-A177-3AD203B41FA5}">
                      <a16:colId xmlns:a16="http://schemas.microsoft.com/office/drawing/2014/main" val="3307041812"/>
                    </a:ext>
                  </a:extLst>
                </a:gridCol>
                <a:gridCol w="376517">
                  <a:extLst>
                    <a:ext uri="{9D8B030D-6E8A-4147-A177-3AD203B41FA5}">
                      <a16:colId xmlns:a16="http://schemas.microsoft.com/office/drawing/2014/main" val="133013854"/>
                    </a:ext>
                  </a:extLst>
                </a:gridCol>
                <a:gridCol w="282389">
                  <a:extLst>
                    <a:ext uri="{9D8B030D-6E8A-4147-A177-3AD203B41FA5}">
                      <a16:colId xmlns:a16="http://schemas.microsoft.com/office/drawing/2014/main" val="2895456109"/>
                    </a:ext>
                  </a:extLst>
                </a:gridCol>
                <a:gridCol w="336176">
                  <a:extLst>
                    <a:ext uri="{9D8B030D-6E8A-4147-A177-3AD203B41FA5}">
                      <a16:colId xmlns:a16="http://schemas.microsoft.com/office/drawing/2014/main" val="3807241621"/>
                    </a:ext>
                  </a:extLst>
                </a:gridCol>
                <a:gridCol w="632012">
                  <a:extLst>
                    <a:ext uri="{9D8B030D-6E8A-4147-A177-3AD203B41FA5}">
                      <a16:colId xmlns:a16="http://schemas.microsoft.com/office/drawing/2014/main" val="974769632"/>
                    </a:ext>
                  </a:extLst>
                </a:gridCol>
                <a:gridCol w="376518">
                  <a:extLst>
                    <a:ext uri="{9D8B030D-6E8A-4147-A177-3AD203B41FA5}">
                      <a16:colId xmlns:a16="http://schemas.microsoft.com/office/drawing/2014/main" val="1711212708"/>
                    </a:ext>
                  </a:extLst>
                </a:gridCol>
                <a:gridCol w="564776">
                  <a:extLst>
                    <a:ext uri="{9D8B030D-6E8A-4147-A177-3AD203B41FA5}">
                      <a16:colId xmlns:a16="http://schemas.microsoft.com/office/drawing/2014/main" val="2291375320"/>
                    </a:ext>
                  </a:extLst>
                </a:gridCol>
                <a:gridCol w="524435">
                  <a:extLst>
                    <a:ext uri="{9D8B030D-6E8A-4147-A177-3AD203B41FA5}">
                      <a16:colId xmlns:a16="http://schemas.microsoft.com/office/drawing/2014/main" val="2601396740"/>
                    </a:ext>
                  </a:extLst>
                </a:gridCol>
                <a:gridCol w="524436">
                  <a:extLst>
                    <a:ext uri="{9D8B030D-6E8A-4147-A177-3AD203B41FA5}">
                      <a16:colId xmlns:a16="http://schemas.microsoft.com/office/drawing/2014/main" val="1914573572"/>
                    </a:ext>
                  </a:extLst>
                </a:gridCol>
                <a:gridCol w="484094">
                  <a:extLst>
                    <a:ext uri="{9D8B030D-6E8A-4147-A177-3AD203B41FA5}">
                      <a16:colId xmlns:a16="http://schemas.microsoft.com/office/drawing/2014/main" val="933435323"/>
                    </a:ext>
                  </a:extLst>
                </a:gridCol>
                <a:gridCol w="624811">
                  <a:extLst>
                    <a:ext uri="{9D8B030D-6E8A-4147-A177-3AD203B41FA5}">
                      <a16:colId xmlns:a16="http://schemas.microsoft.com/office/drawing/2014/main" val="2256524360"/>
                    </a:ext>
                  </a:extLst>
                </a:gridCol>
                <a:gridCol w="533101">
                  <a:extLst>
                    <a:ext uri="{9D8B030D-6E8A-4147-A177-3AD203B41FA5}">
                      <a16:colId xmlns:a16="http://schemas.microsoft.com/office/drawing/2014/main" val="832134768"/>
                    </a:ext>
                  </a:extLst>
                </a:gridCol>
                <a:gridCol w="670888">
                  <a:extLst>
                    <a:ext uri="{9D8B030D-6E8A-4147-A177-3AD203B41FA5}">
                      <a16:colId xmlns:a16="http://schemas.microsoft.com/office/drawing/2014/main" val="584431650"/>
                    </a:ext>
                  </a:extLst>
                </a:gridCol>
                <a:gridCol w="510989">
                  <a:extLst>
                    <a:ext uri="{9D8B030D-6E8A-4147-A177-3AD203B41FA5}">
                      <a16:colId xmlns:a16="http://schemas.microsoft.com/office/drawing/2014/main" val="3299400939"/>
                    </a:ext>
                  </a:extLst>
                </a:gridCol>
              </a:tblGrid>
              <a:tr h="1091818">
                <a:tc>
                  <a:txBody>
                    <a:bodyPr/>
                    <a:lstStyle/>
                    <a:p>
                      <a:pPr algn="l" fontAlgn="b"/>
                      <a:endParaRPr lang="tr-T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Ocak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Ankastre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Blender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Buharlı Pişirici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Buzdolabı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Çamaşır Makinesi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Çay Makinesi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Elektrikli Süpürge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Erkek Bakım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Fırın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Fritöz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Hava Temizleyici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Kadın Bakım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Kahve Makinesi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Kurutma Makinesi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Mutfak Robotları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Robot Süpürge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Saç Düzleştirici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Saç Kurutma Makinesi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Saç Şekillendirici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Su Arıtma Cihazı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17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Arçelik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567485"/>
                  </a:ext>
                </a:extLst>
              </a:tr>
              <a:tr h="22617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Beko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2468746"/>
                  </a:ext>
                </a:extLst>
              </a:tr>
              <a:tr h="22617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Vestel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719263"/>
                  </a:ext>
                </a:extLst>
              </a:tr>
              <a:tr h="22617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Dyson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346120"/>
                  </a:ext>
                </a:extLst>
              </a:tr>
              <a:tr h="22617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Arzum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712486"/>
                  </a:ext>
                </a:extLst>
              </a:tr>
              <a:tr h="22617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Philips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878119"/>
                  </a:ext>
                </a:extLst>
              </a:tr>
              <a:tr h="22617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BSH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933701"/>
                  </a:ext>
                </a:extLst>
              </a:tr>
              <a:tr h="22617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 dirty="0" err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Miele</a:t>
                      </a:r>
                      <a:endParaRPr lang="tr-TR" sz="1100" i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626101"/>
                  </a:ext>
                </a:extLst>
              </a:tr>
              <a:tr h="22617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Samsung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953813"/>
                  </a:ext>
                </a:extLst>
              </a:tr>
              <a:tr h="251661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Bosch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513230"/>
                  </a:ext>
                </a:extLst>
              </a:tr>
              <a:tr h="22617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Fakir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700680"/>
                  </a:ext>
                </a:extLst>
              </a:tr>
              <a:tr h="22617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LG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159018"/>
                  </a:ext>
                </a:extLst>
              </a:tr>
              <a:tr h="22617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Altus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144440"/>
                  </a:ext>
                </a:extLst>
              </a:tr>
              <a:tr h="22617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Profilo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534312"/>
                  </a:ext>
                </a:extLst>
              </a:tr>
              <a:tr h="22617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Gaggenau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742841"/>
                  </a:ext>
                </a:extLst>
              </a:tr>
              <a:tr h="255178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 dirty="0" err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Tefal</a:t>
                      </a:r>
                      <a:endParaRPr lang="tr-TR" sz="1100" i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884094"/>
                  </a:ext>
                </a:extLst>
              </a:tr>
              <a:tr h="22617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Siemens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891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26702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31064" y="238159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Kurumların Yansıma Sayısı Bazında Karşılaştırılması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4" name="Grafik 3"/>
          <p:cNvGraphicFramePr/>
          <p:nvPr>
            <p:extLst>
              <p:ext uri="{D42A27DB-BD31-4B8C-83A1-F6EECF244321}">
                <p14:modId xmlns:p14="http://schemas.microsoft.com/office/powerpoint/2010/main" val="2910872652"/>
              </p:ext>
            </p:extLst>
          </p:nvPr>
        </p:nvGraphicFramePr>
        <p:xfrm>
          <a:off x="450760" y="1313645"/>
          <a:ext cx="11410682" cy="54091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658149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05306" y="238159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Kurumların Yansıma Sayısı Bazında Karşılaştırılması (Share of Voice)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4" name="Grafik 3"/>
          <p:cNvGraphicFramePr/>
          <p:nvPr>
            <p:extLst>
              <p:ext uri="{D42A27DB-BD31-4B8C-83A1-F6EECF244321}">
                <p14:modId xmlns:p14="http://schemas.microsoft.com/office/powerpoint/2010/main" val="205840734"/>
              </p:ext>
            </p:extLst>
          </p:nvPr>
        </p:nvGraphicFramePr>
        <p:xfrm>
          <a:off x="605306" y="1136469"/>
          <a:ext cx="11181618" cy="54317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184267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05306" y="238159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Kurumların Erişim Bazında Karşılaştırılması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4" name="Grafik 3"/>
          <p:cNvGraphicFramePr/>
          <p:nvPr>
            <p:extLst>
              <p:ext uri="{D42A27DB-BD31-4B8C-83A1-F6EECF244321}">
                <p14:modId xmlns:p14="http://schemas.microsoft.com/office/powerpoint/2010/main" val="2724845888"/>
              </p:ext>
            </p:extLst>
          </p:nvPr>
        </p:nvGraphicFramePr>
        <p:xfrm>
          <a:off x="0" y="930308"/>
          <a:ext cx="11140226" cy="57924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644658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05306" y="238159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Kurumların Net Etki Bazında Karşılaştırılması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4" name="Grafik 3"/>
          <p:cNvGraphicFramePr/>
          <p:nvPr>
            <p:extLst>
              <p:ext uri="{D42A27DB-BD31-4B8C-83A1-F6EECF244321}">
                <p14:modId xmlns:p14="http://schemas.microsoft.com/office/powerpoint/2010/main" val="2264740595"/>
              </p:ext>
            </p:extLst>
          </p:nvPr>
        </p:nvGraphicFramePr>
        <p:xfrm>
          <a:off x="-244700" y="930309"/>
          <a:ext cx="11951596" cy="57053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461972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05306" y="225280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Kurumların ST&amp;CM Bazında Karşılaştırılması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4080360584"/>
              </p:ext>
            </p:extLst>
          </p:nvPr>
        </p:nvGraphicFramePr>
        <p:xfrm>
          <a:off x="605307" y="1046922"/>
          <a:ext cx="11269014" cy="56049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400198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579548" y="225280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Kurumların Gazete Sayfası Bazında Karşılaştırılması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4" name="Grafik 3"/>
          <p:cNvGraphicFramePr/>
          <p:nvPr>
            <p:extLst>
              <p:ext uri="{D42A27DB-BD31-4B8C-83A1-F6EECF244321}">
                <p14:modId xmlns:p14="http://schemas.microsoft.com/office/powerpoint/2010/main" val="27686554"/>
              </p:ext>
            </p:extLst>
          </p:nvPr>
        </p:nvGraphicFramePr>
        <p:xfrm>
          <a:off x="605307" y="1171979"/>
          <a:ext cx="11088710" cy="54669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579566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05306" y="238159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Kurumların Reklam Eşdeğeri Bazında Karşılaştırılması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4" name="Grafik 3"/>
          <p:cNvGraphicFramePr/>
          <p:nvPr>
            <p:extLst>
              <p:ext uri="{D42A27DB-BD31-4B8C-83A1-F6EECF244321}">
                <p14:modId xmlns:p14="http://schemas.microsoft.com/office/powerpoint/2010/main" val="2413388024"/>
              </p:ext>
            </p:extLst>
          </p:nvPr>
        </p:nvGraphicFramePr>
        <p:xfrm>
          <a:off x="0" y="1043189"/>
          <a:ext cx="11821886" cy="57053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99684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579549" y="238158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Kurumların Yansımalarının Nitelik Bazında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4" name="Grafik 3"/>
          <p:cNvGraphicFramePr/>
          <p:nvPr>
            <p:extLst>
              <p:ext uri="{D42A27DB-BD31-4B8C-83A1-F6EECF244321}">
                <p14:modId xmlns:p14="http://schemas.microsoft.com/office/powerpoint/2010/main" val="249062431"/>
              </p:ext>
            </p:extLst>
          </p:nvPr>
        </p:nvGraphicFramePr>
        <p:xfrm>
          <a:off x="476519" y="1249250"/>
          <a:ext cx="11331773" cy="54477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653716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31064" y="238159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Kurumların Bahis Ağırlığı Bazında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3" name="Grafik 2"/>
          <p:cNvGraphicFramePr/>
          <p:nvPr>
            <p:extLst>
              <p:ext uri="{D42A27DB-BD31-4B8C-83A1-F6EECF244321}">
                <p14:modId xmlns:p14="http://schemas.microsoft.com/office/powerpoint/2010/main" val="233691260"/>
              </p:ext>
            </p:extLst>
          </p:nvPr>
        </p:nvGraphicFramePr>
        <p:xfrm>
          <a:off x="450762" y="1094704"/>
          <a:ext cx="11384924" cy="56538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423038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43943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Kurumların Görünürlük Bazında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3" name="Grafik 2"/>
          <p:cNvGraphicFramePr/>
          <p:nvPr>
            <p:extLst>
              <p:ext uri="{D42A27DB-BD31-4B8C-83A1-F6EECF244321}">
                <p14:modId xmlns:p14="http://schemas.microsoft.com/office/powerpoint/2010/main" val="4192876226"/>
              </p:ext>
            </p:extLst>
          </p:nvPr>
        </p:nvGraphicFramePr>
        <p:xfrm>
          <a:off x="605307" y="1229957"/>
          <a:ext cx="11397802" cy="5413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047665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69701" y="225280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Kurumların Boyut Bazında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4" name="Grafik 3"/>
          <p:cNvGraphicFramePr/>
          <p:nvPr>
            <p:extLst>
              <p:ext uri="{D42A27DB-BD31-4B8C-83A1-F6EECF244321}">
                <p14:modId xmlns:p14="http://schemas.microsoft.com/office/powerpoint/2010/main" val="524896281"/>
              </p:ext>
            </p:extLst>
          </p:nvPr>
        </p:nvGraphicFramePr>
        <p:xfrm>
          <a:off x="309093" y="1133474"/>
          <a:ext cx="11552349" cy="5473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759596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Kurumların Algı Düzeyi Bazında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4" name="Grafik 3"/>
          <p:cNvGraphicFramePr/>
          <p:nvPr>
            <p:extLst>
              <p:ext uri="{D42A27DB-BD31-4B8C-83A1-F6EECF244321}">
                <p14:modId xmlns:p14="http://schemas.microsoft.com/office/powerpoint/2010/main" val="2912240600"/>
              </p:ext>
            </p:extLst>
          </p:nvPr>
        </p:nvGraphicFramePr>
        <p:xfrm>
          <a:off x="605307" y="1171978"/>
          <a:ext cx="11359166" cy="55379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952202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69701" y="225280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Kurumların Yayın Tipi Bazında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3" name="Grafik 2"/>
          <p:cNvGraphicFramePr/>
          <p:nvPr>
            <p:extLst>
              <p:ext uri="{D42A27DB-BD31-4B8C-83A1-F6EECF244321}">
                <p14:modId xmlns:p14="http://schemas.microsoft.com/office/powerpoint/2010/main" val="2356922252"/>
              </p:ext>
            </p:extLst>
          </p:nvPr>
        </p:nvGraphicFramePr>
        <p:xfrm>
          <a:off x="463639" y="1133341"/>
          <a:ext cx="11191741" cy="55957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350847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708338" y="160885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Kurumların Yayın Alanı Bazında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4" name="Grafik 3"/>
          <p:cNvGraphicFramePr/>
          <p:nvPr>
            <p:extLst>
              <p:ext uri="{D42A27DB-BD31-4B8C-83A1-F6EECF244321}">
                <p14:modId xmlns:p14="http://schemas.microsoft.com/office/powerpoint/2010/main" val="711258696"/>
              </p:ext>
            </p:extLst>
          </p:nvPr>
        </p:nvGraphicFramePr>
        <p:xfrm>
          <a:off x="708338" y="1146220"/>
          <a:ext cx="10947042" cy="55957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866564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69701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BSH’ın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726644094"/>
              </p:ext>
            </p:extLst>
          </p:nvPr>
        </p:nvGraphicFramePr>
        <p:xfrm>
          <a:off x="0" y="1017431"/>
          <a:ext cx="11719775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189174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69701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Arçelik’in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2223569711"/>
              </p:ext>
            </p:extLst>
          </p:nvPr>
        </p:nvGraphicFramePr>
        <p:xfrm>
          <a:off x="0" y="1017431"/>
          <a:ext cx="11719775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480184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592428" y="212400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Vestel’in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2536124873"/>
              </p:ext>
            </p:extLst>
          </p:nvPr>
        </p:nvGraphicFramePr>
        <p:xfrm>
          <a:off x="-137375" y="1030309"/>
          <a:ext cx="11719775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968495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Siemens’in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4288446336"/>
              </p:ext>
            </p:extLst>
          </p:nvPr>
        </p:nvGraphicFramePr>
        <p:xfrm>
          <a:off x="0" y="1081825"/>
          <a:ext cx="11719775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345309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Arzum’un</a:t>
            </a: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1036204222"/>
              </p:ext>
            </p:extLst>
          </p:nvPr>
        </p:nvGraphicFramePr>
        <p:xfrm>
          <a:off x="0" y="1081825"/>
          <a:ext cx="11719775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729859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69700" y="199523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Bosch’un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474849504"/>
              </p:ext>
            </p:extLst>
          </p:nvPr>
        </p:nvGraphicFramePr>
        <p:xfrm>
          <a:off x="0" y="1056068"/>
          <a:ext cx="11719775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932044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Philips’in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3994821274"/>
              </p:ext>
            </p:extLst>
          </p:nvPr>
        </p:nvGraphicFramePr>
        <p:xfrm>
          <a:off x="0" y="904551"/>
          <a:ext cx="11500834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139398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05306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Miele’nin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2204581034"/>
              </p:ext>
            </p:extLst>
          </p:nvPr>
        </p:nvGraphicFramePr>
        <p:xfrm>
          <a:off x="0" y="1004552"/>
          <a:ext cx="11809927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586496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05306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LG’nin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3111729768"/>
              </p:ext>
            </p:extLst>
          </p:nvPr>
        </p:nvGraphicFramePr>
        <p:xfrm>
          <a:off x="0" y="1004552"/>
          <a:ext cx="11809927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714773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05306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Gaggenau’nun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2054287992"/>
              </p:ext>
            </p:extLst>
          </p:nvPr>
        </p:nvGraphicFramePr>
        <p:xfrm>
          <a:off x="0" y="1004552"/>
          <a:ext cx="11809927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171341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05306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Samsung’un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3743653652"/>
              </p:ext>
            </p:extLst>
          </p:nvPr>
        </p:nvGraphicFramePr>
        <p:xfrm>
          <a:off x="0" y="1004552"/>
          <a:ext cx="11809927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527090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05306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Dyson’un</a:t>
            </a: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4283240142"/>
              </p:ext>
            </p:extLst>
          </p:nvPr>
        </p:nvGraphicFramePr>
        <p:xfrm>
          <a:off x="242047" y="1004552"/>
          <a:ext cx="11567880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049308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05306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Fakir’in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104276020"/>
              </p:ext>
            </p:extLst>
          </p:nvPr>
        </p:nvGraphicFramePr>
        <p:xfrm>
          <a:off x="0" y="1004552"/>
          <a:ext cx="11809927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549117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05306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Profilo’nun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3431175842"/>
              </p:ext>
            </p:extLst>
          </p:nvPr>
        </p:nvGraphicFramePr>
        <p:xfrm>
          <a:off x="0" y="1004552"/>
          <a:ext cx="11809927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016633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05306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Tefal’in</a:t>
            </a: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2198443118"/>
              </p:ext>
            </p:extLst>
          </p:nvPr>
        </p:nvGraphicFramePr>
        <p:xfrm>
          <a:off x="268941" y="1004552"/>
          <a:ext cx="11540986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529463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05306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Beko’nun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2906202129"/>
              </p:ext>
            </p:extLst>
          </p:nvPr>
        </p:nvGraphicFramePr>
        <p:xfrm>
          <a:off x="0" y="1004552"/>
          <a:ext cx="11809927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239150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05306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Delonghi’nin</a:t>
            </a: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797462806"/>
              </p:ext>
            </p:extLst>
          </p:nvPr>
        </p:nvGraphicFramePr>
        <p:xfrm>
          <a:off x="295835" y="1004552"/>
          <a:ext cx="11514092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271548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05306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Indesit’in</a:t>
            </a: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2413353101"/>
              </p:ext>
            </p:extLst>
          </p:nvPr>
        </p:nvGraphicFramePr>
        <p:xfrm>
          <a:off x="295835" y="1004552"/>
          <a:ext cx="11514092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790392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05306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Altus’un</a:t>
            </a: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2482055530"/>
              </p:ext>
            </p:extLst>
          </p:nvPr>
        </p:nvGraphicFramePr>
        <p:xfrm>
          <a:off x="295835" y="1004552"/>
          <a:ext cx="11514092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247866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112734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BSH’ın En Çok Yansıma Aldığı Konuların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3053343050"/>
              </p:ext>
            </p:extLst>
          </p:nvPr>
        </p:nvGraphicFramePr>
        <p:xfrm>
          <a:off x="605307" y="1081825"/>
          <a:ext cx="11191741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569644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112734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Arçelik’in En Çok Yansıma Aldığı Konuların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3922968693"/>
              </p:ext>
            </p:extLst>
          </p:nvPr>
        </p:nvGraphicFramePr>
        <p:xfrm>
          <a:off x="605307" y="1081825"/>
          <a:ext cx="11191741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338836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112734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Vestel’in En Çok Yansıma Aldığı Konuların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792850712"/>
              </p:ext>
            </p:extLst>
          </p:nvPr>
        </p:nvGraphicFramePr>
        <p:xfrm>
          <a:off x="605307" y="1081825"/>
          <a:ext cx="11191741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288740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112734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Siemens’in En Çok Yansıma Aldığı Konuların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4076924813"/>
              </p:ext>
            </p:extLst>
          </p:nvPr>
        </p:nvGraphicFramePr>
        <p:xfrm>
          <a:off x="605307" y="1081825"/>
          <a:ext cx="11191741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305170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112734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Philips’in En Çok Yansıma Aldığı Konuların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569835955"/>
              </p:ext>
            </p:extLst>
          </p:nvPr>
        </p:nvGraphicFramePr>
        <p:xfrm>
          <a:off x="605307" y="1081825"/>
          <a:ext cx="11191741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352894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112734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Samsung’un En Çok Yansıma Aldığı Konuların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3579120930"/>
              </p:ext>
            </p:extLst>
          </p:nvPr>
        </p:nvGraphicFramePr>
        <p:xfrm>
          <a:off x="425003" y="1043189"/>
          <a:ext cx="11191741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317439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112734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Miele’nin En Çok Yansıma Aldığı Konuların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1859328422"/>
              </p:ext>
            </p:extLst>
          </p:nvPr>
        </p:nvGraphicFramePr>
        <p:xfrm>
          <a:off x="605307" y="1081825"/>
          <a:ext cx="11191741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664514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112734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LG’nin En Çok Yansıma Aldığı Konuların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2251038785"/>
              </p:ext>
            </p:extLst>
          </p:nvPr>
        </p:nvGraphicFramePr>
        <p:xfrm>
          <a:off x="605307" y="1081825"/>
          <a:ext cx="11191741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393357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112734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Gaggenau'nun En Çok Yansıma Aldığı Konuların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1561334531"/>
              </p:ext>
            </p:extLst>
          </p:nvPr>
        </p:nvGraphicFramePr>
        <p:xfrm>
          <a:off x="605307" y="1081825"/>
          <a:ext cx="11191741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267678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112734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Arzum’un</a:t>
            </a: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En Çok Yansıma Aldığı Konuların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919195440"/>
              </p:ext>
            </p:extLst>
          </p:nvPr>
        </p:nvGraphicFramePr>
        <p:xfrm>
          <a:off x="605307" y="1081825"/>
          <a:ext cx="11191741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051889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112734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Dyson’un</a:t>
            </a: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En Çok Yansıma Aldığı Konuların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4146596419"/>
              </p:ext>
            </p:extLst>
          </p:nvPr>
        </p:nvGraphicFramePr>
        <p:xfrm>
          <a:off x="605307" y="1081825"/>
          <a:ext cx="11191741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796154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112734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Fakir’in En Çok Yansıma Aldığı Konuların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1189819688"/>
              </p:ext>
            </p:extLst>
          </p:nvPr>
        </p:nvGraphicFramePr>
        <p:xfrm>
          <a:off x="605307" y="1081825"/>
          <a:ext cx="11191741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096246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112734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Profilo’nun En Çok Yansıma Aldığı Konuların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3203361460"/>
              </p:ext>
            </p:extLst>
          </p:nvPr>
        </p:nvGraphicFramePr>
        <p:xfrm>
          <a:off x="605307" y="1081825"/>
          <a:ext cx="11191741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42280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112734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Tefal’in</a:t>
            </a: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En Çok Yansıma Aldığı Konuların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3842072851"/>
              </p:ext>
            </p:extLst>
          </p:nvPr>
        </p:nvGraphicFramePr>
        <p:xfrm>
          <a:off x="605307" y="1081825"/>
          <a:ext cx="11191741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625144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112734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Beko’nun En Çok Yansıma Aldığı Konuların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848587726"/>
              </p:ext>
            </p:extLst>
          </p:nvPr>
        </p:nvGraphicFramePr>
        <p:xfrm>
          <a:off x="605307" y="1081825"/>
          <a:ext cx="11191741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393790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112734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Delonghi’nin</a:t>
            </a: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En Çok Yansıma Aldığı Konuların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1604077132"/>
              </p:ext>
            </p:extLst>
          </p:nvPr>
        </p:nvGraphicFramePr>
        <p:xfrm>
          <a:off x="605307" y="1081825"/>
          <a:ext cx="11191741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3967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112734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Indesit’in</a:t>
            </a: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En Çok Yansıma Aldığı Konuların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1868420777"/>
              </p:ext>
            </p:extLst>
          </p:nvPr>
        </p:nvGraphicFramePr>
        <p:xfrm>
          <a:off x="605307" y="1081825"/>
          <a:ext cx="11191741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106408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112734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Altus’un</a:t>
            </a: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En Çok Yansıma Aldığı Konuların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2505049198"/>
              </p:ext>
            </p:extLst>
          </p:nvPr>
        </p:nvGraphicFramePr>
        <p:xfrm>
          <a:off x="605307" y="1081825"/>
          <a:ext cx="11191741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119962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/>
          <p:cNvSpPr txBox="1"/>
          <p:nvPr/>
        </p:nvSpPr>
        <p:spPr>
          <a:xfrm>
            <a:off x="7417453" y="3883198"/>
            <a:ext cx="3630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b="1" i="1" dirty="0">
                <a:solidFill>
                  <a:schemeClr val="accent2">
                    <a:lumMod val="75000"/>
                  </a:schemeClr>
                </a:solidFill>
              </a:rPr>
              <a:t>Teşekkürler..</a:t>
            </a:r>
          </a:p>
        </p:txBody>
      </p:sp>
      <p:pic>
        <p:nvPicPr>
          <p:cNvPr id="4" name="Picture 3" descr="desibel-HR.gi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20" b="36955"/>
          <a:stretch/>
        </p:blipFill>
        <p:spPr>
          <a:xfrm>
            <a:off x="4349749" y="3076834"/>
            <a:ext cx="3492502" cy="926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81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78858</TotalTime>
  <Words>1649</Words>
  <Application>Microsoft Office PowerPoint</Application>
  <PresentationFormat>Geniş ekran</PresentationFormat>
  <Paragraphs>1285</Paragraphs>
  <Slides>56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56</vt:i4>
      </vt:variant>
    </vt:vector>
  </HeadingPairs>
  <TitlesOfParts>
    <vt:vector size="63" baseType="lpstr">
      <vt:lpstr>Aptos Narrow</vt:lpstr>
      <vt:lpstr>Arial</vt:lpstr>
      <vt:lpstr>Calibri</vt:lpstr>
      <vt:lpstr>Calibri Light</vt:lpstr>
      <vt:lpstr>Cambria</vt:lpstr>
      <vt:lpstr>Verdana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DESİBEL</dc:creator>
  <cp:lastModifiedBy>Mehmet Soylu</cp:lastModifiedBy>
  <cp:revision>6177</cp:revision>
  <dcterms:created xsi:type="dcterms:W3CDTF">2013-05-17T09:35:28Z</dcterms:created>
  <dcterms:modified xsi:type="dcterms:W3CDTF">2024-12-16T14:14:32Z</dcterms:modified>
</cp:coreProperties>
</file>